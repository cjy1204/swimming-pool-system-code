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Lst>
  <p:sldSz cy="6858000" cx="12192000"/>
  <p:notesSz cx="6858000" cy="9144000"/>
  <p:embeddedFontLst>
    <p:embeddedFont>
      <p:font typeface="Play"/>
      <p:regular r:id="rId151"/>
      <p:bold r:id="rId152"/>
    </p:embeddedFont>
    <p:embeddedFont>
      <p:font typeface="Open Sans"/>
      <p:regular r:id="rId153"/>
      <p:bold r:id="rId154"/>
      <p:italic r:id="rId155"/>
      <p:boldItalic r:id="rId1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07B5169-7584-414E-A548-C0B6C2D1D264}">
  <a:tblStyle styleId="{307B5169-7584-414E-A548-C0B6C2D1D26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154" Type="http://schemas.openxmlformats.org/officeDocument/2006/relationships/font" Target="fonts/OpenSans-bold.fntdata"/><Relationship Id="rId58" Type="http://schemas.openxmlformats.org/officeDocument/2006/relationships/slide" Target="slides/slide53.xml"/><Relationship Id="rId153" Type="http://schemas.openxmlformats.org/officeDocument/2006/relationships/font" Target="fonts/OpenSans-regular.fntdata"/><Relationship Id="rId152" Type="http://schemas.openxmlformats.org/officeDocument/2006/relationships/font" Target="fonts/Play-bold.fntdata"/><Relationship Id="rId151" Type="http://schemas.openxmlformats.org/officeDocument/2006/relationships/font" Target="fonts/Play-regular.fntdata"/><Relationship Id="rId156" Type="http://schemas.openxmlformats.org/officeDocument/2006/relationships/font" Target="fonts/OpenSans-boldItalic.fntdata"/><Relationship Id="rId155" Type="http://schemas.openxmlformats.org/officeDocument/2006/relationships/font" Target="fonts/OpenSans-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ws.amazon.com/architecture/icons"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74" name="Google Shape;17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Define the problem or opportunity that you are addressing. Include pictures, figures, and statistics to help the audience better conceptualize the problem or opportunity.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Specify who your users or customers are and what pain points they are experiencing. </a:t>
            </a:r>
            <a:endParaRPr/>
          </a:p>
          <a:p>
            <a:pPr indent="0" lvl="0" marL="0" rtl="0" algn="l">
              <a:spcBef>
                <a:spcPts val="0"/>
              </a:spcBef>
              <a:spcAft>
                <a:spcPts val="0"/>
              </a:spcAft>
              <a:buNone/>
            </a:pPr>
            <a:r>
              <a:rPr lang="en-US"/>
              <a:t>For example: “Users complain that the student admissions department website is too slow and isn’t always available.”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Also, list any specific business requirements that you are addressing.</a:t>
            </a:r>
            <a:endParaRPr/>
          </a:p>
          <a:p>
            <a:pPr indent="0" lvl="0" marL="0" rtl="0" algn="l">
              <a:spcBef>
                <a:spcPts val="0"/>
              </a:spcBef>
              <a:spcAft>
                <a:spcPts val="0"/>
              </a:spcAft>
              <a:buNone/>
            </a:pPr>
            <a:r>
              <a:rPr lang="en-US"/>
              <a:t>For example: “Improve the experience for users. The web application can be deployed to the AWS Cloud. The application must be highly available, scalable, load balanced, secure, and performant architecture that can support thousands of users.“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Note: </a:t>
            </a:r>
            <a:endParaRPr/>
          </a:p>
          <a:p>
            <a:pPr indent="-171450" lvl="0" marL="171450" rtl="0" algn="l">
              <a:spcBef>
                <a:spcPts val="0"/>
              </a:spcBef>
              <a:spcAft>
                <a:spcPts val="0"/>
              </a:spcAft>
              <a:buClr>
                <a:schemeClr val="dk1"/>
              </a:buClr>
              <a:buSzPts val="1200"/>
              <a:buFont typeface="Arial"/>
              <a:buChar char="•"/>
            </a:pPr>
            <a:r>
              <a:rPr lang="en-US"/>
              <a:t>An above-bar overview succinctly defines the problem and opportunity statement. For example: “Customers with media files, such as retail companies, need an easy and cost-effective way to analyze photos and videos of their inventory.”</a:t>
            </a:r>
            <a:endParaRPr/>
          </a:p>
          <a:p>
            <a:pPr indent="-171450" lvl="0" marL="171450" rtl="0" algn="l">
              <a:spcBef>
                <a:spcPts val="0"/>
              </a:spcBef>
              <a:spcAft>
                <a:spcPts val="0"/>
              </a:spcAft>
              <a:buClr>
                <a:schemeClr val="dk1"/>
              </a:buClr>
              <a:buSzPts val="1200"/>
              <a:buFont typeface="Arial"/>
              <a:buChar char="•"/>
            </a:pPr>
            <a:r>
              <a:rPr lang="en-US"/>
              <a:t>A below-bar overview is too verbose, technical, or not specific. For example: “The most common media files are .jpg and .mp4. Companies have media files of their inventory.”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2: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87" name="Google Shape;18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Note: </a:t>
            </a:r>
            <a:r>
              <a:rPr lang="en-US"/>
              <a:t>Remove this slide from your final presentation. </a:t>
            </a:r>
            <a:endParaRPr/>
          </a:p>
          <a:p>
            <a:pPr indent="0" lvl="0" marL="0" rtl="0" algn="l">
              <a:spcBef>
                <a:spcPts val="0"/>
              </a:spcBef>
              <a:spcAft>
                <a:spcPts val="0"/>
              </a:spcAft>
              <a:buNone/>
            </a:pPr>
            <a:r>
              <a:rPr lang="en-US"/>
              <a:t>This example architecture diagram shows a solution to configure a webhook to link Git with AWS. You can find this example in the Toolkits for PowerPoint at </a:t>
            </a:r>
            <a:r>
              <a:rPr lang="en-US" u="sng">
                <a:solidFill>
                  <a:schemeClr val="hlink"/>
                </a:solidFill>
                <a:hlinkClick r:id="rId2"/>
              </a:rPr>
              <a:t>https://aws.amazon.com/architecture/icons</a:t>
            </a:r>
            <a:r>
              <a:rPr lang="en-US"/>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14300" lvl="0" marL="0" rtl="0" algn="just">
              <a:spcBef>
                <a:spcPts val="0"/>
              </a:spcBef>
              <a:spcAft>
                <a:spcPts val="0"/>
              </a:spcAft>
              <a:buClr>
                <a:srgbClr val="000000"/>
              </a:buClr>
              <a:buSzPts val="1800"/>
              <a:buFont typeface="Arial"/>
              <a:buChar char="•"/>
            </a:pPr>
            <a:r>
              <a:rPr b="0" i="0" lang="en-US" sz="1800" u="none" strike="noStrike">
                <a:solidFill>
                  <a:srgbClr val="000000"/>
                </a:solidFill>
                <a:latin typeface="Arial"/>
                <a:ea typeface="Arial"/>
                <a:cs typeface="Arial"/>
                <a:sym typeface="Arial"/>
              </a:rPr>
              <a:t>Exceeds expectations by incorporating advanced concepts like inheritance, specialization, or generalization.</a:t>
            </a:r>
            <a:endParaRPr/>
          </a:p>
          <a:p>
            <a:pPr indent="-114300" lvl="0" marL="0" rtl="0" algn="just">
              <a:spcBef>
                <a:spcPts val="0"/>
              </a:spcBef>
              <a:spcAft>
                <a:spcPts val="0"/>
              </a:spcAft>
              <a:buClr>
                <a:srgbClr val="000000"/>
              </a:buClr>
              <a:buSzPts val="1800"/>
              <a:buFont typeface="Arial"/>
              <a:buChar char="•"/>
            </a:pPr>
            <a:r>
              <a:rPr b="0" i="0" lang="en-US" sz="1800" u="none" strike="noStrike">
                <a:solidFill>
                  <a:srgbClr val="000000"/>
                </a:solidFill>
                <a:latin typeface="Arial"/>
                <a:ea typeface="Arial"/>
                <a:cs typeface="Arial"/>
                <a:sym typeface="Arial"/>
              </a:rPr>
              <a:t>Utilizes advanced notation or tools to enhance readability and expressiveness.</a:t>
            </a:r>
            <a:endParaRPr/>
          </a:p>
          <a:p>
            <a:pPr indent="-114300" lvl="0" marL="0" rtl="0" algn="just">
              <a:spcBef>
                <a:spcPts val="0"/>
              </a:spcBef>
              <a:spcAft>
                <a:spcPts val="0"/>
              </a:spcAft>
              <a:buClr>
                <a:srgbClr val="000000"/>
              </a:buClr>
              <a:buSzPts val="1800"/>
              <a:buFont typeface="Arial"/>
              <a:buChar char="•"/>
            </a:pPr>
            <a:r>
              <a:rPr b="0" i="0" lang="en-US" sz="1800" u="none" strike="noStrike">
                <a:solidFill>
                  <a:srgbClr val="000000"/>
                </a:solidFill>
                <a:latin typeface="Arial"/>
                <a:ea typeface="Arial"/>
                <a:cs typeface="Arial"/>
                <a:sym typeface="Arial"/>
              </a:rPr>
              <a:t>Represents a model that is not only accurate but also adaptable and extensible for future changes.</a:t>
            </a:r>
            <a:endParaRPr/>
          </a:p>
          <a:p>
            <a:pPr indent="-114300" lvl="0" marL="0" rtl="0" algn="just">
              <a:spcBef>
                <a:spcPts val="0"/>
              </a:spcBef>
              <a:spcAft>
                <a:spcPts val="0"/>
              </a:spcAft>
              <a:buClr>
                <a:srgbClr val="000000"/>
              </a:buClr>
              <a:buSzPts val="1800"/>
              <a:buFont typeface="Arial"/>
              <a:buChar char="•"/>
            </a:pPr>
            <a:r>
              <a:rPr b="0" i="0" lang="en-US" sz="1800" u="none" strike="noStrike">
                <a:solidFill>
                  <a:srgbClr val="000000"/>
                </a:solidFill>
                <a:latin typeface="Arial"/>
                <a:ea typeface="Arial"/>
                <a:cs typeface="Arial"/>
                <a:sym typeface="Arial"/>
              </a:rPr>
              <a:t>Include Assumption/ Business Process</a:t>
            </a:r>
            <a:endParaRPr/>
          </a:p>
          <a:p>
            <a:pPr indent="0" lvl="0" marL="0" rtl="0" algn="l">
              <a:spcBef>
                <a:spcPts val="0"/>
              </a:spcBef>
              <a:spcAft>
                <a:spcPts val="0"/>
              </a:spcAft>
              <a:buNone/>
            </a:pPr>
            <a:r>
              <a:t/>
            </a:r>
            <a:endParaRPr/>
          </a:p>
        </p:txBody>
      </p:sp>
      <p:sp>
        <p:nvSpPr>
          <p:cNvPr id="195" name="Google Shape;19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4: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201" name="Google Shape;20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7: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220" name="Google Shape;22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409cead5e1d_0_59: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227" name="Google Shape;227;g409cead5e1d_0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409bb571d3f_24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409bb571d3f_24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g409bb571d3f_24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409bb571d3f_24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409bb571d3f_24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g409bb571d3f_24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409bb571d3f_24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409bb571d3f_24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g409bb571d3f_24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409bb571d3f_24_38: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262" name="Google Shape;262;g409bb571d3f_24_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409bb571d3f_24_65: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270" name="Google Shape;270;g409bb571d3f_24_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409bb571d3f_24_45: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278" name="Google Shape;278;g409bb571d3f_24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409beb5f75b_21_2: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286" name="Google Shape;286;g409beb5f75b_21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409bb571d3f_24_72: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294" name="Google Shape;294;g409bb571d3f_24_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fa3490b3aa_0_18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g3fa3490b3aa_0_1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fa3490b3aa_0_1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g3fa3490b3aa_0_1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fa3490b3aa_0_72: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20" name="Google Shape;320;g3fa3490b3aa_0_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fa3490b3aa_0_2: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28" name="Google Shape;328;g3fa3490b3aa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409beb5f75b_30_150: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36" name="Google Shape;336;g409beb5f75b_30_1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409beb5f75b_30_158: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45" name="Google Shape;345;g409beb5f75b_30_1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fa3490b3aa_0_27: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56" name="Google Shape;356;g3fa3490b3aa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409cead5e1d_0_2: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64" name="Google Shape;364;g409cead5e1d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fa3490b3aa_0_8: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73" name="Google Shape;373;g3fa3490b3aa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409cead5e1d_0_11: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82" name="Google Shape;382;g409cead5e1d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fa3490b3aa_0_14: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91" name="Google Shape;391;g3fa3490b3aa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409cead5e1d_0_20: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01" name="Google Shape;401;g409cead5e1d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fa3490b3aa_0_32: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11" name="Google Shape;411;g3fa3490b3aa_0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fa3490b3aa_0_37: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19" name="Google Shape;419;g3fa3490b3aa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fa3490b3aa_0_22: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28" name="Google Shape;428;g3fa3490b3aa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fa3490b3aa_0_63: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38" name="Google Shape;438;g3fa3490b3aa_0_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fa3490b3aa_0_19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g3fa3490b3aa_0_1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fa3490b3aa_0_10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g3fa3490b3aa_0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fa3490b3aa_0_52: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57" name="Google Shape;457;g3fa3490b3aa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fa6c557e28_0_9: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65" name="Google Shape;465;g3fa6c557e28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fa6c557e28_0_0: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74" name="Google Shape;474;g3fa6c557e2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fa3490b3aa_0_10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g3fa3490b3aa_0_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fa3490b3aa_0_47: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89" name="Google Shape;489;g3fa3490b3aa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fa3490b3aa_0_116: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500" name="Google Shape;500;g3fa3490b3aa_0_1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fa3490b3aa_0_110: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512" name="Google Shape;512;g3fa3490b3aa_0_1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9" name="Google Shape;51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21: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525" name="Google Shape;52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409beb5f75b_30_138: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534" name="Google Shape;534;g409beb5f75b_30_1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409beb5f75b_61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409beb5f75b_61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3" name="Google Shape;543;g409beb5f75b_61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409beb5f75b_61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409beb5f75b_61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g409beb5f75b_61_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409beb5f75b_61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409beb5f75b_61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9" name="Google Shape;559;g409beb5f75b_61_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409beb5f75b_61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409beb5f75b_61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 name="Google Shape;567;g409beb5f75b_61_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409beb5f75b_61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409beb5f75b_61_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5" name="Google Shape;575;g409beb5f75b_61_5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409beb5f75b_61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409beb5f75b_61_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3" name="Google Shape;583;g409beb5f75b_61_6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409beb5f75b_61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409beb5f75b_61_7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 name="Google Shape;591;g409beb5f75b_61_7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409beb5f75b_61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409beb5f75b_61_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9" name="Google Shape;599;g409beb5f75b_61_8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fa3ddc812c_0_23: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06" name="Google Shape;606;g3fa3ddc812c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3" name="Google Shape;61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fa3490b3aa_0_1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 name="Google Shape;619;g3fa3490b3aa_0_1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23: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25" name="Google Shape;62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fa3490b3aa_0_157: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34" name="Google Shape;634;g3fa3490b3aa_0_1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fa3490b3aa_0_140: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42" name="Google Shape;642;g3fa3490b3aa_0_1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fa3ddc812c_0_1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1" name="Google Shape;651;g3fa3ddc812c_0_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409beb5f75b_30_212: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57" name="Google Shape;657;g409beb5f75b_30_2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fa3ddc812c_0_1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5" name="Google Shape;665;g3fa3ddc812c_0_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fa3490b3aa_0_197: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71" name="Google Shape;671;g3fa3490b3aa_0_1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fa3490b3aa_0_167: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80" name="Google Shape;680;g3fa3490b3aa_0_1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fa3490b3aa_0_134: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88" name="Google Shape;688;g3fa3490b3aa_0_1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fa3ddc812c_0_141: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95" name="Google Shape;695;g3fa3ddc812c_0_1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fa3ddc812c_0_20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2" name="Google Shape;702;g3fa3ddc812c_0_2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fa3ddc812c_0_84: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708" name="Google Shape;708;g3fa3ddc812c_0_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3fa3ddc812c_0_90: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718" name="Google Shape;718;g3fa3ddc812c_0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fa3ddc812c_0_110: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726" name="Google Shape;726;g3fa3ddc812c_0_1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fa3ddc812c_0_123: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734" name="Google Shape;734;g3fa3ddc812c_0_1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fa3ddc812c_0_117: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744" name="Google Shape;744;g3fa3ddc812c_0_1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3" name="Google Shape;75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fa3490b3aa_0_2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9" name="Google Shape;759;g3fa3490b3aa_0_2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3fa3490b3aa_0_2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5" name="Google Shape;765;g3fa3490b3aa_0_2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3fa3490b3aa_0_230: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771" name="Google Shape;771;g3fa3490b3aa_0_2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409cead5e1d_0_42: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780" name="Google Shape;780;g409cead5e1d_0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409cead5e1d_0_34: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789" name="Google Shape;789;g409cead5e1d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3fa3490b3aa_0_236: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797" name="Google Shape;797;g3fa3490b3aa_0_2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25: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807" name="Google Shape;80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fa3ddc812c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5" name="Google Shape;815;g3fa3ddc812c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fa3ddc812c_0_2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1" name="Google Shape;821;g3fa3ddc812c_0_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3fa3490b3aa_0_265: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827" name="Google Shape;827;g3fa3490b3aa_0_2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3fa3490b3aa_0_253: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837" name="Google Shape;837;g3fa3490b3aa_0_2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3fa3490b3aa_0_282: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844" name="Google Shape;844;g3fa3490b3aa_0_2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3fa3490b3aa_0_290: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852" name="Google Shape;852;g3fa3490b3aa_0_2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fa3ddc812c_0_101: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861" name="Google Shape;861;g3fa3ddc812c_0_1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3fa3ddc812c_0_156: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869" name="Google Shape;869;g3fa3ddc812c_0_1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3fa3ddc812c_0_2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1" name="Google Shape;881;g3fa3ddc812c_0_2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3fa3ddc812c_0_176: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887" name="Google Shape;887;g3fa3ddc812c_0_1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fa3ddc812c_0_185: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895" name="Google Shape;895;g3fa3ddc812c_0_1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fa3ddc812c_0_149: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905" name="Google Shape;905;g3fa3ddc812c_0_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3fa3490b3aa_0_244: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913" name="Google Shape;913;g3fa3490b3aa_0_2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0" name="Google Shape;92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3fa3ddc812c_0_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6" name="Google Shape;926;g3fa3ddc812c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3fa3490b3aa_0_29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2" name="Google Shape;932;g3fa3490b3aa_0_2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27: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938" name="Google Shape;938;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g409beb5f75b_30_195: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947" name="Google Shape;947;g409beb5f75b_30_1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409beb5f75b_30_187: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955" name="Google Shape;955;g409beb5f75b_30_1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3fa3ddc812c_0_12: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963" name="Google Shape;963;g3fa3ddc812c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409beb5f75b_30_1: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971" name="Google Shape;971;g409beb5f75b_3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3fa3ddc812c_0_2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8" name="Google Shape;978;g3fa3ddc812c_0_2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fa3ddc812c_0_62: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984" name="Google Shape;984;g3fa3ddc812c_0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fa3ddc812c_0_68: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996" name="Google Shape;996;g3fa3ddc812c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fa3ddc812c_0_56: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010" name="Google Shape;1010;g3fa3ddc812c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7" name="Google Shape;101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409d27d4968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3" name="Google Shape;1023;g409d27d4968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3fb366f9357_0_10: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029" name="Google Shape;1029;g3fb366f9357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409d27d4968_0_9: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039" name="Google Shape;1039;g409d27d4968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409d27d4968_0_31: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048" name="Google Shape;1048;g409d27d4968_0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409d27d4968_0_24: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057" name="Google Shape;1057;g409d27d4968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g409d27d4968_0_38: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067" name="Google Shape;1067;g409d27d4968_0_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409d27d4968_0_46: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076" name="Google Shape;1076;g409d27d4968_0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409d27d4968_0_59: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084" name="Google Shape;1084;g409d27d4968_0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409d27d4968_0_72: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091" name="Google Shape;1091;g409d27d4968_0_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409d27d4968_0_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1" name="Google Shape;1101;g409d27d4968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409d27d4968_0_90: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107" name="Google Shape;1107;g409d27d4968_0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g409d27d4968_0_101: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117" name="Google Shape;1117;g409d27d4968_0_1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409d27d4968_0_109: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127" name="Google Shape;1127;g409d27d4968_0_1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409d27d4968_0_128: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137" name="Google Shape;1137;g409d27d4968_0_1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409d27d4968_0_136: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145" name="Google Shape;1145;g409d27d4968_0_1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g409d27d4968_0_144: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153" name="Google Shape;1153;g409d27d4968_0_1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409d59724f4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1" name="Google Shape;1161;g409d59724f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g409d59724f4_0_5: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167" name="Google Shape;1167;g409d59724f4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g409d59724f4_0_14: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175" name="Google Shape;1175;g409d59724f4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g3fb366f9357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3" name="Google Shape;1183;g3fb366f935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409beb5f75b_30_36: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189" name="Google Shape;1189;g409beb5f75b_30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Describe any challenges that you encountered and how you overcame those challenges.</a:t>
            </a:r>
            <a:endParaRPr/>
          </a:p>
          <a:p>
            <a:pPr indent="0" lvl="0" marL="0" rtl="0" algn="l">
              <a:spcBef>
                <a:spcPts val="0"/>
              </a:spcBef>
              <a:spcAft>
                <a:spcPts val="0"/>
              </a:spcAft>
              <a:buNone/>
            </a:pPr>
            <a:r>
              <a:rPr lang="en-US"/>
              <a:t>For example: “I got stuck when I was creating an EC2 instance to host the application. I used the resources that were listed in the instructions to walk myself through the process to create a new EC2, and I was able to complete the task. The links to labs in other courses were very helpful.”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Describe any new skills that you learned from this project. </a:t>
            </a:r>
            <a:endParaRPr/>
          </a:p>
          <a:p>
            <a:pPr indent="0" lvl="0" marL="0" rtl="0" algn="l">
              <a:spcBef>
                <a:spcPts val="0"/>
              </a:spcBef>
              <a:spcAft>
                <a:spcPts val="0"/>
              </a:spcAft>
              <a:buNone/>
            </a:pPr>
            <a:r>
              <a:rPr lang="en-US"/>
              <a:t>For example: “I learned how to set up auto scaling correctly so my resources were automatically adjusted and allocated at the lowest possible cost.”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Discuss any future, out-of-scope use cases in the next steps.</a:t>
            </a:r>
            <a:endParaRPr/>
          </a:p>
          <a:p>
            <a:pPr indent="0" lvl="0" marL="0" rtl="0" algn="l">
              <a:spcBef>
                <a:spcPts val="0"/>
              </a:spcBef>
              <a:spcAft>
                <a:spcPts val="0"/>
              </a:spcAft>
              <a:buNone/>
            </a:pPr>
            <a:r>
              <a:rPr lang="en-US"/>
              <a:t>For example: “I would like to scale out the web application so that multiple departments can use it.”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409beb5f75b_30_49: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196" name="Google Shape;1196;g409beb5f75b_3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Describe any challenges that you encountered and how you overcame those challenges.</a:t>
            </a:r>
            <a:endParaRPr/>
          </a:p>
          <a:p>
            <a:pPr indent="0" lvl="0" marL="0" rtl="0" algn="l">
              <a:spcBef>
                <a:spcPts val="0"/>
              </a:spcBef>
              <a:spcAft>
                <a:spcPts val="0"/>
              </a:spcAft>
              <a:buNone/>
            </a:pPr>
            <a:r>
              <a:rPr lang="en-US"/>
              <a:t>For example: “I got stuck when I was creating an EC2 instance to host the application. I used the resources that were listed in the instructions to walk myself through the process to create a new EC2, and I was able to complete the task. The links to labs in other courses were very helpful.”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Describe any new skills that you learned from this project. </a:t>
            </a:r>
            <a:endParaRPr/>
          </a:p>
          <a:p>
            <a:pPr indent="0" lvl="0" marL="0" rtl="0" algn="l">
              <a:spcBef>
                <a:spcPts val="0"/>
              </a:spcBef>
              <a:spcAft>
                <a:spcPts val="0"/>
              </a:spcAft>
              <a:buNone/>
            </a:pPr>
            <a:r>
              <a:rPr lang="en-US"/>
              <a:t>For example: “I learned how to set up auto scaling correctly so my resources were automatically adjusted and allocated at the lowest possible cost.”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Discuss any future, out-of-scope use cases in the next steps.</a:t>
            </a:r>
            <a:endParaRPr/>
          </a:p>
          <a:p>
            <a:pPr indent="0" lvl="0" marL="0" rtl="0" algn="l">
              <a:spcBef>
                <a:spcPts val="0"/>
              </a:spcBef>
              <a:spcAft>
                <a:spcPts val="0"/>
              </a:spcAft>
              <a:buNone/>
            </a:pPr>
            <a:r>
              <a:rPr lang="en-US"/>
              <a:t>For example: “I would like to scale out the web application so that multiple departments can use it.”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3" name="Google Shape;120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409beb5f75b_30_8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9" name="Google Shape;1209;g409beb5f75b_30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p31: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215" name="Google Shape;1215;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g409beb5f75b_30_9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3" name="Google Shape;1223;g409beb5f75b_30_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409beb5f75b_30_100: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229" name="Google Shape;1229;g409beb5f75b_30_1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6" name="Google Shape;123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p34: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242" name="Google Shape;1242;p34:notes"/>
          <p:cNvSpPr txBox="1"/>
          <p:nvPr>
            <p:ph idx="1" type="body"/>
          </p:nvPr>
        </p:nvSpPr>
        <p:spPr>
          <a:xfrm>
            <a:off x="317500" y="3810000"/>
            <a:ext cx="7112000" cy="5397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p:cSld name="Custom">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type="secHead">
  <p:cSld name="SECTION_HEADER">
    <p:bg>
      <p:bgPr>
        <a:blipFill>
          <a:blip r:embed="rId2">
            <a:alphaModFix/>
          </a:blip>
          <a:stretch>
            <a:fillRect/>
          </a:stretch>
        </a:blipFill>
      </p:bgPr>
    </p:bg>
    <p:spTree>
      <p:nvGrpSpPr>
        <p:cNvPr id="16" name="Shape 16"/>
        <p:cNvGrpSpPr/>
        <p:nvPr/>
      </p:nvGrpSpPr>
      <p:grpSpPr>
        <a:xfrm>
          <a:off x="0" y="0"/>
          <a:ext cx="0" cy="0"/>
          <a:chOff x="0" y="0"/>
          <a:chExt cx="0" cy="0"/>
        </a:xfrm>
      </p:grpSpPr>
      <p:pic>
        <p:nvPicPr>
          <p:cNvPr id="17" name="Google Shape;17;p3"/>
          <p:cNvPicPr preferRelativeResize="0"/>
          <p:nvPr/>
        </p:nvPicPr>
        <p:blipFill rotWithShape="1">
          <a:blip r:embed="rId3">
            <a:alphaModFix/>
          </a:blip>
          <a:srcRect b="0" l="0" r="0" t="0"/>
          <a:stretch/>
        </p:blipFill>
        <p:spPr>
          <a:xfrm>
            <a:off x="3800263" y="6446622"/>
            <a:ext cx="4609804" cy="310570"/>
          </a:xfrm>
          <a:prstGeom prst="rect">
            <a:avLst/>
          </a:prstGeom>
          <a:noFill/>
          <a:ln>
            <a:noFill/>
          </a:ln>
        </p:spPr>
      </p:pic>
      <p:sp>
        <p:nvSpPr>
          <p:cNvPr id="18" name="Google Shape;18;p3"/>
          <p:cNvSpPr txBox="1"/>
          <p:nvPr>
            <p:ph type="title"/>
          </p:nvPr>
        </p:nvSpPr>
        <p:spPr>
          <a:xfrm>
            <a:off x="365761" y="1709738"/>
            <a:ext cx="11472012" cy="360984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Play"/>
              <a:buNone/>
              <a:defRPr sz="40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365761" y="5319584"/>
            <a:ext cx="11472012" cy="77006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2800"/>
              <a:buNone/>
              <a:defRPr sz="2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2" type="sldNum"/>
          </p:nvPr>
        </p:nvSpPr>
        <p:spPr>
          <a:xfrm>
            <a:off x="11347836" y="6446622"/>
            <a:ext cx="484707" cy="228091"/>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232F3E"/>
                </a:solidFill>
                <a:latin typeface="Arial"/>
                <a:ea typeface="Arial"/>
                <a:cs typeface="Arial"/>
                <a:sym typeface="Arial"/>
              </a:defRPr>
            </a:lvl1pPr>
            <a:lvl2pPr indent="0" lvl="1" marL="0" marR="0" algn="r">
              <a:spcBef>
                <a:spcPts val="0"/>
              </a:spcBef>
              <a:buNone/>
              <a:defRPr b="0" i="0" sz="1200" u="none" cap="none" strike="noStrike">
                <a:solidFill>
                  <a:srgbClr val="232F3E"/>
                </a:solidFill>
                <a:latin typeface="Arial"/>
                <a:ea typeface="Arial"/>
                <a:cs typeface="Arial"/>
                <a:sym typeface="Arial"/>
              </a:defRPr>
            </a:lvl2pPr>
            <a:lvl3pPr indent="0" lvl="2" marL="0" marR="0" algn="r">
              <a:spcBef>
                <a:spcPts val="0"/>
              </a:spcBef>
              <a:buNone/>
              <a:defRPr b="0" i="0" sz="1200" u="none" cap="none" strike="noStrike">
                <a:solidFill>
                  <a:srgbClr val="232F3E"/>
                </a:solidFill>
                <a:latin typeface="Arial"/>
                <a:ea typeface="Arial"/>
                <a:cs typeface="Arial"/>
                <a:sym typeface="Arial"/>
              </a:defRPr>
            </a:lvl3pPr>
            <a:lvl4pPr indent="0" lvl="3" marL="0" marR="0" algn="r">
              <a:spcBef>
                <a:spcPts val="0"/>
              </a:spcBef>
              <a:buNone/>
              <a:defRPr b="0" i="0" sz="1200" u="none" cap="none" strike="noStrike">
                <a:solidFill>
                  <a:srgbClr val="232F3E"/>
                </a:solidFill>
                <a:latin typeface="Arial"/>
                <a:ea typeface="Arial"/>
                <a:cs typeface="Arial"/>
                <a:sym typeface="Arial"/>
              </a:defRPr>
            </a:lvl4pPr>
            <a:lvl5pPr indent="0" lvl="4" marL="0" marR="0" algn="r">
              <a:spcBef>
                <a:spcPts val="0"/>
              </a:spcBef>
              <a:buNone/>
              <a:defRPr b="0" i="0" sz="1200" u="none" cap="none" strike="noStrike">
                <a:solidFill>
                  <a:srgbClr val="232F3E"/>
                </a:solidFill>
                <a:latin typeface="Arial"/>
                <a:ea typeface="Arial"/>
                <a:cs typeface="Arial"/>
                <a:sym typeface="Arial"/>
              </a:defRPr>
            </a:lvl5pPr>
            <a:lvl6pPr indent="0" lvl="5" marL="0" marR="0" algn="r">
              <a:spcBef>
                <a:spcPts val="0"/>
              </a:spcBef>
              <a:buNone/>
              <a:defRPr b="0" i="0" sz="1200" u="none" cap="none" strike="noStrike">
                <a:solidFill>
                  <a:srgbClr val="232F3E"/>
                </a:solidFill>
                <a:latin typeface="Arial"/>
                <a:ea typeface="Arial"/>
                <a:cs typeface="Arial"/>
                <a:sym typeface="Arial"/>
              </a:defRPr>
            </a:lvl6pPr>
            <a:lvl7pPr indent="0" lvl="6" marL="0" marR="0" algn="r">
              <a:spcBef>
                <a:spcPts val="0"/>
              </a:spcBef>
              <a:buNone/>
              <a:defRPr b="0" i="0" sz="1200" u="none" cap="none" strike="noStrike">
                <a:solidFill>
                  <a:srgbClr val="232F3E"/>
                </a:solidFill>
                <a:latin typeface="Arial"/>
                <a:ea typeface="Arial"/>
                <a:cs typeface="Arial"/>
                <a:sym typeface="Arial"/>
              </a:defRPr>
            </a:lvl7pPr>
            <a:lvl8pPr indent="0" lvl="7" marL="0" marR="0" algn="r">
              <a:spcBef>
                <a:spcPts val="0"/>
              </a:spcBef>
              <a:buNone/>
              <a:defRPr b="0" i="0" sz="1200" u="none" cap="none" strike="noStrike">
                <a:solidFill>
                  <a:srgbClr val="232F3E"/>
                </a:solidFill>
                <a:latin typeface="Arial"/>
                <a:ea typeface="Arial"/>
                <a:cs typeface="Arial"/>
                <a:sym typeface="Arial"/>
              </a:defRPr>
            </a:lvl8pPr>
            <a:lvl9pPr indent="0" lvl="8" marL="0" marR="0" algn="r">
              <a:spcBef>
                <a:spcPts val="0"/>
              </a:spcBef>
              <a:buNone/>
              <a:defRPr b="0" i="0" sz="1200" u="none" cap="none" strike="noStrike">
                <a:solidFill>
                  <a:srgbClr val="232F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Title and Architecture" type="tx">
  <p:cSld name="TITLE_AND_BODY">
    <p:spTree>
      <p:nvGrpSpPr>
        <p:cNvPr id="21" name="Shape 21"/>
        <p:cNvGrpSpPr/>
        <p:nvPr/>
      </p:nvGrpSpPr>
      <p:grpSpPr>
        <a:xfrm>
          <a:off x="0" y="0"/>
          <a:ext cx="0" cy="0"/>
          <a:chOff x="0" y="0"/>
          <a:chExt cx="0" cy="0"/>
        </a:xfrm>
      </p:grpSpPr>
      <p:pic>
        <p:nvPicPr>
          <p:cNvPr id="22" name="Google Shape;22;p4"/>
          <p:cNvPicPr preferRelativeResize="0"/>
          <p:nvPr/>
        </p:nvPicPr>
        <p:blipFill rotWithShape="1">
          <a:blip r:embed="rId2">
            <a:alphaModFix/>
          </a:blip>
          <a:srcRect b="0" l="0" r="0" t="0"/>
          <a:stretch/>
        </p:blipFill>
        <p:spPr>
          <a:xfrm>
            <a:off x="365567" y="578373"/>
            <a:ext cx="11485305" cy="45822"/>
          </a:xfrm>
          <a:prstGeom prst="rect">
            <a:avLst/>
          </a:prstGeom>
          <a:noFill/>
          <a:ln>
            <a:noFill/>
          </a:ln>
        </p:spPr>
      </p:pic>
      <p:sp>
        <p:nvSpPr>
          <p:cNvPr id="23" name="Google Shape;23;p4"/>
          <p:cNvSpPr txBox="1"/>
          <p:nvPr>
            <p:ph type="title"/>
          </p:nvPr>
        </p:nvSpPr>
        <p:spPr>
          <a:xfrm>
            <a:off x="365763" y="299528"/>
            <a:ext cx="11466576" cy="289591"/>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232F3E"/>
              </a:buClr>
              <a:buSzPts val="1600"/>
              <a:buFont typeface="Play"/>
              <a:buNone/>
              <a:defRPr sz="1600">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2" type="sldNum"/>
          </p:nvPr>
        </p:nvSpPr>
        <p:spPr>
          <a:xfrm>
            <a:off x="11347836" y="6446622"/>
            <a:ext cx="484707" cy="228091"/>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232F3E"/>
                </a:solidFill>
                <a:latin typeface="Arial"/>
                <a:ea typeface="Arial"/>
                <a:cs typeface="Arial"/>
                <a:sym typeface="Arial"/>
              </a:defRPr>
            </a:lvl1pPr>
            <a:lvl2pPr indent="0" lvl="1" marL="0" marR="0" algn="r">
              <a:spcBef>
                <a:spcPts val="0"/>
              </a:spcBef>
              <a:buNone/>
              <a:defRPr b="0" i="0" sz="1200" u="none" cap="none" strike="noStrike">
                <a:solidFill>
                  <a:srgbClr val="232F3E"/>
                </a:solidFill>
                <a:latin typeface="Arial"/>
                <a:ea typeface="Arial"/>
                <a:cs typeface="Arial"/>
                <a:sym typeface="Arial"/>
              </a:defRPr>
            </a:lvl2pPr>
            <a:lvl3pPr indent="0" lvl="2" marL="0" marR="0" algn="r">
              <a:spcBef>
                <a:spcPts val="0"/>
              </a:spcBef>
              <a:buNone/>
              <a:defRPr b="0" i="0" sz="1200" u="none" cap="none" strike="noStrike">
                <a:solidFill>
                  <a:srgbClr val="232F3E"/>
                </a:solidFill>
                <a:latin typeface="Arial"/>
                <a:ea typeface="Arial"/>
                <a:cs typeface="Arial"/>
                <a:sym typeface="Arial"/>
              </a:defRPr>
            </a:lvl3pPr>
            <a:lvl4pPr indent="0" lvl="3" marL="0" marR="0" algn="r">
              <a:spcBef>
                <a:spcPts val="0"/>
              </a:spcBef>
              <a:buNone/>
              <a:defRPr b="0" i="0" sz="1200" u="none" cap="none" strike="noStrike">
                <a:solidFill>
                  <a:srgbClr val="232F3E"/>
                </a:solidFill>
                <a:latin typeface="Arial"/>
                <a:ea typeface="Arial"/>
                <a:cs typeface="Arial"/>
                <a:sym typeface="Arial"/>
              </a:defRPr>
            </a:lvl4pPr>
            <a:lvl5pPr indent="0" lvl="4" marL="0" marR="0" algn="r">
              <a:spcBef>
                <a:spcPts val="0"/>
              </a:spcBef>
              <a:buNone/>
              <a:defRPr b="0" i="0" sz="1200" u="none" cap="none" strike="noStrike">
                <a:solidFill>
                  <a:srgbClr val="232F3E"/>
                </a:solidFill>
                <a:latin typeface="Arial"/>
                <a:ea typeface="Arial"/>
                <a:cs typeface="Arial"/>
                <a:sym typeface="Arial"/>
              </a:defRPr>
            </a:lvl5pPr>
            <a:lvl6pPr indent="0" lvl="5" marL="0" marR="0" algn="r">
              <a:spcBef>
                <a:spcPts val="0"/>
              </a:spcBef>
              <a:buNone/>
              <a:defRPr b="0" i="0" sz="1200" u="none" cap="none" strike="noStrike">
                <a:solidFill>
                  <a:srgbClr val="232F3E"/>
                </a:solidFill>
                <a:latin typeface="Arial"/>
                <a:ea typeface="Arial"/>
                <a:cs typeface="Arial"/>
                <a:sym typeface="Arial"/>
              </a:defRPr>
            </a:lvl6pPr>
            <a:lvl7pPr indent="0" lvl="6" marL="0" marR="0" algn="r">
              <a:spcBef>
                <a:spcPts val="0"/>
              </a:spcBef>
              <a:buNone/>
              <a:defRPr b="0" i="0" sz="1200" u="none" cap="none" strike="noStrike">
                <a:solidFill>
                  <a:srgbClr val="232F3E"/>
                </a:solidFill>
                <a:latin typeface="Arial"/>
                <a:ea typeface="Arial"/>
                <a:cs typeface="Arial"/>
                <a:sym typeface="Arial"/>
              </a:defRPr>
            </a:lvl7pPr>
            <a:lvl8pPr indent="0" lvl="7" marL="0" marR="0" algn="r">
              <a:spcBef>
                <a:spcPts val="0"/>
              </a:spcBef>
              <a:buNone/>
              <a:defRPr b="0" i="0" sz="1200" u="none" cap="none" strike="noStrike">
                <a:solidFill>
                  <a:srgbClr val="232F3E"/>
                </a:solidFill>
                <a:latin typeface="Arial"/>
                <a:ea typeface="Arial"/>
                <a:cs typeface="Arial"/>
                <a:sym typeface="Arial"/>
              </a:defRPr>
            </a:lvl8pPr>
            <a:lvl9pPr indent="0" lvl="8" marL="0" marR="0" algn="r">
              <a:spcBef>
                <a:spcPts val="0"/>
              </a:spcBef>
              <a:buNone/>
              <a:defRPr b="0" i="0" sz="1200" u="none" cap="none" strike="noStrike">
                <a:solidFill>
                  <a:srgbClr val="232F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p:cSld name="Section Slide">
    <p:bg>
      <p:bgPr>
        <a:blipFill>
          <a:blip r:embed="rId2">
            <a:alphaModFix/>
          </a:blip>
          <a:stretch>
            <a:fillRect/>
          </a:stretch>
        </a:blipFill>
      </p:bgPr>
    </p:bg>
    <p:spTree>
      <p:nvGrpSpPr>
        <p:cNvPr id="25" name="Shape 25"/>
        <p:cNvGrpSpPr/>
        <p:nvPr/>
      </p:nvGrpSpPr>
      <p:grpSpPr>
        <a:xfrm>
          <a:off x="0" y="0"/>
          <a:ext cx="0" cy="0"/>
          <a:chOff x="0" y="0"/>
          <a:chExt cx="0" cy="0"/>
        </a:xfrm>
      </p:grpSpPr>
      <p:pic>
        <p:nvPicPr>
          <p:cNvPr id="26" name="Google Shape;26;p5"/>
          <p:cNvPicPr preferRelativeResize="0"/>
          <p:nvPr/>
        </p:nvPicPr>
        <p:blipFill rotWithShape="1">
          <a:blip r:embed="rId3">
            <a:alphaModFix/>
          </a:blip>
          <a:srcRect b="0" l="0" r="0" t="0"/>
          <a:stretch/>
        </p:blipFill>
        <p:spPr>
          <a:xfrm>
            <a:off x="1151687" y="6446622"/>
            <a:ext cx="4609804" cy="310570"/>
          </a:xfrm>
          <a:prstGeom prst="rect">
            <a:avLst/>
          </a:prstGeom>
          <a:noFill/>
          <a:ln>
            <a:noFill/>
          </a:ln>
        </p:spPr>
      </p:pic>
      <p:sp>
        <p:nvSpPr>
          <p:cNvPr id="27" name="Google Shape;27;p5"/>
          <p:cNvSpPr txBox="1"/>
          <p:nvPr>
            <p:ph type="title"/>
          </p:nvPr>
        </p:nvSpPr>
        <p:spPr>
          <a:xfrm>
            <a:off x="457201" y="2545492"/>
            <a:ext cx="6456405" cy="244687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Play"/>
              <a:buNone/>
              <a:defRPr sz="48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5"/>
          <p:cNvSpPr txBox="1"/>
          <p:nvPr>
            <p:ph idx="1" type="body"/>
          </p:nvPr>
        </p:nvSpPr>
        <p:spPr>
          <a:xfrm>
            <a:off x="457201" y="5040377"/>
            <a:ext cx="6456405" cy="9958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3200"/>
              <a:buNone/>
              <a:defRPr sz="3200">
                <a:solidFill>
                  <a:schemeClr val="lt1"/>
                </a:solidFill>
                <a:latin typeface="Arial"/>
                <a:ea typeface="Arial"/>
                <a:cs typeface="Arial"/>
                <a:sym typeface="Arial"/>
              </a:defRPr>
            </a:lvl1pPr>
            <a:lvl2pPr indent="-228600" lvl="1" marL="914400" algn="ctr">
              <a:lnSpc>
                <a:spcPct val="90000"/>
              </a:lnSpc>
              <a:spcBef>
                <a:spcPts val="500"/>
              </a:spcBef>
              <a:spcAft>
                <a:spcPts val="0"/>
              </a:spcAft>
              <a:buClr>
                <a:schemeClr val="dk1"/>
              </a:buClr>
              <a:buSzPts val="2000"/>
              <a:buNone/>
              <a:defRPr sz="2000"/>
            </a:lvl2pPr>
            <a:lvl3pPr indent="-228600" lvl="2" marL="1371600" algn="ctr">
              <a:lnSpc>
                <a:spcPct val="90000"/>
              </a:lnSpc>
              <a:spcBef>
                <a:spcPts val="500"/>
              </a:spcBef>
              <a:spcAft>
                <a:spcPts val="0"/>
              </a:spcAft>
              <a:buClr>
                <a:schemeClr val="dk1"/>
              </a:buClr>
              <a:buSzPts val="1800"/>
              <a:buNone/>
              <a:defRPr sz="1800"/>
            </a:lvl3pPr>
            <a:lvl4pPr indent="-228600" lvl="3" marL="1828800" algn="ctr">
              <a:lnSpc>
                <a:spcPct val="90000"/>
              </a:lnSpc>
              <a:spcBef>
                <a:spcPts val="500"/>
              </a:spcBef>
              <a:spcAft>
                <a:spcPts val="0"/>
              </a:spcAft>
              <a:buClr>
                <a:schemeClr val="dk1"/>
              </a:buClr>
              <a:buSzPts val="1600"/>
              <a:buNone/>
              <a:defRPr sz="1600"/>
            </a:lvl4pPr>
            <a:lvl5pPr indent="-228600" lvl="4" marL="2286000" algn="ctr">
              <a:lnSpc>
                <a:spcPct val="90000"/>
              </a:lnSpc>
              <a:spcBef>
                <a:spcPts val="500"/>
              </a:spcBef>
              <a:spcAft>
                <a:spcPts val="0"/>
              </a:spcAft>
              <a:buClr>
                <a:schemeClr val="dk1"/>
              </a:buClr>
              <a:buSzPts val="1600"/>
              <a:buNone/>
              <a:defRPr sz="1600"/>
            </a:lvl5pPr>
            <a:lvl6pPr indent="-228600" lvl="5" marL="2743200" algn="ctr">
              <a:lnSpc>
                <a:spcPct val="90000"/>
              </a:lnSpc>
              <a:spcBef>
                <a:spcPts val="500"/>
              </a:spcBef>
              <a:spcAft>
                <a:spcPts val="0"/>
              </a:spcAft>
              <a:buClr>
                <a:schemeClr val="dk1"/>
              </a:buClr>
              <a:buSzPts val="1600"/>
              <a:buNone/>
              <a:defRPr sz="1600"/>
            </a:lvl6pPr>
            <a:lvl7pPr indent="-228600" lvl="6" marL="3200400" algn="ctr">
              <a:lnSpc>
                <a:spcPct val="90000"/>
              </a:lnSpc>
              <a:spcBef>
                <a:spcPts val="500"/>
              </a:spcBef>
              <a:spcAft>
                <a:spcPts val="0"/>
              </a:spcAft>
              <a:buClr>
                <a:schemeClr val="dk1"/>
              </a:buClr>
              <a:buSzPts val="1600"/>
              <a:buNone/>
              <a:defRPr sz="1600"/>
            </a:lvl7pPr>
            <a:lvl8pPr indent="-228600" lvl="7" marL="3657600" algn="ctr">
              <a:lnSpc>
                <a:spcPct val="90000"/>
              </a:lnSpc>
              <a:spcBef>
                <a:spcPts val="500"/>
              </a:spcBef>
              <a:spcAft>
                <a:spcPts val="0"/>
              </a:spcAft>
              <a:buClr>
                <a:schemeClr val="dk1"/>
              </a:buClr>
              <a:buSzPts val="1600"/>
              <a:buNone/>
              <a:defRPr sz="1600"/>
            </a:lvl8pPr>
            <a:lvl9pPr indent="-228600" lvl="8" marL="4114800" algn="ctr">
              <a:lnSpc>
                <a:spcPct val="90000"/>
              </a:lnSpc>
              <a:spcBef>
                <a:spcPts val="500"/>
              </a:spcBef>
              <a:spcAft>
                <a:spcPts val="0"/>
              </a:spcAft>
              <a:buClr>
                <a:schemeClr val="dk1"/>
              </a:buClr>
              <a:buSzPts val="1600"/>
              <a:buNone/>
              <a:defRPr sz="1600"/>
            </a:lvl9pPr>
          </a:lstStyle>
          <a:p/>
        </p:txBody>
      </p:sp>
      <p:sp>
        <p:nvSpPr>
          <p:cNvPr id="29" name="Google Shape;29;p5"/>
          <p:cNvSpPr txBox="1"/>
          <p:nvPr>
            <p:ph idx="12" type="sldNum"/>
          </p:nvPr>
        </p:nvSpPr>
        <p:spPr>
          <a:xfrm>
            <a:off x="11347836" y="6446622"/>
            <a:ext cx="484707" cy="228091"/>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232F3E"/>
                </a:solidFill>
                <a:latin typeface="Arial"/>
                <a:ea typeface="Arial"/>
                <a:cs typeface="Arial"/>
                <a:sym typeface="Arial"/>
              </a:defRPr>
            </a:lvl1pPr>
            <a:lvl2pPr indent="0" lvl="1" marL="0" marR="0" algn="r">
              <a:spcBef>
                <a:spcPts val="0"/>
              </a:spcBef>
              <a:buNone/>
              <a:defRPr b="0" i="0" sz="1200" u="none" cap="none" strike="noStrike">
                <a:solidFill>
                  <a:srgbClr val="232F3E"/>
                </a:solidFill>
                <a:latin typeface="Arial"/>
                <a:ea typeface="Arial"/>
                <a:cs typeface="Arial"/>
                <a:sym typeface="Arial"/>
              </a:defRPr>
            </a:lvl2pPr>
            <a:lvl3pPr indent="0" lvl="2" marL="0" marR="0" algn="r">
              <a:spcBef>
                <a:spcPts val="0"/>
              </a:spcBef>
              <a:buNone/>
              <a:defRPr b="0" i="0" sz="1200" u="none" cap="none" strike="noStrike">
                <a:solidFill>
                  <a:srgbClr val="232F3E"/>
                </a:solidFill>
                <a:latin typeface="Arial"/>
                <a:ea typeface="Arial"/>
                <a:cs typeface="Arial"/>
                <a:sym typeface="Arial"/>
              </a:defRPr>
            </a:lvl3pPr>
            <a:lvl4pPr indent="0" lvl="3" marL="0" marR="0" algn="r">
              <a:spcBef>
                <a:spcPts val="0"/>
              </a:spcBef>
              <a:buNone/>
              <a:defRPr b="0" i="0" sz="1200" u="none" cap="none" strike="noStrike">
                <a:solidFill>
                  <a:srgbClr val="232F3E"/>
                </a:solidFill>
                <a:latin typeface="Arial"/>
                <a:ea typeface="Arial"/>
                <a:cs typeface="Arial"/>
                <a:sym typeface="Arial"/>
              </a:defRPr>
            </a:lvl4pPr>
            <a:lvl5pPr indent="0" lvl="4" marL="0" marR="0" algn="r">
              <a:spcBef>
                <a:spcPts val="0"/>
              </a:spcBef>
              <a:buNone/>
              <a:defRPr b="0" i="0" sz="1200" u="none" cap="none" strike="noStrike">
                <a:solidFill>
                  <a:srgbClr val="232F3E"/>
                </a:solidFill>
                <a:latin typeface="Arial"/>
                <a:ea typeface="Arial"/>
                <a:cs typeface="Arial"/>
                <a:sym typeface="Arial"/>
              </a:defRPr>
            </a:lvl5pPr>
            <a:lvl6pPr indent="0" lvl="5" marL="0" marR="0" algn="r">
              <a:spcBef>
                <a:spcPts val="0"/>
              </a:spcBef>
              <a:buNone/>
              <a:defRPr b="0" i="0" sz="1200" u="none" cap="none" strike="noStrike">
                <a:solidFill>
                  <a:srgbClr val="232F3E"/>
                </a:solidFill>
                <a:latin typeface="Arial"/>
                <a:ea typeface="Arial"/>
                <a:cs typeface="Arial"/>
                <a:sym typeface="Arial"/>
              </a:defRPr>
            </a:lvl6pPr>
            <a:lvl7pPr indent="0" lvl="6" marL="0" marR="0" algn="r">
              <a:spcBef>
                <a:spcPts val="0"/>
              </a:spcBef>
              <a:buNone/>
              <a:defRPr b="0" i="0" sz="1200" u="none" cap="none" strike="noStrike">
                <a:solidFill>
                  <a:srgbClr val="232F3E"/>
                </a:solidFill>
                <a:latin typeface="Arial"/>
                <a:ea typeface="Arial"/>
                <a:cs typeface="Arial"/>
                <a:sym typeface="Arial"/>
              </a:defRPr>
            </a:lvl7pPr>
            <a:lvl8pPr indent="0" lvl="7" marL="0" marR="0" algn="r">
              <a:spcBef>
                <a:spcPts val="0"/>
              </a:spcBef>
              <a:buNone/>
              <a:defRPr b="0" i="0" sz="1200" u="none" cap="none" strike="noStrike">
                <a:solidFill>
                  <a:srgbClr val="232F3E"/>
                </a:solidFill>
                <a:latin typeface="Arial"/>
                <a:ea typeface="Arial"/>
                <a:cs typeface="Arial"/>
                <a:sym typeface="Arial"/>
              </a:defRPr>
            </a:lvl8pPr>
            <a:lvl9pPr indent="0" lvl="8" marL="0" marR="0" algn="r">
              <a:spcBef>
                <a:spcPts val="0"/>
              </a:spcBef>
              <a:buNone/>
              <a:defRPr b="0" i="0" sz="1200" u="none" cap="none" strike="noStrike">
                <a:solidFill>
                  <a:srgbClr val="232F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bg>
      <p:bgPr>
        <a:blipFill>
          <a:blip r:embed="rId2">
            <a:alphaModFix/>
          </a:blip>
          <a:stretch>
            <a:fillRect/>
          </a:stretch>
        </a:blipFill>
      </p:bgPr>
    </p:bg>
    <p:spTree>
      <p:nvGrpSpPr>
        <p:cNvPr id="30" name="Shape 30"/>
        <p:cNvGrpSpPr/>
        <p:nvPr/>
      </p:nvGrpSpPr>
      <p:grpSpPr>
        <a:xfrm>
          <a:off x="0" y="0"/>
          <a:ext cx="0" cy="0"/>
          <a:chOff x="0" y="0"/>
          <a:chExt cx="0" cy="0"/>
        </a:xfrm>
      </p:grpSpPr>
      <p:pic>
        <p:nvPicPr>
          <p:cNvPr id="31" name="Google Shape;31;p6"/>
          <p:cNvPicPr preferRelativeResize="0"/>
          <p:nvPr/>
        </p:nvPicPr>
        <p:blipFill rotWithShape="1">
          <a:blip r:embed="rId3">
            <a:alphaModFix/>
          </a:blip>
          <a:srcRect b="0" l="0" r="0" t="0"/>
          <a:stretch/>
        </p:blipFill>
        <p:spPr>
          <a:xfrm>
            <a:off x="3800263" y="6446622"/>
            <a:ext cx="4609804" cy="310570"/>
          </a:xfrm>
          <a:prstGeom prst="rect">
            <a:avLst/>
          </a:prstGeom>
          <a:noFill/>
          <a:ln>
            <a:noFill/>
          </a:ln>
        </p:spPr>
      </p:pic>
      <p:sp>
        <p:nvSpPr>
          <p:cNvPr id="32" name="Google Shape;32;p6"/>
          <p:cNvSpPr txBox="1"/>
          <p:nvPr>
            <p:ph type="title"/>
          </p:nvPr>
        </p:nvSpPr>
        <p:spPr>
          <a:xfrm>
            <a:off x="457202" y="1256247"/>
            <a:ext cx="7998030" cy="404982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1"/>
              </a:buClr>
              <a:buSzPts val="4400"/>
              <a:buFont typeface="Play"/>
              <a:buNone/>
              <a:defRPr sz="44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6"/>
          <p:cNvSpPr txBox="1"/>
          <p:nvPr>
            <p:ph idx="1" type="body"/>
          </p:nvPr>
        </p:nvSpPr>
        <p:spPr>
          <a:xfrm>
            <a:off x="457203" y="5305428"/>
            <a:ext cx="7997826" cy="114141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2800"/>
              <a:buFont typeface="Arial"/>
              <a:buNone/>
              <a:defRPr b="0" cap="none">
                <a:solidFill>
                  <a:schemeClr val="lt1"/>
                </a:solidFill>
              </a:defRPr>
            </a:lvl1pPr>
            <a:lvl2pPr indent="-228600" lvl="1" marL="914400" algn="l">
              <a:lnSpc>
                <a:spcPct val="90000"/>
              </a:lnSpc>
              <a:spcBef>
                <a:spcPts val="500"/>
              </a:spcBef>
              <a:spcAft>
                <a:spcPts val="0"/>
              </a:spcAft>
              <a:buClr>
                <a:schemeClr val="lt2"/>
              </a:buClr>
              <a:buSzPts val="2000"/>
              <a:buNone/>
              <a:defRPr sz="2000">
                <a:solidFill>
                  <a:schemeClr val="lt2"/>
                </a:solidFill>
              </a:defRPr>
            </a:lvl2pPr>
            <a:lvl3pPr indent="-228600" lvl="2" marL="1371600" algn="l">
              <a:lnSpc>
                <a:spcPct val="90000"/>
              </a:lnSpc>
              <a:spcBef>
                <a:spcPts val="500"/>
              </a:spcBef>
              <a:spcAft>
                <a:spcPts val="0"/>
              </a:spcAft>
              <a:buClr>
                <a:schemeClr val="lt2"/>
              </a:buClr>
              <a:buSzPts val="1800"/>
              <a:buNone/>
              <a:defRPr sz="1800">
                <a:solidFill>
                  <a:schemeClr val="lt2"/>
                </a:solidFill>
              </a:defRPr>
            </a:lvl3pPr>
            <a:lvl4pPr indent="-228600" lvl="3" marL="1828800" algn="l">
              <a:lnSpc>
                <a:spcPct val="90000"/>
              </a:lnSpc>
              <a:spcBef>
                <a:spcPts val="500"/>
              </a:spcBef>
              <a:spcAft>
                <a:spcPts val="0"/>
              </a:spcAft>
              <a:buClr>
                <a:schemeClr val="lt2"/>
              </a:buClr>
              <a:buSzPts val="1600"/>
              <a:buNone/>
              <a:defRPr sz="1600">
                <a:solidFill>
                  <a:schemeClr val="lt2"/>
                </a:solidFill>
              </a:defRPr>
            </a:lvl4pPr>
            <a:lvl5pPr indent="-228600" lvl="4" marL="2286000" algn="l">
              <a:lnSpc>
                <a:spcPct val="90000"/>
              </a:lnSpc>
              <a:spcBef>
                <a:spcPts val="500"/>
              </a:spcBef>
              <a:spcAft>
                <a:spcPts val="0"/>
              </a:spcAft>
              <a:buClr>
                <a:schemeClr val="lt2"/>
              </a:buClr>
              <a:buSzPts val="1600"/>
              <a:buNone/>
              <a:defRPr sz="1600">
                <a:solidFill>
                  <a:schemeClr val="lt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6"/>
          <p:cNvSpPr txBox="1"/>
          <p:nvPr>
            <p:ph idx="12" type="sldNum"/>
          </p:nvPr>
        </p:nvSpPr>
        <p:spPr>
          <a:xfrm>
            <a:off x="11347836" y="6446622"/>
            <a:ext cx="484707" cy="228091"/>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232F3E"/>
                </a:solidFill>
                <a:latin typeface="Arial"/>
                <a:ea typeface="Arial"/>
                <a:cs typeface="Arial"/>
                <a:sym typeface="Arial"/>
              </a:defRPr>
            </a:lvl1pPr>
            <a:lvl2pPr indent="0" lvl="1" marL="0" marR="0" algn="r">
              <a:spcBef>
                <a:spcPts val="0"/>
              </a:spcBef>
              <a:buNone/>
              <a:defRPr b="0" i="0" sz="1200" u="none" cap="none" strike="noStrike">
                <a:solidFill>
                  <a:srgbClr val="232F3E"/>
                </a:solidFill>
                <a:latin typeface="Arial"/>
                <a:ea typeface="Arial"/>
                <a:cs typeface="Arial"/>
                <a:sym typeface="Arial"/>
              </a:defRPr>
            </a:lvl2pPr>
            <a:lvl3pPr indent="0" lvl="2" marL="0" marR="0" algn="r">
              <a:spcBef>
                <a:spcPts val="0"/>
              </a:spcBef>
              <a:buNone/>
              <a:defRPr b="0" i="0" sz="1200" u="none" cap="none" strike="noStrike">
                <a:solidFill>
                  <a:srgbClr val="232F3E"/>
                </a:solidFill>
                <a:latin typeface="Arial"/>
                <a:ea typeface="Arial"/>
                <a:cs typeface="Arial"/>
                <a:sym typeface="Arial"/>
              </a:defRPr>
            </a:lvl3pPr>
            <a:lvl4pPr indent="0" lvl="3" marL="0" marR="0" algn="r">
              <a:spcBef>
                <a:spcPts val="0"/>
              </a:spcBef>
              <a:buNone/>
              <a:defRPr b="0" i="0" sz="1200" u="none" cap="none" strike="noStrike">
                <a:solidFill>
                  <a:srgbClr val="232F3E"/>
                </a:solidFill>
                <a:latin typeface="Arial"/>
                <a:ea typeface="Arial"/>
                <a:cs typeface="Arial"/>
                <a:sym typeface="Arial"/>
              </a:defRPr>
            </a:lvl4pPr>
            <a:lvl5pPr indent="0" lvl="4" marL="0" marR="0" algn="r">
              <a:spcBef>
                <a:spcPts val="0"/>
              </a:spcBef>
              <a:buNone/>
              <a:defRPr b="0" i="0" sz="1200" u="none" cap="none" strike="noStrike">
                <a:solidFill>
                  <a:srgbClr val="232F3E"/>
                </a:solidFill>
                <a:latin typeface="Arial"/>
                <a:ea typeface="Arial"/>
                <a:cs typeface="Arial"/>
                <a:sym typeface="Arial"/>
              </a:defRPr>
            </a:lvl5pPr>
            <a:lvl6pPr indent="0" lvl="5" marL="0" marR="0" algn="r">
              <a:spcBef>
                <a:spcPts val="0"/>
              </a:spcBef>
              <a:buNone/>
              <a:defRPr b="0" i="0" sz="1200" u="none" cap="none" strike="noStrike">
                <a:solidFill>
                  <a:srgbClr val="232F3E"/>
                </a:solidFill>
                <a:latin typeface="Arial"/>
                <a:ea typeface="Arial"/>
                <a:cs typeface="Arial"/>
                <a:sym typeface="Arial"/>
              </a:defRPr>
            </a:lvl6pPr>
            <a:lvl7pPr indent="0" lvl="6" marL="0" marR="0" algn="r">
              <a:spcBef>
                <a:spcPts val="0"/>
              </a:spcBef>
              <a:buNone/>
              <a:defRPr b="0" i="0" sz="1200" u="none" cap="none" strike="noStrike">
                <a:solidFill>
                  <a:srgbClr val="232F3E"/>
                </a:solidFill>
                <a:latin typeface="Arial"/>
                <a:ea typeface="Arial"/>
                <a:cs typeface="Arial"/>
                <a:sym typeface="Arial"/>
              </a:defRPr>
            </a:lvl7pPr>
            <a:lvl8pPr indent="0" lvl="7" marL="0" marR="0" algn="r">
              <a:spcBef>
                <a:spcPts val="0"/>
              </a:spcBef>
              <a:buNone/>
              <a:defRPr b="0" i="0" sz="1200" u="none" cap="none" strike="noStrike">
                <a:solidFill>
                  <a:srgbClr val="232F3E"/>
                </a:solidFill>
                <a:latin typeface="Arial"/>
                <a:ea typeface="Arial"/>
                <a:cs typeface="Arial"/>
                <a:sym typeface="Arial"/>
              </a:defRPr>
            </a:lvl8pPr>
            <a:lvl9pPr indent="0" lvl="8" marL="0" marR="0" algn="r">
              <a:spcBef>
                <a:spcPts val="0"/>
              </a:spcBef>
              <a:buNone/>
              <a:defRPr b="0" i="0" sz="1200" u="none" cap="none" strike="noStrike">
                <a:solidFill>
                  <a:srgbClr val="232F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5" name="Shape 35"/>
        <p:cNvGrpSpPr/>
        <p:nvPr/>
      </p:nvGrpSpPr>
      <p:grpSpPr>
        <a:xfrm>
          <a:off x="0" y="0"/>
          <a:ext cx="0" cy="0"/>
          <a:chOff x="0" y="0"/>
          <a:chExt cx="0" cy="0"/>
        </a:xfrm>
      </p:grpSpPr>
      <p:sp>
        <p:nvSpPr>
          <p:cNvPr id="36" name="Google Shape;36;p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8" name="Google Shape;3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1" name="Shape 41"/>
        <p:cNvGrpSpPr/>
        <p:nvPr/>
      </p:nvGrpSpPr>
      <p:grpSpPr>
        <a:xfrm>
          <a:off x="0" y="0"/>
          <a:ext cx="0" cy="0"/>
          <a:chOff x="0" y="0"/>
          <a:chExt cx="0" cy="0"/>
        </a:xfrm>
      </p:grpSpPr>
      <p:sp>
        <p:nvSpPr>
          <p:cNvPr id="42" name="Google Shape;42;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7" name="Shape 47"/>
        <p:cNvGrpSpPr/>
        <p:nvPr/>
      </p:nvGrpSpPr>
      <p:grpSpPr>
        <a:xfrm>
          <a:off x="0" y="0"/>
          <a:ext cx="0" cy="0"/>
          <a:chOff x="0" y="0"/>
          <a:chExt cx="0" cy="0"/>
        </a:xfrm>
      </p:grpSpPr>
      <p:sp>
        <p:nvSpPr>
          <p:cNvPr id="48" name="Google Shape;48;p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50" name="Google Shape;50;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3" name="Shape 53"/>
        <p:cNvGrpSpPr/>
        <p:nvPr/>
      </p:nvGrpSpPr>
      <p:grpSpPr>
        <a:xfrm>
          <a:off x="0" y="0"/>
          <a:ext cx="0" cy="0"/>
          <a:chOff x="0" y="0"/>
          <a:chExt cx="0" cy="0"/>
        </a:xfrm>
      </p:grpSpPr>
      <p:sp>
        <p:nvSpPr>
          <p:cNvPr id="54" name="Google Shape;54;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1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1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3" name="Google Shape;63;p1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1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5" name="Google Shape;65;p1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 name="Shape 69"/>
        <p:cNvGrpSpPr/>
        <p:nvPr/>
      </p:nvGrpSpPr>
      <p:grpSpPr>
        <a:xfrm>
          <a:off x="0" y="0"/>
          <a:ext cx="0" cy="0"/>
          <a:chOff x="0" y="0"/>
          <a:chExt cx="0" cy="0"/>
        </a:xfrm>
      </p:grpSpPr>
      <p:sp>
        <p:nvSpPr>
          <p:cNvPr id="70" name="Google Shape;7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4" name="Shape 74"/>
        <p:cNvGrpSpPr/>
        <p:nvPr/>
      </p:nvGrpSpPr>
      <p:grpSpPr>
        <a:xfrm>
          <a:off x="0" y="0"/>
          <a:ext cx="0" cy="0"/>
          <a:chOff x="0" y="0"/>
          <a:chExt cx="0" cy="0"/>
        </a:xfrm>
      </p:grpSpPr>
      <p:sp>
        <p:nvSpPr>
          <p:cNvPr id="75" name="Google Shape;75;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8" name="Shape 78"/>
        <p:cNvGrpSpPr/>
        <p:nvPr/>
      </p:nvGrpSpPr>
      <p:grpSpPr>
        <a:xfrm>
          <a:off x="0" y="0"/>
          <a:ext cx="0" cy="0"/>
          <a:chOff x="0" y="0"/>
          <a:chExt cx="0" cy="0"/>
        </a:xfrm>
      </p:grpSpPr>
      <p:sp>
        <p:nvSpPr>
          <p:cNvPr id="79" name="Google Shape;79;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81" name="Google Shape;81;p1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2" name="Google Shape;8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5"/>
          <p:cNvSpPr/>
          <p:nvPr>
            <p:ph idx="2" type="pic"/>
          </p:nvPr>
        </p:nvSpPr>
        <p:spPr>
          <a:xfrm>
            <a:off x="5183188" y="987425"/>
            <a:ext cx="6172200" cy="4873625"/>
          </a:xfrm>
          <a:prstGeom prst="rect">
            <a:avLst/>
          </a:prstGeom>
          <a:noFill/>
          <a:ln>
            <a:noFill/>
          </a:ln>
        </p:spPr>
      </p:sp>
      <p:sp>
        <p:nvSpPr>
          <p:cNvPr id="88" name="Google Shape;88;p1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2" name="Shape 92"/>
        <p:cNvGrpSpPr/>
        <p:nvPr/>
      </p:nvGrpSpPr>
      <p:grpSpPr>
        <a:xfrm>
          <a:off x="0" y="0"/>
          <a:ext cx="0" cy="0"/>
          <a:chOff x="0" y="0"/>
          <a:chExt cx="0" cy="0"/>
        </a:xfrm>
      </p:grpSpPr>
      <p:sp>
        <p:nvSpPr>
          <p:cNvPr id="93" name="Google Shape;93;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8" name="Shape 98"/>
        <p:cNvGrpSpPr/>
        <p:nvPr/>
      </p:nvGrpSpPr>
      <p:grpSpPr>
        <a:xfrm>
          <a:off x="0" y="0"/>
          <a:ext cx="0" cy="0"/>
          <a:chOff x="0" y="0"/>
          <a:chExt cx="0" cy="0"/>
        </a:xfrm>
      </p:grpSpPr>
      <p:sp>
        <p:nvSpPr>
          <p:cNvPr id="99" name="Google Shape;99;p1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1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jpg"/><Relationship Id="rId4" Type="http://schemas.openxmlformats.org/officeDocument/2006/relationships/image" Target="../media/image71.jpg"/><Relationship Id="rId5"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plashpoint-alb-1364108331.us-east-1.elb.amazonaws.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5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7.pn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4.pn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5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55.png"/><Relationship Id="rId4" Type="http://schemas.openxmlformats.org/officeDocument/2006/relationships/image" Target="../media/image3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7.png"/><Relationship Id="rId4" Type="http://schemas.openxmlformats.org/officeDocument/2006/relationships/image" Target="../media/image5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3.png"/><Relationship Id="rId4" Type="http://schemas.openxmlformats.org/officeDocument/2006/relationships/image" Target="../media/image5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0.png"/><Relationship Id="rId4" Type="http://schemas.openxmlformats.org/officeDocument/2006/relationships/hyperlink" Target="https://calculator.aws/#/estimate?id=23588b3280df473ebb580ed19157a1e86458921e"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3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4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3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3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3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6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3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46.png"/><Relationship Id="rId4" Type="http://schemas.openxmlformats.org/officeDocument/2006/relationships/image" Target="../media/image4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6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45.png"/><Relationship Id="rId4" Type="http://schemas.openxmlformats.org/officeDocument/2006/relationships/image" Target="../media/image5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7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6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5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4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5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63.png"/><Relationship Id="rId4" Type="http://schemas.openxmlformats.org/officeDocument/2006/relationships/image" Target="../media/image65.png"/><Relationship Id="rId5" Type="http://schemas.openxmlformats.org/officeDocument/2006/relationships/image" Target="../media/image5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5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8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101.png"/><Relationship Id="rId4" Type="http://schemas.openxmlformats.org/officeDocument/2006/relationships/image" Target="../media/image7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59.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8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83.png"/><Relationship Id="rId4" Type="http://schemas.openxmlformats.org/officeDocument/2006/relationships/image" Target="../media/image6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73.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90.png"/><Relationship Id="rId4" Type="http://schemas.openxmlformats.org/officeDocument/2006/relationships/image" Target="../media/image6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6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97.png"/><Relationship Id="rId4" Type="http://schemas.openxmlformats.org/officeDocument/2006/relationships/image" Target="../media/image8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69.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56.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57.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10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68.png"/><Relationship Id="rId4" Type="http://schemas.openxmlformats.org/officeDocument/2006/relationships/image" Target="../media/image75.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100.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70.png"/><Relationship Id="rId4" Type="http://schemas.openxmlformats.org/officeDocument/2006/relationships/image" Target="../media/image7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94.png"/><Relationship Id="rId4" Type="http://schemas.openxmlformats.org/officeDocument/2006/relationships/image" Target="../media/image76.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image" Target="../media/image1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image" Target="../media/image29.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 Id="rId3" Type="http://schemas.openxmlformats.org/officeDocument/2006/relationships/image" Target="../media/image86.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image" Target="../media/image59.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96.png"/><Relationship Id="rId4" Type="http://schemas.openxmlformats.org/officeDocument/2006/relationships/image" Target="../media/image9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79.png"/><Relationship Id="rId4" Type="http://schemas.openxmlformats.org/officeDocument/2006/relationships/image" Target="../media/image78.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99.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 Id="rId3" Type="http://schemas.openxmlformats.org/officeDocument/2006/relationships/image" Target="../media/image95.png"/><Relationship Id="rId4" Type="http://schemas.openxmlformats.org/officeDocument/2006/relationships/image" Target="../media/image8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image" Target="../media/image103.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 Id="rId3" Type="http://schemas.openxmlformats.org/officeDocument/2006/relationships/image" Target="../media/image105.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9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 Id="rId3" Type="http://schemas.openxmlformats.org/officeDocument/2006/relationships/image" Target="../media/image82.png"/><Relationship Id="rId4" Type="http://schemas.openxmlformats.org/officeDocument/2006/relationships/image" Target="../media/image88.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89.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 Id="rId3" Type="http://schemas.openxmlformats.org/officeDocument/2006/relationships/image" Target="../media/image106.png"/><Relationship Id="rId4" Type="http://schemas.openxmlformats.org/officeDocument/2006/relationships/image" Target="../media/image109.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 Id="rId3" Type="http://schemas.openxmlformats.org/officeDocument/2006/relationships/image" Target="../media/image10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 Id="rId3" Type="http://schemas.openxmlformats.org/officeDocument/2006/relationships/image" Target="../media/image98.png"/><Relationship Id="rId4" Type="http://schemas.openxmlformats.org/officeDocument/2006/relationships/image" Target="../media/image110.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 Id="rId3" Type="http://schemas.openxmlformats.org/officeDocument/2006/relationships/image" Target="../media/image11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 Id="rId3" Type="http://schemas.openxmlformats.org/officeDocument/2006/relationships/image" Target="../media/image93.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 Id="rId3" Type="http://schemas.openxmlformats.org/officeDocument/2006/relationships/image" Target="../media/image112.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 Id="rId3" Type="http://schemas.openxmlformats.org/officeDocument/2006/relationships/image" Target="../media/image104.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 Id="rId3" Type="http://schemas.openxmlformats.org/officeDocument/2006/relationships/image" Target="../media/image113.png"/><Relationship Id="rId4" Type="http://schemas.openxmlformats.org/officeDocument/2006/relationships/image" Target="../media/image114.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 Id="rId3" Type="http://schemas.openxmlformats.org/officeDocument/2006/relationships/image" Target="../media/image107.png"/><Relationship Id="rId4" Type="http://schemas.openxmlformats.org/officeDocument/2006/relationships/image" Target="../media/image108.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1" Type="http://schemas.openxmlformats.org/officeDocument/2006/relationships/hyperlink" Target="https://docs.aws.amazon.com/systems-manager/latest/userguide/systems-manager-parameter-store.html" TargetMode="External"/><Relationship Id="rId10" Type="http://schemas.openxmlformats.org/officeDocument/2006/relationships/hyperlink" Target="https://docs.aws.amazon.com/autoscaling/" TargetMode="External"/><Relationship Id="rId13" Type="http://schemas.openxmlformats.org/officeDocument/2006/relationships/hyperlink" Target="https://docs.aws.amazon.com/waf/" TargetMode="External"/><Relationship Id="rId12" Type="http://schemas.openxmlformats.org/officeDocument/2006/relationships/hyperlink" Target="https://docs.aws.amazon.com/systems-manager/latest/userguide/systems-manager-parameter-store.html" TargetMode="External"/><Relationship Id="rId1" Type="http://schemas.openxmlformats.org/officeDocument/2006/relationships/slideLayout" Target="../slideLayouts/slideLayout3.xml"/><Relationship Id="rId2" Type="http://schemas.openxmlformats.org/officeDocument/2006/relationships/notesSlide" Target="../notesSlides/notesSlide141.xml"/><Relationship Id="rId3" Type="http://schemas.openxmlformats.org/officeDocument/2006/relationships/hyperlink" Target="https://docs.aws.amazon.com/ec2/" TargetMode="External"/><Relationship Id="rId4" Type="http://schemas.openxmlformats.org/officeDocument/2006/relationships/hyperlink" Target="https://docs.aws.amazon.com/ec2/" TargetMode="External"/><Relationship Id="rId9" Type="http://schemas.openxmlformats.org/officeDocument/2006/relationships/hyperlink" Target="https://docs.aws.amazon.com/autoscaling/" TargetMode="External"/><Relationship Id="rId14" Type="http://schemas.openxmlformats.org/officeDocument/2006/relationships/hyperlink" Target="https://docs.aws.amazon.com/waf/" TargetMode="External"/><Relationship Id="rId5" Type="http://schemas.openxmlformats.org/officeDocument/2006/relationships/hyperlink" Target="https://www.google.com/search?q=https://docs.aws.amazon.com/alb/" TargetMode="External"/><Relationship Id="rId6" Type="http://schemas.openxmlformats.org/officeDocument/2006/relationships/hyperlink" Target="https://www.google.com/search?q=https://docs.aws.amazon.com/alb/" TargetMode="External"/><Relationship Id="rId7" Type="http://schemas.openxmlformats.org/officeDocument/2006/relationships/hyperlink" Target="https://docs.aws.amazon.com/rds/" TargetMode="External"/><Relationship Id="rId8" Type="http://schemas.openxmlformats.org/officeDocument/2006/relationships/hyperlink" Target="https://docs.aws.amazon.com/rds/" TargetMode="Externa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0" Type="http://schemas.openxmlformats.org/officeDocument/2006/relationships/hyperlink" Target="https://calculator.aws/" TargetMode="External"/><Relationship Id="rId1" Type="http://schemas.openxmlformats.org/officeDocument/2006/relationships/slideLayout" Target="../slideLayouts/slideLayout3.xml"/><Relationship Id="rId2" Type="http://schemas.openxmlformats.org/officeDocument/2006/relationships/notesSlide" Target="../notesSlides/notesSlide143.xml"/><Relationship Id="rId3" Type="http://schemas.openxmlformats.org/officeDocument/2006/relationships/hyperlink" Target="https://httpd.apache.org/docs/2.4/programs/ab.html" TargetMode="External"/><Relationship Id="rId4" Type="http://schemas.openxmlformats.org/officeDocument/2006/relationships/hyperlink" Target="https://httpd.apache.org/docs/2.4/programs/ab.html" TargetMode="External"/><Relationship Id="rId9" Type="http://schemas.openxmlformats.org/officeDocument/2006/relationships/hyperlink" Target="https://calculator.aws/" TargetMode="External"/><Relationship Id="rId5" Type="http://schemas.openxmlformats.org/officeDocument/2006/relationships/hyperlink" Target="https://www.php.net/docs.php" TargetMode="External"/><Relationship Id="rId6" Type="http://schemas.openxmlformats.org/officeDocument/2006/relationships/hyperlink" Target="https://www.php.net/docs.php" TargetMode="External"/><Relationship Id="rId7" Type="http://schemas.openxmlformats.org/officeDocument/2006/relationships/hyperlink" Target="https://dev.mysql.com/doc/refman/8.0/en/" TargetMode="External"/><Relationship Id="rId8" Type="http://schemas.openxmlformats.org/officeDocument/2006/relationships/hyperlink" Target="https://dev.mysql.com/doc/refman/8.0/en/" TargetMode="Externa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18"/>
          <p:cNvPicPr preferRelativeResize="0"/>
          <p:nvPr/>
        </p:nvPicPr>
        <p:blipFill rotWithShape="1">
          <a:blip r:embed="rId3">
            <a:alphaModFix/>
          </a:blip>
          <a:srcRect b="0" l="0" r="0" t="0"/>
          <a:stretch/>
        </p:blipFill>
        <p:spPr>
          <a:xfrm>
            <a:off x="4705052" y="392465"/>
            <a:ext cx="2781894" cy="809519"/>
          </a:xfrm>
          <a:prstGeom prst="rect">
            <a:avLst/>
          </a:prstGeom>
          <a:noFill/>
          <a:ln>
            <a:noFill/>
          </a:ln>
        </p:spPr>
      </p:pic>
      <p:sp>
        <p:nvSpPr>
          <p:cNvPr id="109" name="Google Shape;109;p18"/>
          <p:cNvSpPr/>
          <p:nvPr/>
        </p:nvSpPr>
        <p:spPr>
          <a:xfrm>
            <a:off x="3829857" y="1273400"/>
            <a:ext cx="4532287" cy="301406"/>
          </a:xfrm>
          <a:prstGeom prst="rect">
            <a:avLst/>
          </a:prstGeom>
          <a:noFill/>
          <a:ln>
            <a:noFill/>
          </a:ln>
        </p:spPr>
        <p:txBody>
          <a:bodyPr anchorCtr="0" anchor="t" bIns="0" lIns="0" spcFirstLastPara="1" rIns="0" wrap="square" tIns="0">
            <a:noAutofit/>
          </a:bodyPr>
          <a:lstStyle/>
          <a:p>
            <a:pPr indent="0" lvl="0" marL="0" marR="0" rtl="0" algn="ctr">
              <a:lnSpc>
                <a:spcPct val="82687"/>
              </a:lnSpc>
              <a:spcBef>
                <a:spcPts val="0"/>
              </a:spcBef>
              <a:spcAft>
                <a:spcPts val="0"/>
              </a:spcAft>
              <a:buNone/>
            </a:pPr>
            <a:r>
              <a:t/>
            </a:r>
            <a:endParaRPr b="1" i="0" sz="1600" u="none" cap="none" strike="noStrike">
              <a:solidFill>
                <a:schemeClr val="dk1"/>
              </a:solidFill>
              <a:latin typeface="Trebuchet MS"/>
              <a:ea typeface="Trebuchet MS"/>
              <a:cs typeface="Trebuchet MS"/>
              <a:sym typeface="Trebuchet MS"/>
            </a:endParaRPr>
          </a:p>
        </p:txBody>
      </p:sp>
      <p:sp>
        <p:nvSpPr>
          <p:cNvPr id="110" name="Google Shape;110;p18"/>
          <p:cNvSpPr/>
          <p:nvPr/>
        </p:nvSpPr>
        <p:spPr>
          <a:xfrm>
            <a:off x="3829857" y="1574806"/>
            <a:ext cx="4532360" cy="1967140"/>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600" u="none" cap="none" strike="noStrike">
                <a:solidFill>
                  <a:schemeClr val="dk1"/>
                </a:solidFill>
                <a:latin typeface="Times New Roman"/>
                <a:ea typeface="Times New Roman"/>
                <a:cs typeface="Times New Roman"/>
                <a:sym typeface="Times New Roman"/>
              </a:rPr>
              <a:t>Faculty of Computing and Information Technology</a:t>
            </a:r>
            <a:endParaRPr/>
          </a:p>
          <a:p>
            <a:pPr indent="0" lvl="0" marL="0" marR="0" rtl="0" algn="ctr">
              <a:spcBef>
                <a:spcPts val="1211"/>
              </a:spcBef>
              <a:spcAft>
                <a:spcPts val="0"/>
              </a:spcAft>
              <a:buNone/>
            </a:pPr>
            <a:r>
              <a:rPr b="0" i="0" lang="en-US" sz="1600" u="none" cap="none" strike="noStrike">
                <a:solidFill>
                  <a:schemeClr val="dk1"/>
                </a:solidFill>
                <a:latin typeface="Times New Roman"/>
                <a:ea typeface="Times New Roman"/>
                <a:cs typeface="Times New Roman"/>
                <a:sym typeface="Times New Roman"/>
              </a:rPr>
              <a:t>AWS Cloud Challenge: Deploying a Scalable and Secure Booking &amp; Ticketing Platform</a:t>
            </a:r>
            <a:endParaRPr/>
          </a:p>
          <a:p>
            <a:pPr indent="0" lvl="0" marL="0" marR="0" rtl="0" algn="ctr">
              <a:spcBef>
                <a:spcPts val="273"/>
              </a:spcBef>
              <a:spcAft>
                <a:spcPts val="0"/>
              </a:spcAft>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ctr">
              <a:spcBef>
                <a:spcPts val="273"/>
              </a:spcBef>
              <a:spcAft>
                <a:spcPts val="0"/>
              </a:spcAft>
              <a:buNone/>
            </a:pPr>
            <a:r>
              <a:rPr b="0" i="0" lang="en-US" sz="1600" u="none" cap="none" strike="noStrike">
                <a:solidFill>
                  <a:schemeClr val="dk1"/>
                </a:solidFill>
                <a:latin typeface="Times New Roman"/>
                <a:ea typeface="Times New Roman"/>
                <a:cs typeface="Times New Roman"/>
                <a:sym typeface="Times New Roman"/>
              </a:rPr>
              <a:t>DFT2 (GROUP </a:t>
            </a:r>
            <a:r>
              <a:rPr lang="en-US" sz="1600">
                <a:solidFill>
                  <a:schemeClr val="dk1"/>
                </a:solidFill>
                <a:latin typeface="Times New Roman"/>
                <a:ea typeface="Times New Roman"/>
                <a:cs typeface="Times New Roman"/>
                <a:sym typeface="Times New Roman"/>
              </a:rPr>
              <a:t>12</a:t>
            </a: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ctr">
              <a:spcBef>
                <a:spcPts val="273"/>
              </a:spcBef>
              <a:spcAft>
                <a:spcPts val="0"/>
              </a:spcAft>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ctr">
              <a:spcBef>
                <a:spcPts val="273"/>
              </a:spcBef>
              <a:spcAft>
                <a:spcPts val="0"/>
              </a:spcAft>
              <a:buNone/>
            </a:pPr>
            <a:r>
              <a:rPr b="1" i="0" lang="en-US" sz="1600" u="none" cap="none" strike="noStrike">
                <a:solidFill>
                  <a:schemeClr val="dk1"/>
                </a:solidFill>
                <a:latin typeface="Times New Roman"/>
                <a:ea typeface="Times New Roman"/>
                <a:cs typeface="Times New Roman"/>
                <a:sym typeface="Times New Roman"/>
              </a:rPr>
              <a:t>Assignment</a:t>
            </a:r>
            <a:endParaRPr/>
          </a:p>
        </p:txBody>
      </p:sp>
      <p:sp>
        <p:nvSpPr>
          <p:cNvPr id="111" name="Google Shape;111;p18"/>
          <p:cNvSpPr/>
          <p:nvPr/>
        </p:nvSpPr>
        <p:spPr>
          <a:xfrm>
            <a:off x="4652102" y="3853125"/>
            <a:ext cx="2887793" cy="129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600" u="none" cap="none" strike="noStrike">
                <a:solidFill>
                  <a:schemeClr val="dk1"/>
                </a:solidFill>
                <a:latin typeface="Times New Roman"/>
                <a:ea typeface="Times New Roman"/>
                <a:cs typeface="Times New Roman"/>
                <a:sym typeface="Times New Roman"/>
              </a:rPr>
              <a:t>AMIT3253 Cloud Computing for Business (202605)</a:t>
            </a:r>
            <a:endParaRPr/>
          </a:p>
        </p:txBody>
      </p:sp>
      <p:sp>
        <p:nvSpPr>
          <p:cNvPr id="112" name="Google Shape;112;p18"/>
          <p:cNvSpPr/>
          <p:nvPr/>
        </p:nvSpPr>
        <p:spPr>
          <a:xfrm>
            <a:off x="4037054" y="4321330"/>
            <a:ext cx="4117888" cy="647573"/>
          </a:xfrm>
          <a:prstGeom prst="rect">
            <a:avLst/>
          </a:prstGeom>
          <a:noFill/>
          <a:ln>
            <a:noFill/>
          </a:ln>
        </p:spPr>
        <p:txBody>
          <a:bodyPr anchorCtr="0" anchor="t" bIns="0" lIns="0" spcFirstLastPara="1" rIns="0" wrap="square" tIns="0">
            <a:noAutofit/>
          </a:bodyPr>
          <a:lstStyle/>
          <a:p>
            <a:pPr indent="0" lvl="0" marL="0" marR="0" rtl="0" algn="ctr">
              <a:lnSpc>
                <a:spcPct val="78687"/>
              </a:lnSpc>
              <a:spcBef>
                <a:spcPts val="0"/>
              </a:spcBef>
              <a:spcAft>
                <a:spcPts val="0"/>
              </a:spcAft>
              <a:buNone/>
            </a:pPr>
            <a:r>
              <a:rPr b="0" i="0" lang="en-US" sz="1600" u="none" cap="none" strike="noStrike">
                <a:solidFill>
                  <a:schemeClr val="dk1"/>
                </a:solidFill>
                <a:latin typeface="Times New Roman"/>
                <a:ea typeface="Times New Roman"/>
                <a:cs typeface="Times New Roman"/>
                <a:sym typeface="Times New Roman"/>
              </a:rPr>
              <a:t>Tutor: YAP XIANG LOO WINNIE</a:t>
            </a:r>
            <a:endParaRPr/>
          </a:p>
          <a:p>
            <a:pPr indent="0" lvl="0" marL="0" marR="0" rtl="0" algn="ctr">
              <a:lnSpc>
                <a:spcPct val="78687"/>
              </a:lnSpc>
              <a:spcBef>
                <a:spcPts val="0"/>
              </a:spcBef>
              <a:spcAft>
                <a:spcPts val="0"/>
              </a:spcAft>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ctr">
              <a:lnSpc>
                <a:spcPct val="78687"/>
              </a:lnSpc>
              <a:spcBef>
                <a:spcPts val="0"/>
              </a:spcBef>
              <a:spcAft>
                <a:spcPts val="0"/>
              </a:spcAft>
              <a:buNone/>
            </a:pPr>
            <a:r>
              <a:rPr b="0" i="0" lang="en-US" sz="1600" u="none" cap="none" strike="noStrike">
                <a:solidFill>
                  <a:schemeClr val="dk1"/>
                </a:solidFill>
                <a:latin typeface="Times New Roman"/>
                <a:ea typeface="Times New Roman"/>
                <a:cs typeface="Times New Roman"/>
                <a:sym typeface="Times New Roman"/>
              </a:rPr>
              <a:t>Date of Submission: </a:t>
            </a:r>
            <a:r>
              <a:rPr lang="en-US" sz="1600">
                <a:solidFill>
                  <a:schemeClr val="dk1"/>
                </a:solidFill>
                <a:latin typeface="Times New Roman"/>
                <a:ea typeface="Times New Roman"/>
                <a:cs typeface="Times New Roman"/>
                <a:sym typeface="Times New Roman"/>
              </a:rPr>
              <a:t>7/9/2026</a:t>
            </a:r>
            <a:r>
              <a:rPr b="0" i="0" lang="en-US" sz="1600" u="none" cap="none" strike="noStrike">
                <a:solidFill>
                  <a:schemeClr val="dk1"/>
                </a:solidFill>
                <a:latin typeface="Times New Roman"/>
                <a:ea typeface="Times New Roman"/>
                <a:cs typeface="Times New Roman"/>
                <a:sym typeface="Times New Roman"/>
              </a:rPr>
              <a:t> </a:t>
            </a:r>
            <a:endParaRPr/>
          </a:p>
        </p:txBody>
      </p:sp>
      <p:graphicFrame>
        <p:nvGraphicFramePr>
          <p:cNvPr id="113" name="Google Shape;113;p18"/>
          <p:cNvGraphicFramePr/>
          <p:nvPr/>
        </p:nvGraphicFramePr>
        <p:xfrm>
          <a:off x="3421496" y="5164078"/>
          <a:ext cx="3000000" cy="3000000"/>
        </p:xfrm>
        <a:graphic>
          <a:graphicData uri="http://schemas.openxmlformats.org/drawingml/2006/table">
            <a:tbl>
              <a:tblPr>
                <a:noFill/>
                <a:tableStyleId>{307B5169-7584-414E-A548-C0B6C2D1D264}</a:tableStyleId>
              </a:tblPr>
              <a:tblGrid>
                <a:gridCol w="2673125"/>
                <a:gridCol w="2675900"/>
              </a:tblGrid>
              <a:tr h="298525">
                <a:tc>
                  <a:txBody>
                    <a:bodyPr/>
                    <a:lstStyle/>
                    <a:p>
                      <a:pPr indent="0" lvl="0" marL="0" marR="0" rtl="0" algn="ctr">
                        <a:spcBef>
                          <a:spcPts val="0"/>
                        </a:spcBef>
                        <a:spcAft>
                          <a:spcPts val="0"/>
                        </a:spcAft>
                        <a:buNone/>
                      </a:pPr>
                      <a:r>
                        <a:rPr b="1" lang="en-US" sz="1000" u="none" cap="none" strike="noStrike">
                          <a:latin typeface="Times New Roman"/>
                          <a:ea typeface="Times New Roman"/>
                          <a:cs typeface="Times New Roman"/>
                          <a:sym typeface="Times New Roman"/>
                        </a:rPr>
                        <a:t>Name (Block Capital)</a:t>
                      </a:r>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en-US" sz="1000" u="none" cap="none" strike="noStrike">
                          <a:latin typeface="Times New Roman"/>
                          <a:ea typeface="Times New Roman"/>
                          <a:cs typeface="Times New Roman"/>
                          <a:sym typeface="Times New Roman"/>
                        </a:rPr>
                        <a:t>Student ID</a:t>
                      </a:r>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r>
              <a:tr h="332325">
                <a:tc>
                  <a:txBody>
                    <a:bodyPr/>
                    <a:lstStyle/>
                    <a:p>
                      <a:pPr indent="0" lvl="0" marL="0" marR="0" rtl="0" algn="ctr">
                        <a:spcBef>
                          <a:spcPts val="0"/>
                        </a:spcBef>
                        <a:spcAft>
                          <a:spcPts val="0"/>
                        </a:spcAft>
                        <a:buNone/>
                      </a:pPr>
                      <a:r>
                        <a:rPr lang="en-US" sz="1100"/>
                        <a:t>CHENG JUN YU</a:t>
                      </a:r>
                      <a:endParaRPr sz="1100"/>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100"/>
                        <a:t>25WMD07989</a:t>
                      </a:r>
                      <a:endParaRPr sz="1100"/>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5125">
                <a:tc>
                  <a:txBody>
                    <a:bodyPr/>
                    <a:lstStyle/>
                    <a:p>
                      <a:pPr indent="0" lvl="0" marL="0" marR="0" rtl="0" algn="ctr">
                        <a:spcBef>
                          <a:spcPts val="0"/>
                        </a:spcBef>
                        <a:spcAft>
                          <a:spcPts val="0"/>
                        </a:spcAft>
                        <a:buNone/>
                      </a:pPr>
                      <a:r>
                        <a:rPr lang="en-US" sz="1200"/>
                        <a:t>KHOO SEE ZE</a:t>
                      </a:r>
                      <a:endParaRPr sz="1200"/>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200"/>
                        <a:t>25WMD08818</a:t>
                      </a:r>
                      <a:endParaRPr sz="1200"/>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6675">
                <a:tc>
                  <a:txBody>
                    <a:bodyPr/>
                    <a:lstStyle/>
                    <a:p>
                      <a:pPr indent="0" lvl="0" marL="0" marR="0" rtl="0" algn="ctr">
                        <a:spcBef>
                          <a:spcPts val="0"/>
                        </a:spcBef>
                        <a:spcAft>
                          <a:spcPts val="0"/>
                        </a:spcAft>
                        <a:buNone/>
                      </a:pPr>
                      <a:r>
                        <a:rPr lang="en-US" sz="1100"/>
                        <a:t>LOW KAR WAI</a:t>
                      </a:r>
                      <a:endParaRPr sz="1100"/>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100"/>
                        <a:t>25WMD07972</a:t>
                      </a:r>
                      <a:endParaRPr sz="1100"/>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graphicFrame>
        <p:nvGraphicFramePr>
          <p:cNvPr id="118" name="Google Shape;118;p19"/>
          <p:cNvGraphicFramePr/>
          <p:nvPr/>
        </p:nvGraphicFramePr>
        <p:xfrm>
          <a:off x="532532" y="3125076"/>
          <a:ext cx="3000000" cy="3000000"/>
        </p:xfrm>
        <a:graphic>
          <a:graphicData uri="http://schemas.openxmlformats.org/drawingml/2006/table">
            <a:tbl>
              <a:tblPr>
                <a:noFill/>
                <a:tableStyleId>{307B5169-7584-414E-A548-C0B6C2D1D264}</a:tableStyleId>
              </a:tblPr>
              <a:tblGrid>
                <a:gridCol w="2221825"/>
                <a:gridCol w="5899000"/>
                <a:gridCol w="3006125"/>
              </a:tblGrid>
              <a:tr h="414575">
                <a:tc>
                  <a:txBody>
                    <a:bodyPr/>
                    <a:lstStyle/>
                    <a:p>
                      <a:pPr indent="0" lvl="0" marL="0" marR="0" rtl="0" algn="ctr">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Student Name and ID</a:t>
                      </a:r>
                      <a:endParaRPr sz="2000"/>
                    </a:p>
                  </a:txBody>
                  <a:tcPr marT="45725" marB="45725" marR="91450" marL="91450" anchor="ctr">
                    <a:lnB cap="flat" cmpd="sng" w="9525">
                      <a:solidFill>
                        <a:srgbClr val="000000"/>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Role(s)/Task(s) Assigned</a:t>
                      </a:r>
                      <a:endParaRPr sz="2000"/>
                    </a:p>
                  </a:txBody>
                  <a:tcPr marT="45725" marB="45725" marR="91450" marL="91450" anchor="ctr">
                    <a:lnB cap="flat" cmpd="sng" w="9525">
                      <a:solidFill>
                        <a:srgbClr val="000000"/>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Signature and Date</a:t>
                      </a:r>
                      <a:endParaRPr sz="2000"/>
                    </a:p>
                  </a:txBody>
                  <a:tcPr marT="45725" marB="45725" marR="91450" marL="91450" anchor="ctr">
                    <a:lnB cap="flat" cmpd="sng" w="9525">
                      <a:solidFill>
                        <a:srgbClr val="000000"/>
                      </a:solidFill>
                      <a:prstDash val="solid"/>
                      <a:round/>
                      <a:headEnd len="sm" w="sm" type="none"/>
                      <a:tailEnd len="sm" w="sm" type="none"/>
                    </a:lnB>
                    <a:solidFill>
                      <a:schemeClr val="lt2"/>
                    </a:solidFill>
                  </a:tcPr>
                </a:tc>
              </a:tr>
              <a:tr h="1018300">
                <a:tc>
                  <a:txBody>
                    <a:bodyPr/>
                    <a:lstStyle/>
                    <a:p>
                      <a:pPr indent="0" lvl="0" marL="0" marR="0" rtl="0" algn="l">
                        <a:spcBef>
                          <a:spcPts val="0"/>
                        </a:spcBef>
                        <a:spcAft>
                          <a:spcPts val="0"/>
                        </a:spcAft>
                        <a:buNone/>
                      </a:pPr>
                      <a:r>
                        <a:rPr lang="en-US" sz="1300">
                          <a:latin typeface="Times New Roman"/>
                          <a:ea typeface="Times New Roman"/>
                          <a:cs typeface="Times New Roman"/>
                          <a:sym typeface="Times New Roman"/>
                        </a:rPr>
                        <a:t>Cheng Jun Yu</a:t>
                      </a:r>
                      <a:endParaRPr sz="1300">
                        <a:latin typeface="Times New Roman"/>
                        <a:ea typeface="Times New Roman"/>
                        <a:cs typeface="Times New Roman"/>
                        <a:sym typeface="Times New Roman"/>
                      </a:endParaRPr>
                    </a:p>
                    <a:p>
                      <a:pPr indent="0" lvl="0" marL="0" marR="0" rtl="0" algn="l">
                        <a:spcBef>
                          <a:spcPts val="0"/>
                        </a:spcBef>
                        <a:spcAft>
                          <a:spcPts val="0"/>
                        </a:spcAft>
                        <a:buNone/>
                      </a:pPr>
                      <a:r>
                        <a:rPr lang="en-US" sz="1300">
                          <a:latin typeface="Times New Roman"/>
                          <a:ea typeface="Times New Roman"/>
                          <a:cs typeface="Times New Roman"/>
                          <a:sym typeface="Times New Roman"/>
                        </a:rPr>
                        <a:t>2507989</a:t>
                      </a:r>
                      <a:endParaRPr sz="1300">
                        <a:latin typeface="Times New Roman"/>
                        <a:ea typeface="Times New Roman"/>
                        <a:cs typeface="Times New Roman"/>
                        <a:sym typeface="Times New Roman"/>
                      </a:endParaRPr>
                    </a:p>
                  </a:txBody>
                  <a:tcPr marT="29325" marB="29325" marR="58650" marL="586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1300">
                          <a:latin typeface="Times New Roman"/>
                          <a:ea typeface="Times New Roman"/>
                          <a:cs typeface="Times New Roman"/>
                          <a:sym typeface="Times New Roman"/>
                        </a:rPr>
                        <a:t>AWS Service: VPC、Subnets(public/private)、Internet Gateway、Route Tables、Security Groups、NAT Gateway、RDS, EC2 、AMI、Launch Template、Auto Scaling Group、Target Group、Application Load Balancer, S3, SSM Parameter Store</a:t>
                      </a:r>
                      <a:br>
                        <a:rPr lang="en-US" sz="1300">
                          <a:latin typeface="Times New Roman"/>
                          <a:ea typeface="Times New Roman"/>
                          <a:cs typeface="Times New Roman"/>
                          <a:sym typeface="Times New Roman"/>
                        </a:rPr>
                      </a:br>
                      <a:r>
                        <a:rPr lang="en-US" sz="1300">
                          <a:latin typeface="Times New Roman"/>
                          <a:ea typeface="Times New Roman"/>
                          <a:cs typeface="Times New Roman"/>
                          <a:sym typeface="Times New Roman"/>
                        </a:rPr>
                        <a:t>Report part: Secure, High Performing</a:t>
                      </a:r>
                      <a:endParaRPr sz="1300">
                        <a:latin typeface="Times New Roman"/>
                        <a:ea typeface="Times New Roman"/>
                        <a:cs typeface="Times New Roman"/>
                        <a:sym typeface="Times New Roman"/>
                      </a:endParaRPr>
                    </a:p>
                  </a:txBody>
                  <a:tcPr marT="29325" marB="29325" marR="58650" marL="586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spcBef>
                          <a:spcPts val="0"/>
                        </a:spcBef>
                        <a:spcAft>
                          <a:spcPts val="0"/>
                        </a:spcAft>
                        <a:buNone/>
                      </a:pPr>
                      <a:r>
                        <a:rPr lang="en-US" sz="1300">
                          <a:latin typeface="Times New Roman"/>
                          <a:ea typeface="Times New Roman"/>
                          <a:cs typeface="Times New Roman"/>
                          <a:sym typeface="Times New Roman"/>
                        </a:rPr>
                        <a:t>7/9/2026</a:t>
                      </a:r>
                      <a:endParaRPr sz="1300">
                        <a:latin typeface="Times New Roman"/>
                        <a:ea typeface="Times New Roman"/>
                        <a:cs typeface="Times New Roman"/>
                        <a:sym typeface="Times New Roman"/>
                      </a:endParaRPr>
                    </a:p>
                  </a:txBody>
                  <a:tcPr marT="29325" marB="29325" marR="58650" marL="58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18300">
                <a:tc>
                  <a:txBody>
                    <a:bodyPr/>
                    <a:lstStyle/>
                    <a:p>
                      <a:pPr indent="0" lvl="0" marL="0" marR="0" rtl="0" algn="l">
                        <a:spcBef>
                          <a:spcPts val="0"/>
                        </a:spcBef>
                        <a:spcAft>
                          <a:spcPts val="0"/>
                        </a:spcAft>
                        <a:buNone/>
                      </a:pPr>
                      <a:r>
                        <a:rPr lang="en-US" sz="1300">
                          <a:latin typeface="Times New Roman"/>
                          <a:ea typeface="Times New Roman"/>
                          <a:cs typeface="Times New Roman"/>
                          <a:sym typeface="Times New Roman"/>
                        </a:rPr>
                        <a:t>Khoo See Ze</a:t>
                      </a:r>
                      <a:endParaRPr sz="1300">
                        <a:latin typeface="Times New Roman"/>
                        <a:ea typeface="Times New Roman"/>
                        <a:cs typeface="Times New Roman"/>
                        <a:sym typeface="Times New Roman"/>
                      </a:endParaRPr>
                    </a:p>
                    <a:p>
                      <a:pPr indent="0" lvl="0" marL="0" marR="0" rtl="0" algn="l">
                        <a:spcBef>
                          <a:spcPts val="0"/>
                        </a:spcBef>
                        <a:spcAft>
                          <a:spcPts val="0"/>
                        </a:spcAft>
                        <a:buNone/>
                      </a:pPr>
                      <a:r>
                        <a:rPr lang="en-US" sz="1300">
                          <a:latin typeface="Times New Roman"/>
                          <a:ea typeface="Times New Roman"/>
                          <a:cs typeface="Times New Roman"/>
                          <a:sym typeface="Times New Roman"/>
                        </a:rPr>
                        <a:t>2508818</a:t>
                      </a:r>
                      <a:endParaRPr sz="1300">
                        <a:latin typeface="Times New Roman"/>
                        <a:ea typeface="Times New Roman"/>
                        <a:cs typeface="Times New Roman"/>
                        <a:sym typeface="Times New Roman"/>
                      </a:endParaRPr>
                    </a:p>
                  </a:txBody>
                  <a:tcPr marT="29325" marB="29325" marR="58650" marL="586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1300">
                          <a:solidFill>
                            <a:schemeClr val="dk1"/>
                          </a:solidFill>
                          <a:latin typeface="Times New Roman"/>
                          <a:ea typeface="Times New Roman"/>
                          <a:cs typeface="Times New Roman"/>
                          <a:sym typeface="Times New Roman"/>
                        </a:rPr>
                        <a:t>AWS Service: </a:t>
                      </a:r>
                      <a:r>
                        <a:rPr lang="en-US" sz="1300">
                          <a:latin typeface="Times New Roman"/>
                          <a:ea typeface="Times New Roman"/>
                          <a:cs typeface="Times New Roman"/>
                          <a:sym typeface="Times New Roman"/>
                        </a:rPr>
                        <a:t>SNS + Lambda </a:t>
                      </a:r>
                      <a:endParaRPr sz="1300">
                        <a:latin typeface="Times New Roman"/>
                        <a:ea typeface="Times New Roman"/>
                        <a:cs typeface="Times New Roman"/>
                        <a:sym typeface="Times New Roman"/>
                      </a:endParaRPr>
                    </a:p>
                    <a:p>
                      <a:pPr indent="0" lvl="0" marL="0" marR="0" rtl="0" algn="l">
                        <a:spcBef>
                          <a:spcPts val="0"/>
                        </a:spcBef>
                        <a:spcAft>
                          <a:spcPts val="0"/>
                        </a:spcAft>
                        <a:buNone/>
                      </a:pPr>
                      <a:r>
                        <a:rPr lang="en-US" sz="1300">
                          <a:latin typeface="Times New Roman"/>
                          <a:ea typeface="Times New Roman"/>
                          <a:cs typeface="Times New Roman"/>
                          <a:sym typeface="Times New Roman"/>
                        </a:rPr>
                        <a:t>Report part: Functional, AWS Architecture Design,  Load Balanced</a:t>
                      </a:r>
                      <a:endParaRPr sz="13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300">
                        <a:latin typeface="Times New Roman"/>
                        <a:ea typeface="Times New Roman"/>
                        <a:cs typeface="Times New Roman"/>
                        <a:sym typeface="Times New Roman"/>
                      </a:endParaRPr>
                    </a:p>
                    <a:p>
                      <a:pPr indent="0" lvl="0" marL="0" marR="0" rtl="0" algn="l">
                        <a:spcBef>
                          <a:spcPts val="0"/>
                        </a:spcBef>
                        <a:spcAft>
                          <a:spcPts val="0"/>
                        </a:spcAft>
                        <a:buNone/>
                      </a:pPr>
                      <a:r>
                        <a:t/>
                      </a:r>
                      <a:endParaRPr sz="1300">
                        <a:latin typeface="Times New Roman"/>
                        <a:ea typeface="Times New Roman"/>
                        <a:cs typeface="Times New Roman"/>
                        <a:sym typeface="Times New Roman"/>
                      </a:endParaRPr>
                    </a:p>
                  </a:txBody>
                  <a:tcPr marT="29325" marB="29325" marR="58650" marL="586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300"/>
                        <a:buFont typeface="Arial"/>
                        <a:buNone/>
                      </a:pPr>
                      <a:r>
                        <a:rPr lang="en-US" sz="1300">
                          <a:latin typeface="Times New Roman"/>
                          <a:ea typeface="Times New Roman"/>
                          <a:cs typeface="Times New Roman"/>
                          <a:sym typeface="Times New Roman"/>
                        </a:rPr>
                        <a:t>7/9/2026</a:t>
                      </a:r>
                      <a:endParaRPr b="0" i="0" sz="1300" u="none" cap="none" strike="noStrike">
                        <a:solidFill>
                          <a:srgbClr val="000000"/>
                        </a:solidFill>
                        <a:latin typeface="Times New Roman"/>
                        <a:ea typeface="Times New Roman"/>
                        <a:cs typeface="Times New Roman"/>
                        <a:sym typeface="Times New Roman"/>
                      </a:endParaRPr>
                    </a:p>
                  </a:txBody>
                  <a:tcPr marT="29325" marB="29325" marR="58650" marL="58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18300">
                <a:tc>
                  <a:txBody>
                    <a:bodyPr/>
                    <a:lstStyle/>
                    <a:p>
                      <a:pPr indent="0" lvl="0" marL="0" marR="0" rtl="0" algn="l">
                        <a:spcBef>
                          <a:spcPts val="0"/>
                        </a:spcBef>
                        <a:spcAft>
                          <a:spcPts val="0"/>
                        </a:spcAft>
                        <a:buNone/>
                      </a:pPr>
                      <a:r>
                        <a:rPr lang="en-US" sz="1300">
                          <a:latin typeface="Times New Roman"/>
                          <a:ea typeface="Times New Roman"/>
                          <a:cs typeface="Times New Roman"/>
                          <a:sym typeface="Times New Roman"/>
                        </a:rPr>
                        <a:t>Low Kar Wai</a:t>
                      </a:r>
                      <a:endParaRPr sz="1300">
                        <a:latin typeface="Times New Roman"/>
                        <a:ea typeface="Times New Roman"/>
                        <a:cs typeface="Times New Roman"/>
                        <a:sym typeface="Times New Roman"/>
                      </a:endParaRPr>
                    </a:p>
                    <a:p>
                      <a:pPr indent="0" lvl="0" marL="0" marR="0" rtl="0" algn="l">
                        <a:spcBef>
                          <a:spcPts val="0"/>
                        </a:spcBef>
                        <a:spcAft>
                          <a:spcPts val="0"/>
                        </a:spcAft>
                        <a:buNone/>
                      </a:pPr>
                      <a:r>
                        <a:rPr lang="en-US" sz="1300">
                          <a:latin typeface="Times New Roman"/>
                          <a:ea typeface="Times New Roman"/>
                          <a:cs typeface="Times New Roman"/>
                          <a:sym typeface="Times New Roman"/>
                        </a:rPr>
                        <a:t>2507972</a:t>
                      </a:r>
                      <a:endParaRPr sz="1300">
                        <a:latin typeface="Times New Roman"/>
                        <a:ea typeface="Times New Roman"/>
                        <a:cs typeface="Times New Roman"/>
                        <a:sym typeface="Times New Roman"/>
                      </a:endParaRPr>
                    </a:p>
                  </a:txBody>
                  <a:tcPr marT="29325" marB="29325" marR="58650" marL="586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1300">
                          <a:solidFill>
                            <a:schemeClr val="dk1"/>
                          </a:solidFill>
                          <a:latin typeface="Times New Roman"/>
                          <a:ea typeface="Times New Roman"/>
                          <a:cs typeface="Times New Roman"/>
                          <a:sym typeface="Times New Roman"/>
                        </a:rPr>
                        <a:t>AWS Service: </a:t>
                      </a:r>
                      <a:r>
                        <a:rPr lang="en-US" sz="1300">
                          <a:latin typeface="Times New Roman"/>
                          <a:ea typeface="Times New Roman"/>
                          <a:cs typeface="Times New Roman"/>
                          <a:sym typeface="Times New Roman"/>
                        </a:rPr>
                        <a:t>CloudWatch </a:t>
                      </a:r>
                      <a:r>
                        <a:rPr lang="en-US" sz="1300">
                          <a:solidFill>
                            <a:schemeClr val="dk1"/>
                          </a:solidFill>
                          <a:latin typeface="Times New Roman"/>
                          <a:ea typeface="Times New Roman"/>
                          <a:cs typeface="Times New Roman"/>
                          <a:sym typeface="Times New Roman"/>
                        </a:rPr>
                        <a:t>(Alarm+Dashboard) , </a:t>
                      </a:r>
                      <a:r>
                        <a:rPr lang="en-US" sz="1300">
                          <a:latin typeface="Times New Roman"/>
                          <a:ea typeface="Times New Roman"/>
                          <a:cs typeface="Times New Roman"/>
                          <a:sym typeface="Times New Roman"/>
                        </a:rPr>
                        <a:t>WAF </a:t>
                      </a:r>
                      <a:endParaRPr sz="1300">
                        <a:latin typeface="Times New Roman"/>
                        <a:ea typeface="Times New Roman"/>
                        <a:cs typeface="Times New Roman"/>
                        <a:sym typeface="Times New Roman"/>
                      </a:endParaRPr>
                    </a:p>
                    <a:p>
                      <a:pPr indent="0" lvl="0" marL="0" marR="0" rtl="0" algn="l">
                        <a:spcBef>
                          <a:spcPts val="0"/>
                        </a:spcBef>
                        <a:spcAft>
                          <a:spcPts val="0"/>
                        </a:spcAft>
                        <a:buNone/>
                      </a:pPr>
                      <a:r>
                        <a:rPr lang="en-US" sz="1300">
                          <a:latin typeface="Times New Roman"/>
                          <a:ea typeface="Times New Roman"/>
                          <a:cs typeface="Times New Roman"/>
                          <a:sym typeface="Times New Roman"/>
                        </a:rPr>
                        <a:t>Report part: </a:t>
                      </a:r>
                      <a:r>
                        <a:rPr lang="en-US" sz="1300">
                          <a:solidFill>
                            <a:schemeClr val="dk1"/>
                          </a:solidFill>
                          <a:latin typeface="Times New Roman"/>
                          <a:ea typeface="Times New Roman"/>
                          <a:cs typeface="Times New Roman"/>
                          <a:sym typeface="Times New Roman"/>
                        </a:rPr>
                        <a:t>Solution Overview Diagram, Cost Optimized, Scalability</a:t>
                      </a:r>
                      <a:endParaRPr sz="1300">
                        <a:solidFill>
                          <a:schemeClr val="dk1"/>
                        </a:solidFill>
                        <a:latin typeface="Times New Roman"/>
                        <a:ea typeface="Times New Roman"/>
                        <a:cs typeface="Times New Roman"/>
                        <a:sym typeface="Times New Roman"/>
                      </a:endParaRPr>
                    </a:p>
                  </a:txBody>
                  <a:tcPr marT="29325" marB="29325" marR="58650" marL="586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300"/>
                        <a:buFont typeface="Arial"/>
                        <a:buNone/>
                      </a:pPr>
                      <a:r>
                        <a:rPr lang="en-US" sz="1300">
                          <a:latin typeface="Times New Roman"/>
                          <a:ea typeface="Times New Roman"/>
                          <a:cs typeface="Times New Roman"/>
                          <a:sym typeface="Times New Roman"/>
                        </a:rPr>
                        <a:t>7/9/2026</a:t>
                      </a:r>
                      <a:endParaRPr b="0" i="0" sz="1300" u="none" cap="none" strike="noStrike">
                        <a:solidFill>
                          <a:srgbClr val="000000"/>
                        </a:solidFill>
                        <a:latin typeface="Times New Roman"/>
                        <a:ea typeface="Times New Roman"/>
                        <a:cs typeface="Times New Roman"/>
                        <a:sym typeface="Times New Roman"/>
                      </a:endParaRPr>
                    </a:p>
                  </a:txBody>
                  <a:tcPr marT="29325" marB="29325" marR="58650" marL="58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19" name="Google Shape;119;p19"/>
          <p:cNvSpPr/>
          <p:nvPr/>
        </p:nvSpPr>
        <p:spPr>
          <a:xfrm>
            <a:off x="1689515" y="155844"/>
            <a:ext cx="8812969" cy="130496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600" u="none" cap="none" strike="noStrike">
                <a:solidFill>
                  <a:srgbClr val="222E3D"/>
                </a:solidFill>
                <a:latin typeface="Times New Roman"/>
                <a:ea typeface="Times New Roman"/>
                <a:cs typeface="Times New Roman"/>
                <a:sym typeface="Times New Roman"/>
              </a:rPr>
              <a:t>TUNKU ABDUL RAHMAN UNIVERSITY OF MANAGEMENT AND TECHNOLOGY</a:t>
            </a:r>
            <a:endParaRPr/>
          </a:p>
          <a:p>
            <a:pPr indent="0" lvl="0" marL="0" marR="0" rtl="0" algn="ctr">
              <a:spcBef>
                <a:spcPts val="946"/>
              </a:spcBef>
              <a:spcAft>
                <a:spcPts val="0"/>
              </a:spcAft>
              <a:buNone/>
            </a:pPr>
            <a:r>
              <a:rPr b="0" i="0" lang="en-US" sz="1600" u="none" cap="none" strike="noStrike">
                <a:solidFill>
                  <a:srgbClr val="222E3D"/>
                </a:solidFill>
                <a:latin typeface="Times New Roman"/>
                <a:ea typeface="Times New Roman"/>
                <a:cs typeface="Times New Roman"/>
                <a:sym typeface="Times New Roman"/>
              </a:rPr>
              <a:t>Group Contract Form</a:t>
            </a:r>
            <a:endParaRPr/>
          </a:p>
        </p:txBody>
      </p:sp>
      <p:sp>
        <p:nvSpPr>
          <p:cNvPr id="120" name="Google Shape;120;p19"/>
          <p:cNvSpPr txBox="1"/>
          <p:nvPr/>
        </p:nvSpPr>
        <p:spPr>
          <a:xfrm>
            <a:off x="2202366" y="988874"/>
            <a:ext cx="6099600" cy="175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Faculty: Faculty O</a:t>
            </a:r>
            <a:r>
              <a:rPr lang="en-US" sz="1200">
                <a:latin typeface="Times New Roman"/>
                <a:ea typeface="Times New Roman"/>
                <a:cs typeface="Times New Roman"/>
                <a:sym typeface="Times New Roman"/>
              </a:rPr>
              <a:t>f Computer Science</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Programme: Diploma in Information Technology</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Year of Study: Y2</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Semester: S1</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Course Title: CLOUD COMPUTING FOR BUSINESS</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Course Code: AMIT3253</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Group Assignment/ Project Title: Swimming pool booking system</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Name of Tutor: </a:t>
            </a:r>
            <a:r>
              <a:rPr lang="en-US" sz="1200">
                <a:solidFill>
                  <a:schemeClr val="dk1"/>
                </a:solidFill>
                <a:latin typeface="Times New Roman"/>
                <a:ea typeface="Times New Roman"/>
                <a:cs typeface="Times New Roman"/>
                <a:sym typeface="Times New Roman"/>
              </a:rPr>
              <a:t>YAP XIANG LOO WINNIE</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Tutorial Group: G12</a:t>
            </a:r>
            <a:endParaRPr b="0" i="0" sz="1200" u="none" cap="none" strike="noStrike">
              <a:solidFill>
                <a:schemeClr val="dk1"/>
              </a:solidFill>
              <a:latin typeface="Arial"/>
              <a:ea typeface="Arial"/>
              <a:cs typeface="Arial"/>
              <a:sym typeface="Arial"/>
            </a:endParaRPr>
          </a:p>
        </p:txBody>
      </p:sp>
      <p:sp>
        <p:nvSpPr>
          <p:cNvPr id="121" name="Google Shape;121;p19"/>
          <p:cNvSpPr/>
          <p:nvPr/>
        </p:nvSpPr>
        <p:spPr>
          <a:xfrm>
            <a:off x="9012125" y="3903892"/>
            <a:ext cx="873125" cy="546525"/>
          </a:xfrm>
          <a:custGeom>
            <a:rect b="b" l="l" r="r" t="t"/>
            <a:pathLst>
              <a:path extrusionOk="0" h="21861" w="34925">
                <a:moveTo>
                  <a:pt x="0" y="2252"/>
                </a:moveTo>
                <a:cubicBezTo>
                  <a:pt x="5133" y="3537"/>
                  <a:pt x="10640" y="3027"/>
                  <a:pt x="15875" y="2252"/>
                </a:cubicBezTo>
                <a:cubicBezTo>
                  <a:pt x="17610" y="1995"/>
                  <a:pt x="21999" y="1538"/>
                  <a:pt x="20759" y="298"/>
                </a:cubicBezTo>
                <a:cubicBezTo>
                  <a:pt x="19373" y="-1088"/>
                  <a:pt x="17781" y="2968"/>
                  <a:pt x="16852" y="4694"/>
                </a:cubicBezTo>
                <a:cubicBezTo>
                  <a:pt x="14138" y="9736"/>
                  <a:pt x="12106" y="15312"/>
                  <a:pt x="8303" y="19592"/>
                </a:cubicBezTo>
                <a:cubicBezTo>
                  <a:pt x="7611" y="20371"/>
                  <a:pt x="5746" y="22582"/>
                  <a:pt x="5861" y="21546"/>
                </a:cubicBezTo>
                <a:cubicBezTo>
                  <a:pt x="6185" y="18629"/>
                  <a:pt x="8845" y="16456"/>
                  <a:pt x="10746" y="14219"/>
                </a:cubicBezTo>
                <a:cubicBezTo>
                  <a:pt x="12020" y="12720"/>
                  <a:pt x="12384" y="10690"/>
                  <a:pt x="13188" y="10556"/>
                </a:cubicBezTo>
                <a:cubicBezTo>
                  <a:pt x="15019" y="10251"/>
                  <a:pt x="14751" y="14952"/>
                  <a:pt x="16607" y="14952"/>
                </a:cubicBezTo>
                <a:cubicBezTo>
                  <a:pt x="19778" y="14952"/>
                  <a:pt x="22820" y="11651"/>
                  <a:pt x="23690" y="8602"/>
                </a:cubicBezTo>
                <a:cubicBezTo>
                  <a:pt x="23848" y="8049"/>
                  <a:pt x="22726" y="9308"/>
                  <a:pt x="22469" y="9823"/>
                </a:cubicBezTo>
                <a:cubicBezTo>
                  <a:pt x="21259" y="12244"/>
                  <a:pt x="18196" y="15044"/>
                  <a:pt x="19538" y="17394"/>
                </a:cubicBezTo>
                <a:cubicBezTo>
                  <a:pt x="20640" y="19323"/>
                  <a:pt x="24047" y="17185"/>
                  <a:pt x="26132" y="16417"/>
                </a:cubicBezTo>
                <a:cubicBezTo>
                  <a:pt x="29141" y="15308"/>
                  <a:pt x="33000" y="15076"/>
                  <a:pt x="34925" y="12510"/>
                </a:cubicBezTo>
              </a:path>
            </a:pathLst>
          </a:custGeom>
          <a:noFill/>
          <a:ln cap="flat" cmpd="sng" w="9525">
            <a:solidFill>
              <a:schemeClr val="dk2"/>
            </a:solidFill>
            <a:prstDash val="solid"/>
            <a:round/>
            <a:headEnd len="med" w="med" type="none"/>
            <a:tailEnd len="med" w="med" type="none"/>
          </a:ln>
        </p:spPr>
      </p:sp>
      <p:sp>
        <p:nvSpPr>
          <p:cNvPr id="122" name="Google Shape;122;p19"/>
          <p:cNvSpPr/>
          <p:nvPr/>
        </p:nvSpPr>
        <p:spPr>
          <a:xfrm>
            <a:off x="9057138" y="4824495"/>
            <a:ext cx="783100" cy="547550"/>
          </a:xfrm>
          <a:custGeom>
            <a:rect b="b" l="l" r="r" t="t"/>
            <a:pathLst>
              <a:path extrusionOk="0" h="21902" w="31324">
                <a:moveTo>
                  <a:pt x="1493" y="4083"/>
                </a:moveTo>
                <a:cubicBezTo>
                  <a:pt x="5784" y="3225"/>
                  <a:pt x="9938" y="1785"/>
                  <a:pt x="14183" y="724"/>
                </a:cubicBezTo>
                <a:cubicBezTo>
                  <a:pt x="14917" y="541"/>
                  <a:pt x="16141" y="-351"/>
                  <a:pt x="16422" y="351"/>
                </a:cubicBezTo>
                <a:cubicBezTo>
                  <a:pt x="19539" y="8137"/>
                  <a:pt x="2986" y="13237"/>
                  <a:pt x="2986" y="21624"/>
                </a:cubicBezTo>
                <a:cubicBezTo>
                  <a:pt x="2986" y="22180"/>
                  <a:pt x="3981" y="21127"/>
                  <a:pt x="4479" y="20878"/>
                </a:cubicBezTo>
                <a:cubicBezTo>
                  <a:pt x="11517" y="17359"/>
                  <a:pt x="19164" y="13735"/>
                  <a:pt x="23887" y="7442"/>
                </a:cubicBezTo>
                <a:cubicBezTo>
                  <a:pt x="24591" y="6503"/>
                  <a:pt x="26404" y="5432"/>
                  <a:pt x="25753" y="4456"/>
                </a:cubicBezTo>
                <a:cubicBezTo>
                  <a:pt x="23110" y="493"/>
                  <a:pt x="12070" y="9976"/>
                  <a:pt x="14929" y="13787"/>
                </a:cubicBezTo>
                <a:cubicBezTo>
                  <a:pt x="16967" y="16503"/>
                  <a:pt x="21610" y="15279"/>
                  <a:pt x="25006" y="15279"/>
                </a:cubicBezTo>
                <a:cubicBezTo>
                  <a:pt x="27001" y="15279"/>
                  <a:pt x="32762" y="15798"/>
                  <a:pt x="30978" y="14906"/>
                </a:cubicBezTo>
                <a:cubicBezTo>
                  <a:pt x="27416" y="13125"/>
                  <a:pt x="23018" y="15279"/>
                  <a:pt x="19035" y="15279"/>
                </a:cubicBezTo>
                <a:cubicBezTo>
                  <a:pt x="12685" y="15279"/>
                  <a:pt x="6350" y="14533"/>
                  <a:pt x="0" y="14533"/>
                </a:cubicBezTo>
              </a:path>
            </a:pathLst>
          </a:custGeom>
          <a:noFill/>
          <a:ln cap="flat" cmpd="sng" w="9525">
            <a:solidFill>
              <a:schemeClr val="dk2"/>
            </a:solidFill>
            <a:prstDash val="solid"/>
            <a:round/>
            <a:headEnd len="med" w="med" type="none"/>
            <a:tailEnd len="med" w="med" type="none"/>
          </a:ln>
        </p:spPr>
      </p:sp>
      <p:sp>
        <p:nvSpPr>
          <p:cNvPr id="123" name="Google Shape;123;p19"/>
          <p:cNvSpPr/>
          <p:nvPr/>
        </p:nvSpPr>
        <p:spPr>
          <a:xfrm>
            <a:off x="9157828" y="5738300"/>
            <a:ext cx="735825" cy="402900"/>
          </a:xfrm>
          <a:custGeom>
            <a:rect b="b" l="l" r="r" t="t"/>
            <a:pathLst>
              <a:path extrusionOk="0" h="16116" w="29433">
                <a:moveTo>
                  <a:pt x="818" y="0"/>
                </a:moveTo>
                <a:cubicBezTo>
                  <a:pt x="4128" y="1103"/>
                  <a:pt x="4765" y="7894"/>
                  <a:pt x="2298" y="10361"/>
                </a:cubicBezTo>
                <a:cubicBezTo>
                  <a:pt x="1778" y="10881"/>
                  <a:pt x="982" y="9045"/>
                  <a:pt x="1311" y="8387"/>
                </a:cubicBezTo>
                <a:cubicBezTo>
                  <a:pt x="2103" y="6803"/>
                  <a:pt x="5182" y="4997"/>
                  <a:pt x="6245" y="6414"/>
                </a:cubicBezTo>
                <a:cubicBezTo>
                  <a:pt x="7493" y="8078"/>
                  <a:pt x="5742" y="10863"/>
                  <a:pt x="4271" y="12334"/>
                </a:cubicBezTo>
                <a:cubicBezTo>
                  <a:pt x="3877" y="12728"/>
                  <a:pt x="1868" y="16051"/>
                  <a:pt x="818" y="15788"/>
                </a:cubicBezTo>
                <a:cubicBezTo>
                  <a:pt x="-2349" y="14996"/>
                  <a:pt x="5017" y="10015"/>
                  <a:pt x="8218" y="9374"/>
                </a:cubicBezTo>
                <a:cubicBezTo>
                  <a:pt x="10105" y="8996"/>
                  <a:pt x="8471" y="13939"/>
                  <a:pt x="10192" y="14801"/>
                </a:cubicBezTo>
                <a:cubicBezTo>
                  <a:pt x="11178" y="15295"/>
                  <a:pt x="10502" y="13699"/>
                  <a:pt x="11179" y="12828"/>
                </a:cubicBezTo>
                <a:cubicBezTo>
                  <a:pt x="13545" y="9786"/>
                  <a:pt x="16403" y="6645"/>
                  <a:pt x="20059" y="5427"/>
                </a:cubicBezTo>
                <a:cubicBezTo>
                  <a:pt x="20995" y="5115"/>
                  <a:pt x="20181" y="7408"/>
                  <a:pt x="20059" y="8387"/>
                </a:cubicBezTo>
                <a:cubicBezTo>
                  <a:pt x="19782" y="10607"/>
                  <a:pt x="17973" y="12574"/>
                  <a:pt x="16112" y="13815"/>
                </a:cubicBezTo>
                <a:cubicBezTo>
                  <a:pt x="15338" y="14331"/>
                  <a:pt x="14797" y="16445"/>
                  <a:pt x="14139" y="15788"/>
                </a:cubicBezTo>
                <a:cubicBezTo>
                  <a:pt x="13230" y="14881"/>
                  <a:pt x="15537" y="13540"/>
                  <a:pt x="16606" y="12828"/>
                </a:cubicBezTo>
                <a:cubicBezTo>
                  <a:pt x="20525" y="10216"/>
                  <a:pt x="24966" y="8397"/>
                  <a:pt x="29434" y="6907"/>
                </a:cubicBezTo>
              </a:path>
            </a:pathLst>
          </a:custGeom>
          <a:noFill/>
          <a:ln cap="flat" cmpd="sng" w="9525">
            <a:solidFill>
              <a:schemeClr val="dk2"/>
            </a:solidFill>
            <a:prstDash val="solid"/>
            <a:round/>
            <a:headEnd len="med" w="med" type="none"/>
            <a:tailEnd len="med" w="med" type="none"/>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graphicFrame>
        <p:nvGraphicFramePr>
          <p:cNvPr id="128" name="Google Shape;128;p20"/>
          <p:cNvGraphicFramePr/>
          <p:nvPr/>
        </p:nvGraphicFramePr>
        <p:xfrm>
          <a:off x="524243" y="518160"/>
          <a:ext cx="3000000" cy="3000000"/>
        </p:xfrm>
        <a:graphic>
          <a:graphicData uri="http://schemas.openxmlformats.org/drawingml/2006/table">
            <a:tbl>
              <a:tblPr>
                <a:noFill/>
                <a:tableStyleId>{307B5169-7584-414E-A548-C0B6C2D1D264}</a:tableStyleId>
              </a:tblPr>
              <a:tblGrid>
                <a:gridCol w="3378850"/>
                <a:gridCol w="3738875"/>
                <a:gridCol w="4246875"/>
              </a:tblGrid>
              <a:tr h="728425">
                <a:tc>
                  <a:txBody>
                    <a:bodyPr/>
                    <a:lstStyle/>
                    <a:p>
                      <a:pPr indent="0" lvl="0" marL="0" marR="0" rtl="0" algn="ctr">
                        <a:lnSpc>
                          <a:spcPct val="100000"/>
                        </a:lnSpc>
                        <a:spcBef>
                          <a:spcPts val="0"/>
                        </a:spcBef>
                        <a:spcAft>
                          <a:spcPts val="0"/>
                        </a:spcAft>
                        <a:buClr>
                          <a:schemeClr val="dk1"/>
                        </a:buClr>
                        <a:buSzPts val="1400"/>
                        <a:buFont typeface="Times New Roman"/>
                        <a:buNone/>
                      </a:pPr>
                      <a:r>
                        <a:rPr b="1" i="0" lang="en-US" sz="1400" u="none" cap="none" strike="noStrike">
                          <a:solidFill>
                            <a:schemeClr val="dk1"/>
                          </a:solidFill>
                          <a:latin typeface="Times New Roman"/>
                          <a:ea typeface="Times New Roman"/>
                          <a:cs typeface="Times New Roman"/>
                          <a:sym typeface="Times New Roman"/>
                        </a:rPr>
                        <a:t>Name (Block Capital)</a:t>
                      </a:r>
                      <a:endParaRPr b="1" sz="1400">
                        <a:latin typeface="Times New Roman"/>
                        <a:ea typeface="Times New Roman"/>
                        <a:cs typeface="Times New Roman"/>
                        <a:sym typeface="Times New Roman"/>
                      </a:endParaRPr>
                    </a:p>
                  </a:txBody>
                  <a:tcPr marT="29325" marB="29325" marR="58650" marL="58650" anchor="ctr">
                    <a:lnB cap="flat" cmpd="sng" w="9525">
                      <a:solidFill>
                        <a:srgbClr val="000000"/>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rPr b="1" i="0" lang="en-US" sz="1400" u="none" cap="none" strike="noStrike">
                          <a:solidFill>
                            <a:schemeClr val="dk1"/>
                          </a:solidFill>
                          <a:latin typeface="Times New Roman"/>
                          <a:ea typeface="Times New Roman"/>
                          <a:cs typeface="Times New Roman"/>
                          <a:sym typeface="Times New Roman"/>
                        </a:rPr>
                        <a:t>Contact number</a:t>
                      </a:r>
                      <a:endParaRPr b="1" sz="1400">
                        <a:latin typeface="Times New Roman"/>
                        <a:ea typeface="Times New Roman"/>
                        <a:cs typeface="Times New Roman"/>
                        <a:sym typeface="Times New Roman"/>
                      </a:endParaRPr>
                    </a:p>
                  </a:txBody>
                  <a:tcPr marT="29325" marB="29325" marR="58650" marL="58650" anchor="ctr">
                    <a:lnB cap="flat" cmpd="sng" w="9525">
                      <a:solidFill>
                        <a:srgbClr val="000000"/>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rPr b="1" i="0" lang="en-US" sz="1400" u="none" cap="none" strike="noStrike">
                          <a:solidFill>
                            <a:schemeClr val="dk1"/>
                          </a:solidFill>
                          <a:latin typeface="Times New Roman"/>
                          <a:ea typeface="Times New Roman"/>
                          <a:cs typeface="Times New Roman"/>
                          <a:sym typeface="Times New Roman"/>
                        </a:rPr>
                        <a:t>Profile Photo</a:t>
                      </a:r>
                      <a:endParaRPr b="1" sz="1400">
                        <a:latin typeface="Times New Roman"/>
                        <a:ea typeface="Times New Roman"/>
                        <a:cs typeface="Times New Roman"/>
                        <a:sym typeface="Times New Roman"/>
                      </a:endParaRPr>
                    </a:p>
                  </a:txBody>
                  <a:tcPr marT="29325" marB="29325" marR="58650" marL="58650" anchor="ctr">
                    <a:lnB cap="flat" cmpd="sng" w="9525">
                      <a:solidFill>
                        <a:srgbClr val="000000"/>
                      </a:solidFill>
                      <a:prstDash val="solid"/>
                      <a:round/>
                      <a:headEnd len="sm" w="sm" type="none"/>
                      <a:tailEnd len="sm" w="sm" type="none"/>
                    </a:lnB>
                    <a:solidFill>
                      <a:schemeClr val="lt2"/>
                    </a:solidFill>
                  </a:tcPr>
                </a:tc>
              </a:tr>
              <a:tr h="1789200">
                <a:tc>
                  <a:txBody>
                    <a:bodyPr/>
                    <a:lstStyle/>
                    <a:p>
                      <a:pPr indent="0" lvl="0" marL="0" marR="0" rtl="0" algn="l">
                        <a:spcBef>
                          <a:spcPts val="0"/>
                        </a:spcBef>
                        <a:spcAft>
                          <a:spcPts val="0"/>
                        </a:spcAft>
                        <a:buNone/>
                      </a:pPr>
                      <a:r>
                        <a:rPr lang="en-US" sz="1300">
                          <a:latin typeface="Times New Roman"/>
                          <a:ea typeface="Times New Roman"/>
                          <a:cs typeface="Times New Roman"/>
                          <a:sym typeface="Times New Roman"/>
                        </a:rPr>
                        <a:t>CHENG JUN YU</a:t>
                      </a:r>
                      <a:endParaRPr sz="1300">
                        <a:latin typeface="Times New Roman"/>
                        <a:ea typeface="Times New Roman"/>
                        <a:cs typeface="Times New Roman"/>
                        <a:sym typeface="Times New Roman"/>
                      </a:endParaRPr>
                    </a:p>
                  </a:txBody>
                  <a:tcPr marT="29325" marB="29325" marR="58650" marL="586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1300">
                          <a:latin typeface="Times New Roman"/>
                          <a:ea typeface="Times New Roman"/>
                          <a:cs typeface="Times New Roman"/>
                          <a:sym typeface="Times New Roman"/>
                        </a:rPr>
                        <a:t>+6011-2800 3667</a:t>
                      </a:r>
                      <a:endParaRPr sz="1300">
                        <a:latin typeface="Times New Roman"/>
                        <a:ea typeface="Times New Roman"/>
                        <a:cs typeface="Times New Roman"/>
                        <a:sym typeface="Times New Roman"/>
                      </a:endParaRPr>
                    </a:p>
                  </a:txBody>
                  <a:tcPr marT="29325" marB="29325" marR="58650" marL="586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a:p>
                  </a:txBody>
                  <a:tcPr marT="29325" marB="29325" marR="58650" marL="58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89200">
                <a:tc>
                  <a:txBody>
                    <a:bodyPr/>
                    <a:lstStyle/>
                    <a:p>
                      <a:pPr indent="0" lvl="0" marL="0" marR="0" rtl="0" algn="l">
                        <a:spcBef>
                          <a:spcPts val="0"/>
                        </a:spcBef>
                        <a:spcAft>
                          <a:spcPts val="0"/>
                        </a:spcAft>
                        <a:buNone/>
                      </a:pPr>
                      <a:r>
                        <a:rPr lang="en-US" sz="1300">
                          <a:latin typeface="Times New Roman"/>
                          <a:ea typeface="Times New Roman"/>
                          <a:cs typeface="Times New Roman"/>
                          <a:sym typeface="Times New Roman"/>
                        </a:rPr>
                        <a:t>KHOO SEE ZE</a:t>
                      </a:r>
                      <a:endParaRPr sz="1300">
                        <a:latin typeface="Times New Roman"/>
                        <a:ea typeface="Times New Roman"/>
                        <a:cs typeface="Times New Roman"/>
                        <a:sym typeface="Times New Roman"/>
                      </a:endParaRPr>
                    </a:p>
                  </a:txBody>
                  <a:tcPr marT="29325" marB="29325" marR="58650" marL="586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1300">
                          <a:latin typeface="Times New Roman"/>
                          <a:ea typeface="Times New Roman"/>
                          <a:cs typeface="Times New Roman"/>
                          <a:sym typeface="Times New Roman"/>
                        </a:rPr>
                        <a:t>+6011-56507798</a:t>
                      </a:r>
                      <a:endParaRPr sz="1300">
                        <a:latin typeface="Times New Roman"/>
                        <a:ea typeface="Times New Roman"/>
                        <a:cs typeface="Times New Roman"/>
                        <a:sym typeface="Times New Roman"/>
                      </a:endParaRPr>
                    </a:p>
                  </a:txBody>
                  <a:tcPr marT="29325" marB="29325" marR="58650" marL="586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Times New Roman"/>
                        <a:buNone/>
                      </a:pPr>
                      <a:r>
                        <a:t/>
                      </a:r>
                      <a:endParaRPr/>
                    </a:p>
                  </a:txBody>
                  <a:tcPr marT="29325" marB="29325" marR="58650" marL="58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89200">
                <a:tc>
                  <a:txBody>
                    <a:bodyPr/>
                    <a:lstStyle/>
                    <a:p>
                      <a:pPr indent="0" lvl="0" marL="0" marR="0" rtl="0" algn="l">
                        <a:spcBef>
                          <a:spcPts val="0"/>
                        </a:spcBef>
                        <a:spcAft>
                          <a:spcPts val="0"/>
                        </a:spcAft>
                        <a:buNone/>
                      </a:pPr>
                      <a:r>
                        <a:rPr lang="en-US" sz="1300">
                          <a:latin typeface="Times New Roman"/>
                          <a:ea typeface="Times New Roman"/>
                          <a:cs typeface="Times New Roman"/>
                          <a:sym typeface="Times New Roman"/>
                        </a:rPr>
                        <a:t>LOW KAR WAI</a:t>
                      </a:r>
                      <a:endParaRPr sz="1300">
                        <a:latin typeface="Times New Roman"/>
                        <a:ea typeface="Times New Roman"/>
                        <a:cs typeface="Times New Roman"/>
                        <a:sym typeface="Times New Roman"/>
                      </a:endParaRPr>
                    </a:p>
                  </a:txBody>
                  <a:tcPr marT="29325" marB="29325" marR="58650" marL="586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1300">
                          <a:latin typeface="Times New Roman"/>
                          <a:ea typeface="Times New Roman"/>
                          <a:cs typeface="Times New Roman"/>
                          <a:sym typeface="Times New Roman"/>
                        </a:rPr>
                        <a:t>+6014-9815779</a:t>
                      </a:r>
                      <a:endParaRPr sz="1300">
                        <a:latin typeface="Times New Roman"/>
                        <a:ea typeface="Times New Roman"/>
                        <a:cs typeface="Times New Roman"/>
                        <a:sym typeface="Times New Roman"/>
                      </a:endParaRPr>
                    </a:p>
                  </a:txBody>
                  <a:tcPr marT="29325" marB="29325" marR="58650" marL="586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Times New Roman"/>
                        <a:buNone/>
                      </a:pPr>
                      <a:r>
                        <a:t/>
                      </a:r>
                      <a:endParaRPr/>
                    </a:p>
                  </a:txBody>
                  <a:tcPr marT="29325" marB="29325" marR="58650" marL="586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29" name="Google Shape;129;p20"/>
          <p:cNvSpPr/>
          <p:nvPr/>
        </p:nvSpPr>
        <p:spPr>
          <a:xfrm>
            <a:off x="542904" y="166995"/>
            <a:ext cx="6900767" cy="69241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39" u="none" cap="none" strike="noStrike">
                <a:solidFill>
                  <a:srgbClr val="222E3D"/>
                </a:solidFill>
                <a:latin typeface="Times New Roman"/>
                <a:ea typeface="Times New Roman"/>
                <a:cs typeface="Times New Roman"/>
                <a:sym typeface="Times New Roman"/>
              </a:rPr>
              <a:t>Member Profiles</a:t>
            </a:r>
            <a:endParaRPr/>
          </a:p>
        </p:txBody>
      </p:sp>
      <p:pic>
        <p:nvPicPr>
          <p:cNvPr id="130" name="Google Shape;130;p20" title="resume-img-1.jpeg"/>
          <p:cNvPicPr preferRelativeResize="0"/>
          <p:nvPr/>
        </p:nvPicPr>
        <p:blipFill>
          <a:blip r:embed="rId3">
            <a:alphaModFix/>
          </a:blip>
          <a:stretch>
            <a:fillRect/>
          </a:stretch>
        </p:blipFill>
        <p:spPr>
          <a:xfrm>
            <a:off x="8903400" y="1246575"/>
            <a:ext cx="1730990" cy="1789200"/>
          </a:xfrm>
          <a:prstGeom prst="rect">
            <a:avLst/>
          </a:prstGeom>
          <a:noFill/>
          <a:ln>
            <a:noFill/>
          </a:ln>
        </p:spPr>
      </p:pic>
      <p:pic>
        <p:nvPicPr>
          <p:cNvPr id="131" name="Google Shape;131;p20" title="WhatsApp Image 2025-06-21 at 22.15.47_7ab32189.jpg"/>
          <p:cNvPicPr preferRelativeResize="0"/>
          <p:nvPr/>
        </p:nvPicPr>
        <p:blipFill>
          <a:blip r:embed="rId4">
            <a:alphaModFix/>
          </a:blip>
          <a:stretch>
            <a:fillRect/>
          </a:stretch>
        </p:blipFill>
        <p:spPr>
          <a:xfrm>
            <a:off x="9049053" y="5047550"/>
            <a:ext cx="1730999" cy="1492475"/>
          </a:xfrm>
          <a:prstGeom prst="rect">
            <a:avLst/>
          </a:prstGeom>
          <a:noFill/>
          <a:ln>
            <a:noFill/>
          </a:ln>
        </p:spPr>
      </p:pic>
      <p:pic>
        <p:nvPicPr>
          <p:cNvPr id="132" name="Google Shape;132;p20" title="1781274300485.jpg"/>
          <p:cNvPicPr preferRelativeResize="0"/>
          <p:nvPr/>
        </p:nvPicPr>
        <p:blipFill>
          <a:blip r:embed="rId5">
            <a:alphaModFix/>
          </a:blip>
          <a:stretch>
            <a:fillRect/>
          </a:stretch>
        </p:blipFill>
        <p:spPr>
          <a:xfrm>
            <a:off x="8968788" y="3138913"/>
            <a:ext cx="1600200" cy="1600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p:nvPr/>
        </p:nvSpPr>
        <p:spPr>
          <a:xfrm>
            <a:off x="542904" y="166995"/>
            <a:ext cx="8540136" cy="69241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u="sng" cap="none" strike="noStrike">
                <a:solidFill>
                  <a:schemeClr val="dk1"/>
                </a:solidFill>
                <a:latin typeface="Times New Roman"/>
                <a:ea typeface="Times New Roman"/>
                <a:cs typeface="Times New Roman"/>
                <a:sym typeface="Times New Roman"/>
              </a:rPr>
              <a:t>Assignment Rubrics</a:t>
            </a:r>
            <a:endParaRPr b="1" i="0" sz="16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1600" u="none" cap="none" strike="noStrike">
                <a:solidFill>
                  <a:schemeClr val="dk1"/>
                </a:solidFill>
                <a:latin typeface="Times New Roman"/>
                <a:ea typeface="Times New Roman"/>
                <a:cs typeface="Times New Roman"/>
                <a:sym typeface="Times New Roman"/>
              </a:rPr>
              <a:t>Part 1: Reporting and Documentation (70 marks)</a:t>
            </a:r>
            <a:endParaRPr b="1" i="0" sz="1600" u="none" cap="none" strike="noStrike">
              <a:solidFill>
                <a:schemeClr val="dk1"/>
              </a:solidFill>
              <a:latin typeface="Times New Roman"/>
              <a:ea typeface="Times New Roman"/>
              <a:cs typeface="Times New Roman"/>
              <a:sym typeface="Times New Roman"/>
            </a:endParaRPr>
          </a:p>
        </p:txBody>
      </p:sp>
      <p:graphicFrame>
        <p:nvGraphicFramePr>
          <p:cNvPr id="138" name="Google Shape;138;p21"/>
          <p:cNvGraphicFramePr/>
          <p:nvPr/>
        </p:nvGraphicFramePr>
        <p:xfrm>
          <a:off x="542904" y="859414"/>
          <a:ext cx="3000000" cy="3000000"/>
        </p:xfrm>
        <a:graphic>
          <a:graphicData uri="http://schemas.openxmlformats.org/drawingml/2006/table">
            <a:tbl>
              <a:tblPr>
                <a:noFill/>
                <a:tableStyleId>{307B5169-7584-414E-A548-C0B6C2D1D264}</a:tableStyleId>
              </a:tblPr>
              <a:tblGrid>
                <a:gridCol w="1553525"/>
                <a:gridCol w="1940300"/>
                <a:gridCol w="2369075"/>
                <a:gridCol w="1954300"/>
                <a:gridCol w="1954300"/>
                <a:gridCol w="1316725"/>
              </a:tblGrid>
              <a:tr h="409625">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Criteria</a:t>
                      </a:r>
                      <a:endParaRPr b="0" i="0" sz="1000" u="none" cap="none" strike="noStrike">
                        <a:solidFill>
                          <a:schemeClr val="dk1"/>
                        </a:solidFill>
                        <a:latin typeface="Times New Roman"/>
                        <a:ea typeface="Times New Roman"/>
                        <a:cs typeface="Times New Roman"/>
                        <a:sym typeface="Times New Roman"/>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Unsatisfactory</a:t>
                      </a:r>
                      <a:endParaRPr/>
                    </a:p>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  (1-3)</a:t>
                      </a:r>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Needs Improvement</a:t>
                      </a:r>
                      <a:endParaRPr b="0" i="0" sz="1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  (4-5)</a:t>
                      </a:r>
                      <a:endParaRPr b="0" i="0" sz="1000" u="none" cap="none" strike="noStrike">
                        <a:solidFill>
                          <a:schemeClr val="dk1"/>
                        </a:solidFill>
                        <a:latin typeface="Times New Roman"/>
                        <a:ea typeface="Times New Roman"/>
                        <a:cs typeface="Times New Roman"/>
                        <a:sym typeface="Times New Roman"/>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Good</a:t>
                      </a:r>
                      <a:endParaRPr b="0" i="0" sz="1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 (6-8)</a:t>
                      </a:r>
                      <a:endParaRPr b="0" i="0" sz="1000" u="none" cap="none" strike="noStrike">
                        <a:solidFill>
                          <a:schemeClr val="dk1"/>
                        </a:solidFill>
                        <a:latin typeface="Times New Roman"/>
                        <a:ea typeface="Times New Roman"/>
                        <a:cs typeface="Times New Roman"/>
                        <a:sym typeface="Times New Roman"/>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Excellent</a:t>
                      </a:r>
                      <a:endParaRPr b="0" i="0" sz="1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(9-10)</a:t>
                      </a:r>
                      <a:endParaRPr b="0" i="0" sz="1000" u="none" cap="none" strike="noStrike">
                        <a:solidFill>
                          <a:schemeClr val="dk1"/>
                        </a:solidFill>
                        <a:latin typeface="Times New Roman"/>
                        <a:ea typeface="Times New Roman"/>
                        <a:cs typeface="Times New Roman"/>
                        <a:sym typeface="Times New Roman"/>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Mark</a:t>
                      </a:r>
                      <a:endParaRPr b="0" i="0" sz="1000" u="none" cap="none" strike="noStrike">
                        <a:solidFill>
                          <a:schemeClr val="dk1"/>
                        </a:solidFill>
                        <a:latin typeface="Times New Roman"/>
                        <a:ea typeface="Times New Roman"/>
                        <a:cs typeface="Times New Roman"/>
                        <a:sym typeface="Times New Roman"/>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r>
              <a:tr h="2560725">
                <a:tc>
                  <a:txBody>
                    <a:bodyPr/>
                    <a:lstStyle/>
                    <a:p>
                      <a:pPr indent="0" lvl="0" marL="0" marR="0" rtl="0" algn="l">
                        <a:spcBef>
                          <a:spcPts val="0"/>
                        </a:spcBef>
                        <a:spcAft>
                          <a:spcPts val="0"/>
                        </a:spcAft>
                        <a:buClr>
                          <a:srgbClr val="000000"/>
                        </a:buClr>
                        <a:buSzPts val="1200"/>
                        <a:buFont typeface="Times New Roman"/>
                        <a:buNone/>
                      </a:pPr>
                      <a:r>
                        <a:rPr b="1" i="0" lang="en-US" sz="1200" u="none" strike="noStrike">
                          <a:solidFill>
                            <a:srgbClr val="000000"/>
                          </a:solidFill>
                          <a:latin typeface="Times New Roman"/>
                          <a:ea typeface="Times New Roman"/>
                          <a:cs typeface="Times New Roman"/>
                          <a:sym typeface="Times New Roman"/>
                        </a:rPr>
                        <a:t>AWS Architecture Diagram (5m)</a:t>
                      </a:r>
                      <a:endParaRPr sz="1800"/>
                    </a:p>
                    <a:p>
                      <a:pPr indent="0" lvl="0" marL="0" marR="0" rtl="0" algn="l">
                        <a:spcBef>
                          <a:spcPts val="0"/>
                        </a:spcBef>
                        <a:spcAft>
                          <a:spcPts val="0"/>
                        </a:spcAft>
                        <a:buClr>
                          <a:schemeClr val="dk1"/>
                        </a:buClr>
                        <a:buSzPts val="1800"/>
                        <a:buFont typeface="Arial"/>
                        <a:buNone/>
                      </a:pPr>
                      <a:r>
                        <a:t/>
                      </a:r>
                      <a:endParaRPr sz="1800"/>
                    </a:p>
                    <a:p>
                      <a:pPr indent="0" lvl="0" marL="0" marR="0" rtl="0" algn="l">
                        <a:spcBef>
                          <a:spcPts val="0"/>
                        </a:spcBef>
                        <a:spcAft>
                          <a:spcPts val="0"/>
                        </a:spcAft>
                        <a:buClr>
                          <a:srgbClr val="000000"/>
                        </a:buClr>
                        <a:buSzPts val="1200"/>
                        <a:buFont typeface="Times New Roman"/>
                        <a:buNone/>
                      </a:pPr>
                      <a:r>
                        <a:rPr b="1" i="0" lang="en-US" sz="1200" u="none" strike="noStrike">
                          <a:solidFill>
                            <a:srgbClr val="000000"/>
                          </a:solidFill>
                          <a:latin typeface="Times New Roman"/>
                          <a:ea typeface="Times New Roman"/>
                          <a:cs typeface="Times New Roman"/>
                          <a:sym typeface="Times New Roman"/>
                        </a:rPr>
                        <a:t>&amp;</a:t>
                      </a:r>
                      <a:endParaRPr sz="1800"/>
                    </a:p>
                    <a:p>
                      <a:pPr indent="0" lvl="0" marL="0" marR="0" rtl="0" algn="l">
                        <a:spcBef>
                          <a:spcPts val="0"/>
                        </a:spcBef>
                        <a:spcAft>
                          <a:spcPts val="0"/>
                        </a:spcAft>
                        <a:buClr>
                          <a:schemeClr val="dk1"/>
                        </a:buClr>
                        <a:buSzPts val="1800"/>
                        <a:buFont typeface="Arial"/>
                        <a:buNone/>
                      </a:pPr>
                      <a:r>
                        <a:t/>
                      </a:r>
                      <a:endParaRPr sz="1800"/>
                    </a:p>
                    <a:p>
                      <a:pPr indent="0" lvl="0" marL="0" marR="0" rtl="0" algn="l">
                        <a:spcBef>
                          <a:spcPts val="0"/>
                        </a:spcBef>
                        <a:spcAft>
                          <a:spcPts val="0"/>
                        </a:spcAft>
                        <a:buClr>
                          <a:srgbClr val="000000"/>
                        </a:buClr>
                        <a:buSzPts val="1200"/>
                        <a:buFont typeface="Times New Roman"/>
                        <a:buNone/>
                      </a:pPr>
                      <a:r>
                        <a:rPr b="1" i="0" lang="en-US" sz="1200" u="none" strike="noStrike">
                          <a:solidFill>
                            <a:srgbClr val="000000"/>
                          </a:solidFill>
                          <a:latin typeface="Times New Roman"/>
                          <a:ea typeface="Times New Roman"/>
                          <a:cs typeface="Times New Roman"/>
                          <a:sym typeface="Times New Roman"/>
                        </a:rPr>
                        <a:t>Solution Overview Diagram (5m)</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BEEF4"/>
                    </a:solidFill>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Diagram is missing, heavily incomplete, or uses non-standard cloud icons. Network boundaries (VPC, subnets) are omitted or incorrect.</a:t>
                      </a:r>
                      <a:br>
                        <a:rPr lang="en-US" sz="1800"/>
                      </a:br>
                      <a:endParaRPr sz="1800"/>
                    </a:p>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Flow diagram is missing, or the sequential flow of data from the end-user to the backend database is entirely absent or illogical.</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A diagram is provided but lacks detail. Component relationships are vague, or structural layout (public vs. private subnets) is poorly defined.</a:t>
                      </a:r>
                      <a:endParaRPr sz="1800"/>
                    </a:p>
                    <a:p>
                      <a:pPr indent="0" lvl="0" marL="0" marR="0" rtl="0" algn="l">
                        <a:spcBef>
                          <a:spcPts val="0"/>
                        </a:spcBef>
                        <a:spcAft>
                          <a:spcPts val="0"/>
                        </a:spcAft>
                        <a:buClr>
                          <a:schemeClr val="dk1"/>
                        </a:buClr>
                        <a:buSzPts val="1800"/>
                        <a:buFont typeface="Arial"/>
                        <a:buNone/>
                      </a:pPr>
                      <a:r>
                        <a:t/>
                      </a:r>
                      <a:endParaRPr sz="1800"/>
                    </a:p>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A diagram is provided, but the transactional flow is confusing, or the user journey lacks clear step-by-step logic.</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The diagram is complete and mostly accurate. Clearly displays the custom VPC layout, subnets, EC2 instances, ELB, ASG, and RDS with minor labeling gaps.</a:t>
                      </a:r>
                      <a:endParaRPr sz="1800"/>
                    </a:p>
                    <a:p>
                      <a:pPr indent="0" lvl="0" marL="0" marR="0" rtl="0" algn="l">
                        <a:spcBef>
                          <a:spcPts val="0"/>
                        </a:spcBef>
                        <a:spcAft>
                          <a:spcPts val="0"/>
                        </a:spcAft>
                        <a:buClr>
                          <a:schemeClr val="dk1"/>
                        </a:buClr>
                        <a:buSzPts val="1800"/>
                        <a:buFont typeface="Arial"/>
                        <a:buNone/>
                      </a:pPr>
                      <a:r>
                        <a:t/>
                      </a:r>
                      <a:endParaRPr sz="1800"/>
                    </a:p>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The diagram successfully maps out the functional user journey and data pathway from the web interface down to the data tier with minor logical gaps.</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Exceptional, production-ready infrastructure diagram. Perfectly details the entire AWS environment, security group boundaries, and gateways.</a:t>
                      </a:r>
                      <a:endParaRPr sz="1800"/>
                    </a:p>
                    <a:p>
                      <a:pPr indent="0" lvl="0" marL="0" marR="0" rtl="0" algn="l">
                        <a:spcBef>
                          <a:spcPts val="0"/>
                        </a:spcBef>
                        <a:spcAft>
                          <a:spcPts val="0"/>
                        </a:spcAft>
                        <a:buClr>
                          <a:schemeClr val="dk1"/>
                        </a:buClr>
                        <a:buSzPts val="1800"/>
                        <a:buFont typeface="Arial"/>
                        <a:buNone/>
                      </a:pPr>
                      <a:r>
                        <a:t/>
                      </a:r>
                      <a:endParaRPr sz="1800"/>
                    </a:p>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A highly detailed visual mapping of the functional data journey. Flawlessly illustrates how requests progress through the load balancer, application, and database transactions.</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Open Sans"/>
                        <a:ea typeface="Open Sans"/>
                        <a:cs typeface="Open Sans"/>
                        <a:sym typeface="Open Sans"/>
                      </a:endParaRPr>
                    </a:p>
                  </a:txBody>
                  <a:tcPr marT="0" marB="0" marR="44000" marL="44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50250">
                <a:tc>
                  <a:txBody>
                    <a:bodyPr/>
                    <a:lstStyle/>
                    <a:p>
                      <a:pPr indent="0" lvl="0" marL="0" marR="0" rtl="0" algn="l">
                        <a:spcBef>
                          <a:spcPts val="0"/>
                        </a:spcBef>
                        <a:spcAft>
                          <a:spcPts val="0"/>
                        </a:spcAft>
                        <a:buClr>
                          <a:srgbClr val="000000"/>
                        </a:buClr>
                        <a:buSzPts val="1200"/>
                        <a:buFont typeface="Times New Roman"/>
                        <a:buNone/>
                      </a:pPr>
                      <a:r>
                        <a:rPr b="1" i="0" lang="en-US" sz="1200" u="none" strike="noStrike">
                          <a:solidFill>
                            <a:srgbClr val="000000"/>
                          </a:solidFill>
                          <a:latin typeface="Times New Roman"/>
                          <a:ea typeface="Times New Roman"/>
                          <a:cs typeface="Times New Roman"/>
                          <a:sym typeface="Times New Roman"/>
                        </a:rPr>
                        <a:t>Functional</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BEEF4"/>
                    </a:solidFill>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The booking platform is non-functional. Users cannot view slots/events or make reservations, and database operations fail completely.</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The website loads, but core booking components are broken. Database connections are unstable, or errors occur during data submission.</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The booking platform is functional. Users can browse events and book tickets successfully, though minor UI/UX bugs or validation errors exist.</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The application is fully operational and seamless. Users can flawlessly browse events, select quantities, complete bookings, and verify data updates in the database.</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Open Sans"/>
                        <a:ea typeface="Open Sans"/>
                        <a:cs typeface="Open Sans"/>
                        <a:sym typeface="Open Sans"/>
                      </a:endParaRPr>
                    </a:p>
                  </a:txBody>
                  <a:tcPr marT="0" marB="0" marR="44000" marL="44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p:nvPr/>
        </p:nvSpPr>
        <p:spPr>
          <a:xfrm>
            <a:off x="542904" y="166995"/>
            <a:ext cx="8540136" cy="69241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u="sng" cap="none" strike="noStrike">
                <a:solidFill>
                  <a:schemeClr val="dk1"/>
                </a:solidFill>
                <a:latin typeface="Times New Roman"/>
                <a:ea typeface="Times New Roman"/>
                <a:cs typeface="Times New Roman"/>
                <a:sym typeface="Times New Roman"/>
              </a:rPr>
              <a:t>Assignment Rubrics (cont.)</a:t>
            </a:r>
            <a:endParaRPr b="1" i="0" sz="16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1600" u="none" cap="none" strike="noStrike">
                <a:solidFill>
                  <a:schemeClr val="dk1"/>
                </a:solidFill>
                <a:latin typeface="Times New Roman"/>
                <a:ea typeface="Times New Roman"/>
                <a:cs typeface="Times New Roman"/>
                <a:sym typeface="Times New Roman"/>
              </a:rPr>
              <a:t>Part 1: Reporting and Documentation (70 marks)</a:t>
            </a:r>
            <a:endParaRPr b="1" i="0" sz="1600" u="none" cap="none" strike="noStrike">
              <a:solidFill>
                <a:schemeClr val="dk1"/>
              </a:solidFill>
              <a:latin typeface="Times New Roman"/>
              <a:ea typeface="Times New Roman"/>
              <a:cs typeface="Times New Roman"/>
              <a:sym typeface="Times New Roman"/>
            </a:endParaRPr>
          </a:p>
        </p:txBody>
      </p:sp>
      <p:graphicFrame>
        <p:nvGraphicFramePr>
          <p:cNvPr id="144" name="Google Shape;144;p22"/>
          <p:cNvGraphicFramePr/>
          <p:nvPr/>
        </p:nvGraphicFramePr>
        <p:xfrm>
          <a:off x="542904" y="859414"/>
          <a:ext cx="3000000" cy="3000000"/>
        </p:xfrm>
        <a:graphic>
          <a:graphicData uri="http://schemas.openxmlformats.org/drawingml/2006/table">
            <a:tbl>
              <a:tblPr>
                <a:noFill/>
                <a:tableStyleId>{307B5169-7584-414E-A548-C0B6C2D1D264}</a:tableStyleId>
              </a:tblPr>
              <a:tblGrid>
                <a:gridCol w="1553525"/>
                <a:gridCol w="1940300"/>
                <a:gridCol w="2369075"/>
                <a:gridCol w="1954300"/>
                <a:gridCol w="1954300"/>
                <a:gridCol w="1316725"/>
              </a:tblGrid>
              <a:tr h="409625">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Criteria</a:t>
                      </a:r>
                      <a:endParaRPr b="0" i="0" sz="1000" u="none" cap="none" strike="noStrike">
                        <a:solidFill>
                          <a:schemeClr val="dk1"/>
                        </a:solidFill>
                        <a:latin typeface="Times New Roman"/>
                        <a:ea typeface="Times New Roman"/>
                        <a:cs typeface="Times New Roman"/>
                        <a:sym typeface="Times New Roman"/>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Unsatisfactory</a:t>
                      </a:r>
                      <a:endParaRPr/>
                    </a:p>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  (1-3)</a:t>
                      </a:r>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Needs Improvement</a:t>
                      </a:r>
                      <a:endParaRPr b="0" i="0" sz="1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  (4-5)</a:t>
                      </a:r>
                      <a:endParaRPr b="0" i="0" sz="1000" u="none" cap="none" strike="noStrike">
                        <a:solidFill>
                          <a:schemeClr val="dk1"/>
                        </a:solidFill>
                        <a:latin typeface="Times New Roman"/>
                        <a:ea typeface="Times New Roman"/>
                        <a:cs typeface="Times New Roman"/>
                        <a:sym typeface="Times New Roman"/>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Good</a:t>
                      </a:r>
                      <a:endParaRPr b="0" i="0" sz="1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 (6-8)</a:t>
                      </a:r>
                      <a:endParaRPr b="0" i="0" sz="1000" u="none" cap="none" strike="noStrike">
                        <a:solidFill>
                          <a:schemeClr val="dk1"/>
                        </a:solidFill>
                        <a:latin typeface="Times New Roman"/>
                        <a:ea typeface="Times New Roman"/>
                        <a:cs typeface="Times New Roman"/>
                        <a:sym typeface="Times New Roman"/>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Excellent</a:t>
                      </a:r>
                      <a:endParaRPr b="0" i="0" sz="1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(9-10)</a:t>
                      </a:r>
                      <a:endParaRPr b="0" i="0" sz="1000" u="none" cap="none" strike="noStrike">
                        <a:solidFill>
                          <a:schemeClr val="dk1"/>
                        </a:solidFill>
                        <a:latin typeface="Times New Roman"/>
                        <a:ea typeface="Times New Roman"/>
                        <a:cs typeface="Times New Roman"/>
                        <a:sym typeface="Times New Roman"/>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Mark</a:t>
                      </a:r>
                      <a:endParaRPr b="0" i="0" sz="1000" u="none" cap="none" strike="noStrike">
                        <a:solidFill>
                          <a:schemeClr val="dk1"/>
                        </a:solidFill>
                        <a:latin typeface="Times New Roman"/>
                        <a:ea typeface="Times New Roman"/>
                        <a:cs typeface="Times New Roman"/>
                        <a:sym typeface="Times New Roman"/>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r>
              <a:tr h="2560725">
                <a:tc>
                  <a:txBody>
                    <a:bodyPr/>
                    <a:lstStyle/>
                    <a:p>
                      <a:pPr indent="0" lvl="0" marL="0" marR="0" rtl="0" algn="l">
                        <a:spcBef>
                          <a:spcPts val="0"/>
                        </a:spcBef>
                        <a:spcAft>
                          <a:spcPts val="0"/>
                        </a:spcAft>
                        <a:buClr>
                          <a:srgbClr val="000000"/>
                        </a:buClr>
                        <a:buSzPts val="1200"/>
                        <a:buFont typeface="Times New Roman"/>
                        <a:buNone/>
                      </a:pPr>
                      <a:r>
                        <a:rPr b="1" i="0" lang="en-US" sz="1200" u="none" strike="noStrike">
                          <a:solidFill>
                            <a:srgbClr val="000000"/>
                          </a:solidFill>
                          <a:latin typeface="Times New Roman"/>
                          <a:ea typeface="Times New Roman"/>
                          <a:cs typeface="Times New Roman"/>
                          <a:sym typeface="Times New Roman"/>
                        </a:rPr>
                        <a:t>Secure</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BEEF4"/>
                    </a:solidFill>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Security is ignored. The database is exposed to the public internet, or Security Groups are wide open (0.0.0.0/0) across all ports.</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A VPC is present, but resources are misplaced (e.g., database sits in a public subnet). Security groups are overly permissive.</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Network segregation is mostly correct. The database sits in a private subnet, and Security Groups restrict basic traffic with minor rule optimization gaps.</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Exemplary security implementation. Custom VPC has isolated public and private subnets. Both the EC2 application instances and the RDS database are strictly isolated within private subnets. Public access is restricted entirely to the Application Load Balancer, which demonstrates proper request handling by securely routing internet traffic to the private application tier. Security Groups act as tight, least-privilege firewalls.</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Open Sans"/>
                        <a:ea typeface="Open Sans"/>
                        <a:cs typeface="Open Sans"/>
                        <a:sym typeface="Open Sans"/>
                      </a:endParaRPr>
                    </a:p>
                  </a:txBody>
                  <a:tcPr marT="0" marB="0" marR="44000" marL="44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12500">
                <a:tc>
                  <a:txBody>
                    <a:bodyPr/>
                    <a:lstStyle/>
                    <a:p>
                      <a:pPr indent="0" lvl="0" marL="0" marR="0" rtl="0" algn="l">
                        <a:spcBef>
                          <a:spcPts val="0"/>
                        </a:spcBef>
                        <a:spcAft>
                          <a:spcPts val="0"/>
                        </a:spcAft>
                        <a:buClr>
                          <a:srgbClr val="000000"/>
                        </a:buClr>
                        <a:buSzPts val="1200"/>
                        <a:buFont typeface="Times New Roman"/>
                        <a:buNone/>
                      </a:pPr>
                      <a:r>
                        <a:rPr b="1" i="0" lang="en-US" sz="1200" u="none" strike="noStrike">
                          <a:solidFill>
                            <a:srgbClr val="000000"/>
                          </a:solidFill>
                          <a:latin typeface="Times New Roman"/>
                          <a:ea typeface="Times New Roman"/>
                          <a:cs typeface="Times New Roman"/>
                          <a:sym typeface="Times New Roman"/>
                        </a:rPr>
                        <a:t>Cost Optimized</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BEEF4"/>
                    </a:solidFill>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Cost report is missing or completely inaccurate. Overpriced or unnecessary enterprise-grade AWS resources are chosen without consideration of the lab budget.</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Cost estimation is provided but lacks detail or calculation structure. Resource choices are poorly justified or slightly push the budget limits.</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A complete AWS Pricing Calculator report is included with approximate estimations. Resource choices (EC2/RDS sizing) are reasonably justified for a POC.</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Provides a highly comprehensive, exported AWS Pricing Calculator report. Resource sizing is expertly optimized for a budget-conscious POC with strong written justifications.</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Open Sans"/>
                        <a:ea typeface="Open Sans"/>
                        <a:cs typeface="Open Sans"/>
                        <a:sym typeface="Open Sans"/>
                      </a:endParaRPr>
                    </a:p>
                  </a:txBody>
                  <a:tcPr marT="0" marB="0" marR="44000" marL="44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p:nvPr/>
        </p:nvSpPr>
        <p:spPr>
          <a:xfrm>
            <a:off x="542904" y="166995"/>
            <a:ext cx="8540136" cy="69241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u="sng" cap="none" strike="noStrike">
                <a:solidFill>
                  <a:schemeClr val="dk1"/>
                </a:solidFill>
                <a:latin typeface="Times New Roman"/>
                <a:ea typeface="Times New Roman"/>
                <a:cs typeface="Times New Roman"/>
                <a:sym typeface="Times New Roman"/>
              </a:rPr>
              <a:t>Assignment Rubrics (cont.)</a:t>
            </a:r>
            <a:endParaRPr b="1" i="0" sz="16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1600" u="none" cap="none" strike="noStrike">
                <a:solidFill>
                  <a:schemeClr val="dk1"/>
                </a:solidFill>
                <a:latin typeface="Times New Roman"/>
                <a:ea typeface="Times New Roman"/>
                <a:cs typeface="Times New Roman"/>
                <a:sym typeface="Times New Roman"/>
              </a:rPr>
              <a:t>Part 1: Reporting and Documentation (70 marks)</a:t>
            </a:r>
            <a:endParaRPr b="1" i="0" sz="1600" u="none" cap="none" strike="noStrike">
              <a:solidFill>
                <a:schemeClr val="dk1"/>
              </a:solidFill>
              <a:latin typeface="Times New Roman"/>
              <a:ea typeface="Times New Roman"/>
              <a:cs typeface="Times New Roman"/>
              <a:sym typeface="Times New Roman"/>
            </a:endParaRPr>
          </a:p>
        </p:txBody>
      </p:sp>
      <p:graphicFrame>
        <p:nvGraphicFramePr>
          <p:cNvPr id="150" name="Google Shape;150;p23"/>
          <p:cNvGraphicFramePr/>
          <p:nvPr/>
        </p:nvGraphicFramePr>
        <p:xfrm>
          <a:off x="542904" y="859414"/>
          <a:ext cx="3000000" cy="3000000"/>
        </p:xfrm>
        <a:graphic>
          <a:graphicData uri="http://schemas.openxmlformats.org/drawingml/2006/table">
            <a:tbl>
              <a:tblPr>
                <a:noFill/>
                <a:tableStyleId>{307B5169-7584-414E-A548-C0B6C2D1D264}</a:tableStyleId>
              </a:tblPr>
              <a:tblGrid>
                <a:gridCol w="1553525"/>
                <a:gridCol w="1940300"/>
                <a:gridCol w="2369075"/>
                <a:gridCol w="1954300"/>
                <a:gridCol w="1954300"/>
                <a:gridCol w="1316725"/>
              </a:tblGrid>
              <a:tr h="409625">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Criteria</a:t>
                      </a:r>
                      <a:endParaRPr b="0" i="0" sz="1000" u="none" cap="none" strike="noStrike">
                        <a:solidFill>
                          <a:schemeClr val="dk1"/>
                        </a:solidFill>
                        <a:latin typeface="Times New Roman"/>
                        <a:ea typeface="Times New Roman"/>
                        <a:cs typeface="Times New Roman"/>
                        <a:sym typeface="Times New Roman"/>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Unsatisfactory</a:t>
                      </a:r>
                      <a:endParaRPr/>
                    </a:p>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  (1-3)</a:t>
                      </a:r>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Needs Improvement</a:t>
                      </a:r>
                      <a:endParaRPr b="0" i="0" sz="1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  (4-5)</a:t>
                      </a:r>
                      <a:endParaRPr b="0" i="0" sz="1000" u="none" cap="none" strike="noStrike">
                        <a:solidFill>
                          <a:schemeClr val="dk1"/>
                        </a:solidFill>
                        <a:latin typeface="Times New Roman"/>
                        <a:ea typeface="Times New Roman"/>
                        <a:cs typeface="Times New Roman"/>
                        <a:sym typeface="Times New Roman"/>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Good</a:t>
                      </a:r>
                      <a:endParaRPr b="0" i="0" sz="1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 (6-8)</a:t>
                      </a:r>
                      <a:endParaRPr b="0" i="0" sz="1000" u="none" cap="none" strike="noStrike">
                        <a:solidFill>
                          <a:schemeClr val="dk1"/>
                        </a:solidFill>
                        <a:latin typeface="Times New Roman"/>
                        <a:ea typeface="Times New Roman"/>
                        <a:cs typeface="Times New Roman"/>
                        <a:sym typeface="Times New Roman"/>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Excellent</a:t>
                      </a:r>
                      <a:endParaRPr b="0" i="0" sz="1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(9-10)</a:t>
                      </a:r>
                      <a:endParaRPr b="0" i="0" sz="1000" u="none" cap="none" strike="noStrike">
                        <a:solidFill>
                          <a:schemeClr val="dk1"/>
                        </a:solidFill>
                        <a:latin typeface="Times New Roman"/>
                        <a:ea typeface="Times New Roman"/>
                        <a:cs typeface="Times New Roman"/>
                        <a:sym typeface="Times New Roman"/>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Mark</a:t>
                      </a:r>
                      <a:endParaRPr b="0" i="0" sz="1000" u="none" cap="none" strike="noStrike">
                        <a:solidFill>
                          <a:schemeClr val="dk1"/>
                        </a:solidFill>
                        <a:latin typeface="Times New Roman"/>
                        <a:ea typeface="Times New Roman"/>
                        <a:cs typeface="Times New Roman"/>
                        <a:sym typeface="Times New Roman"/>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r>
              <a:tr h="2560725">
                <a:tc>
                  <a:txBody>
                    <a:bodyPr/>
                    <a:lstStyle/>
                    <a:p>
                      <a:pPr indent="0" lvl="0" marL="0" marR="0" rtl="0" algn="l">
                        <a:spcBef>
                          <a:spcPts val="0"/>
                        </a:spcBef>
                        <a:spcAft>
                          <a:spcPts val="0"/>
                        </a:spcAft>
                        <a:buClr>
                          <a:srgbClr val="000000"/>
                        </a:buClr>
                        <a:buSzPts val="1200"/>
                        <a:buFont typeface="Times New Roman"/>
                        <a:buNone/>
                      </a:pPr>
                      <a:r>
                        <a:rPr b="1" i="0" lang="en-US" sz="1200" u="none" strike="noStrike">
                          <a:solidFill>
                            <a:srgbClr val="000000"/>
                          </a:solidFill>
                          <a:latin typeface="Times New Roman"/>
                          <a:ea typeface="Times New Roman"/>
                          <a:cs typeface="Times New Roman"/>
                          <a:sym typeface="Times New Roman"/>
                        </a:rPr>
                        <a:t>High Performing</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BEEF4"/>
                    </a:solidFill>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No stress or load testing was conducted. The application crashes immediately or becomes completely unresponsive under minimal traffic.</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Load testing was attempted, but results are missing analysis or screenshots. The application experiences severe latency or errors under mild simulation.</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Stress testing was successfully executed using a simulation tool. The system remains stable with acceptable response times, backed by performance screenshots.</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Outstanding performance validation. Comprehensive stress testing data and clear metric screenshots prove the platform remains fast, stable, and resilient under a heavy simulated user surge.</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Open Sans"/>
                        <a:ea typeface="Open Sans"/>
                        <a:cs typeface="Open Sans"/>
                        <a:sym typeface="Open Sans"/>
                      </a:endParaRPr>
                    </a:p>
                  </a:txBody>
                  <a:tcPr marT="0" marB="0" marR="44000" marL="44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50250">
                <a:tc>
                  <a:txBody>
                    <a:bodyPr/>
                    <a:lstStyle/>
                    <a:p>
                      <a:pPr indent="0" lvl="0" marL="0" marR="0" rtl="0" algn="l">
                        <a:spcBef>
                          <a:spcPts val="0"/>
                        </a:spcBef>
                        <a:spcAft>
                          <a:spcPts val="0"/>
                        </a:spcAft>
                        <a:buClr>
                          <a:srgbClr val="000000"/>
                        </a:buClr>
                        <a:buSzPts val="1200"/>
                        <a:buFont typeface="Times New Roman"/>
                        <a:buNone/>
                      </a:pPr>
                      <a:r>
                        <a:rPr b="1" i="0" lang="en-US" sz="1200" u="none" strike="noStrike">
                          <a:solidFill>
                            <a:srgbClr val="000000"/>
                          </a:solidFill>
                          <a:latin typeface="Times New Roman"/>
                          <a:ea typeface="Times New Roman"/>
                          <a:cs typeface="Times New Roman"/>
                          <a:sym typeface="Times New Roman"/>
                        </a:rPr>
                        <a:t>Scalability</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BEEF4"/>
                    </a:solidFill>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Automatic scaling wasn't implemented at the application layer, leaving the system vulnerable to crashes under high load.</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Automatic scaling was implemented at the application layer. However, scaling was significantly delayed or failed to trigger during peak traffic periods.</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Automatic scaling was implemented at the application layer, but the configuration could be improved by adjusting the scaling policies, tracking metrics, or minimum/maximum capacities.</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The automatic scaling configuration was optimal, staying strictly within the defined scaling range without hitting the maximum limit frequently. The application layer scaled in and out dynamically and in a timely manner according to live application demand.</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Open Sans"/>
                        <a:ea typeface="Open Sans"/>
                        <a:cs typeface="Open Sans"/>
                        <a:sym typeface="Open Sans"/>
                      </a:endParaRPr>
                    </a:p>
                  </a:txBody>
                  <a:tcPr marT="0" marB="0" marR="44000" marL="44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4"/>
          <p:cNvSpPr/>
          <p:nvPr/>
        </p:nvSpPr>
        <p:spPr>
          <a:xfrm>
            <a:off x="542904" y="166995"/>
            <a:ext cx="8540136" cy="69241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u="sng" cap="none" strike="noStrike">
                <a:solidFill>
                  <a:schemeClr val="dk1"/>
                </a:solidFill>
                <a:latin typeface="Times New Roman"/>
                <a:ea typeface="Times New Roman"/>
                <a:cs typeface="Times New Roman"/>
                <a:sym typeface="Times New Roman"/>
              </a:rPr>
              <a:t>Assignment Rubrics (cont.)</a:t>
            </a:r>
            <a:endParaRPr b="1" i="0" sz="16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1600" u="none" cap="none" strike="noStrike">
                <a:solidFill>
                  <a:schemeClr val="dk1"/>
                </a:solidFill>
                <a:latin typeface="Times New Roman"/>
                <a:ea typeface="Times New Roman"/>
                <a:cs typeface="Times New Roman"/>
                <a:sym typeface="Times New Roman"/>
              </a:rPr>
              <a:t>Part 1: Reporting and Documentation (70 marks)</a:t>
            </a:r>
            <a:endParaRPr b="1" i="0" sz="1600" u="none" cap="none" strike="noStrike">
              <a:solidFill>
                <a:schemeClr val="dk1"/>
              </a:solidFill>
              <a:latin typeface="Times New Roman"/>
              <a:ea typeface="Times New Roman"/>
              <a:cs typeface="Times New Roman"/>
              <a:sym typeface="Times New Roman"/>
            </a:endParaRPr>
          </a:p>
        </p:txBody>
      </p:sp>
      <p:graphicFrame>
        <p:nvGraphicFramePr>
          <p:cNvPr id="156" name="Google Shape;156;p24"/>
          <p:cNvGraphicFramePr/>
          <p:nvPr/>
        </p:nvGraphicFramePr>
        <p:xfrm>
          <a:off x="542904" y="859415"/>
          <a:ext cx="3000000" cy="3000000"/>
        </p:xfrm>
        <a:graphic>
          <a:graphicData uri="http://schemas.openxmlformats.org/drawingml/2006/table">
            <a:tbl>
              <a:tblPr>
                <a:noFill/>
                <a:tableStyleId>{307B5169-7584-414E-A548-C0B6C2D1D264}</a:tableStyleId>
              </a:tblPr>
              <a:tblGrid>
                <a:gridCol w="1553525"/>
                <a:gridCol w="1940300"/>
                <a:gridCol w="2369075"/>
                <a:gridCol w="1954300"/>
                <a:gridCol w="1954300"/>
                <a:gridCol w="1316725"/>
              </a:tblGrid>
              <a:tr h="258650">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Criteria</a:t>
                      </a:r>
                      <a:endParaRPr b="0" i="0" sz="1000" u="none" cap="none" strike="noStrike">
                        <a:solidFill>
                          <a:schemeClr val="dk1"/>
                        </a:solidFill>
                        <a:latin typeface="Times New Roman"/>
                        <a:ea typeface="Times New Roman"/>
                        <a:cs typeface="Times New Roman"/>
                        <a:sym typeface="Times New Roman"/>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Unsatisfactory</a:t>
                      </a:r>
                      <a:endParaRPr/>
                    </a:p>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  (1-3)</a:t>
                      </a:r>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Needs Improvement</a:t>
                      </a:r>
                      <a:endParaRPr b="0" i="0" sz="1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  (4-5)</a:t>
                      </a:r>
                      <a:endParaRPr b="0" i="0" sz="1000" u="none" cap="none" strike="noStrike">
                        <a:solidFill>
                          <a:schemeClr val="dk1"/>
                        </a:solidFill>
                        <a:latin typeface="Times New Roman"/>
                        <a:ea typeface="Times New Roman"/>
                        <a:cs typeface="Times New Roman"/>
                        <a:sym typeface="Times New Roman"/>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Good</a:t>
                      </a:r>
                      <a:endParaRPr b="0" i="0" sz="1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 (6-8)</a:t>
                      </a:r>
                      <a:endParaRPr b="0" i="0" sz="1000" u="none" cap="none" strike="noStrike">
                        <a:solidFill>
                          <a:schemeClr val="dk1"/>
                        </a:solidFill>
                        <a:latin typeface="Times New Roman"/>
                        <a:ea typeface="Times New Roman"/>
                        <a:cs typeface="Times New Roman"/>
                        <a:sym typeface="Times New Roman"/>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Excellent</a:t>
                      </a:r>
                      <a:endParaRPr b="0" i="0" sz="1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(9-10)</a:t>
                      </a:r>
                      <a:endParaRPr b="0" i="0" sz="1000" u="none" cap="none" strike="noStrike">
                        <a:solidFill>
                          <a:schemeClr val="dk1"/>
                        </a:solidFill>
                        <a:latin typeface="Times New Roman"/>
                        <a:ea typeface="Times New Roman"/>
                        <a:cs typeface="Times New Roman"/>
                        <a:sym typeface="Times New Roman"/>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1000"/>
                        <a:buFont typeface="Times New Roman"/>
                        <a:buNone/>
                      </a:pPr>
                      <a:r>
                        <a:rPr b="1" i="0" lang="en-US" sz="1000" u="none" cap="none" strike="noStrike">
                          <a:solidFill>
                            <a:srgbClr val="000000"/>
                          </a:solidFill>
                          <a:latin typeface="Times New Roman"/>
                          <a:ea typeface="Times New Roman"/>
                          <a:cs typeface="Times New Roman"/>
                          <a:sym typeface="Times New Roman"/>
                        </a:rPr>
                        <a:t>Mark</a:t>
                      </a:r>
                      <a:endParaRPr b="0" i="0" sz="1000" u="none" cap="none" strike="noStrike">
                        <a:solidFill>
                          <a:schemeClr val="dk1"/>
                        </a:solidFill>
                        <a:latin typeface="Times New Roman"/>
                        <a:ea typeface="Times New Roman"/>
                        <a:cs typeface="Times New Roman"/>
                        <a:sym typeface="Times New Roman"/>
                      </a:endParaRPr>
                    </a:p>
                  </a:txBody>
                  <a:tcPr marT="0" marB="0" marR="44000" marL="44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2"/>
                    </a:solidFill>
                  </a:tcPr>
                </a:tc>
              </a:tr>
              <a:tr h="1616875">
                <a:tc>
                  <a:txBody>
                    <a:bodyPr/>
                    <a:lstStyle/>
                    <a:p>
                      <a:pPr indent="0" lvl="0" marL="0" marR="0" rtl="0" algn="l">
                        <a:spcBef>
                          <a:spcPts val="0"/>
                        </a:spcBef>
                        <a:spcAft>
                          <a:spcPts val="0"/>
                        </a:spcAft>
                        <a:buClr>
                          <a:srgbClr val="000000"/>
                        </a:buClr>
                        <a:buSzPts val="1200"/>
                        <a:buFont typeface="Times New Roman"/>
                        <a:buNone/>
                      </a:pPr>
                      <a:r>
                        <a:rPr b="1" i="0" lang="en-US" sz="1200" u="none" strike="noStrike">
                          <a:solidFill>
                            <a:srgbClr val="000000"/>
                          </a:solidFill>
                          <a:latin typeface="Times New Roman"/>
                          <a:ea typeface="Times New Roman"/>
                          <a:cs typeface="Times New Roman"/>
                          <a:sym typeface="Times New Roman"/>
                        </a:rPr>
                        <a:t>Load Balanced</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BEEF4"/>
                    </a:solidFill>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Load balancing wasn't implemented. Traffic hits a single instance directly, creating a single point of failure.</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Load balancing was implemented partially. Application traffic was directed to a single Availability Zone instead of utilizing multiple Availability Zones.</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Application traffic was distributed across multiple Availability Zones, but configuration gaps caused instances to carry a variable or uneven load.</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Times New Roman"/>
                        <a:buNone/>
                      </a:pPr>
                      <a:r>
                        <a:rPr b="0" i="0" lang="en-US" sz="1200" u="none" strike="noStrike">
                          <a:solidFill>
                            <a:srgbClr val="000000"/>
                          </a:solidFill>
                          <a:latin typeface="Times New Roman"/>
                          <a:ea typeface="Times New Roman"/>
                          <a:cs typeface="Times New Roman"/>
                          <a:sym typeface="Times New Roman"/>
                        </a:rPr>
                        <a:t>The application traffic was distributed evenly across multiple Availability Zones and across the instances within those zones. All backend instances were evenly loaded, managing peak user traffic seamlessly without performance degradation.</a:t>
                      </a: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Arial"/>
                        <a:buNone/>
                      </a:pPr>
                      <a:br>
                        <a:rPr lang="en-US" sz="1800"/>
                      </a:br>
                      <a:endParaRPr sz="1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47125">
                <a:tc gridSpan="5">
                  <a:txBody>
                    <a:bodyPr/>
                    <a:lstStyle/>
                    <a:p>
                      <a:pPr indent="0" lvl="0" marL="0" marR="0" rtl="0" algn="r">
                        <a:spcBef>
                          <a:spcPts val="0"/>
                        </a:spcBef>
                        <a:spcAft>
                          <a:spcPts val="0"/>
                        </a:spcAft>
                        <a:buClr>
                          <a:srgbClr val="000000"/>
                        </a:buClr>
                        <a:buSzPts val="1200"/>
                        <a:buFont typeface="Times New Roman"/>
                        <a:buNone/>
                      </a:pPr>
                      <a:r>
                        <a:rPr b="1" i="0" lang="en-US" sz="1200" u="none" strike="noStrike">
                          <a:solidFill>
                            <a:srgbClr val="000000"/>
                          </a:solidFill>
                          <a:latin typeface="Times New Roman"/>
                          <a:ea typeface="Times New Roman"/>
                          <a:cs typeface="Times New Roman"/>
                          <a:sym typeface="Times New Roman"/>
                        </a:rPr>
                        <a:t>Subtotal (Part 1)</a:t>
                      </a:r>
                      <a:endParaRPr sz="1800"/>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BEEF4"/>
                    </a:solidFill>
                  </a:tcPr>
                </a:tc>
                <a:tc hMerge="1"/>
                <a:tc hMerge="1"/>
                <a:tc hMerge="1"/>
                <a:tc hMerge="1"/>
                <a:tc>
                  <a:txBody>
                    <a:bodyPr/>
                    <a:lstStyle/>
                    <a:p>
                      <a:pPr indent="0" lvl="0" marL="0" marR="0" rtl="0" algn="l">
                        <a:spcBef>
                          <a:spcPts val="0"/>
                        </a:spcBef>
                        <a:spcAft>
                          <a:spcPts val="0"/>
                        </a:spcAft>
                        <a:buClr>
                          <a:schemeClr val="dk1"/>
                        </a:buClr>
                        <a:buSzPts val="1800"/>
                        <a:buFont typeface="Arial"/>
                        <a:buNone/>
                      </a:pPr>
                      <a:br>
                        <a:rPr lang="en-US" sz="1800"/>
                      </a:br>
                      <a:endParaRPr sz="1800"/>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5"/>
          <p:cNvSpPr/>
          <p:nvPr/>
        </p:nvSpPr>
        <p:spPr>
          <a:xfrm>
            <a:off x="542904" y="166995"/>
            <a:ext cx="6900767" cy="69241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b="1" i="0" sz="1539" u="none" cap="none" strike="noStrike">
              <a:solidFill>
                <a:srgbClr val="222E3D"/>
              </a:solidFill>
              <a:latin typeface="Trebuchet MS"/>
              <a:ea typeface="Trebuchet MS"/>
              <a:cs typeface="Trebuchet MS"/>
              <a:sym typeface="Trebuchet MS"/>
            </a:endParaRPr>
          </a:p>
        </p:txBody>
      </p:sp>
      <p:sp>
        <p:nvSpPr>
          <p:cNvPr id="162" name="Google Shape;162;p25"/>
          <p:cNvSpPr/>
          <p:nvPr/>
        </p:nvSpPr>
        <p:spPr>
          <a:xfrm>
            <a:off x="1523570" y="630814"/>
            <a:ext cx="12192000" cy="457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aphicFrame>
        <p:nvGraphicFramePr>
          <p:cNvPr id="163" name="Google Shape;163;p25"/>
          <p:cNvGraphicFramePr/>
          <p:nvPr/>
        </p:nvGraphicFramePr>
        <p:xfrm>
          <a:off x="542904" y="859414"/>
          <a:ext cx="3000000" cy="3000000"/>
        </p:xfrm>
        <a:graphic>
          <a:graphicData uri="http://schemas.openxmlformats.org/drawingml/2006/table">
            <a:tbl>
              <a:tblPr>
                <a:noFill/>
                <a:tableStyleId>{307B5169-7584-414E-A548-C0B6C2D1D264}</a:tableStyleId>
              </a:tblPr>
              <a:tblGrid>
                <a:gridCol w="1461350"/>
                <a:gridCol w="2099400"/>
                <a:gridCol w="2509025"/>
                <a:gridCol w="2542475"/>
                <a:gridCol w="2520175"/>
              </a:tblGrid>
              <a:tr h="489875">
                <a:tc gridSpan="2" rowSpan="2">
                  <a:txBody>
                    <a:bodyPr/>
                    <a:lstStyle/>
                    <a:p>
                      <a:pPr indent="0" lvl="0" marL="0" marR="0" rtl="0" algn="ctr">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Criteria</a:t>
                      </a:r>
                      <a:endParaRPr sz="2000"/>
                    </a:p>
                  </a:txBody>
                  <a:tcPr marT="55625" marB="55625" marR="55625" marL="55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FE2F3"/>
                    </a:solidFill>
                  </a:tcPr>
                </a:tc>
                <a:tc rowSpan="2" hMerge="1"/>
                <a:tc gridSpan="3">
                  <a:txBody>
                    <a:bodyPr/>
                    <a:lstStyle/>
                    <a:p>
                      <a:pPr indent="0" lvl="0" marL="0" marR="0" rtl="0" algn="ctr">
                        <a:spcBef>
                          <a:spcPts val="0"/>
                        </a:spcBef>
                        <a:spcAft>
                          <a:spcPts val="0"/>
                        </a:spcAft>
                        <a:buClr>
                          <a:srgbClr val="000000"/>
                        </a:buClr>
                        <a:buSzPts val="1200"/>
                        <a:buFont typeface="Times New Roman"/>
                        <a:buNone/>
                      </a:pPr>
                      <a:r>
                        <a:rPr b="1" i="0" lang="en-US" sz="1200" u="none" strike="noStrike">
                          <a:solidFill>
                            <a:srgbClr val="000000"/>
                          </a:solidFill>
                          <a:latin typeface="Times New Roman"/>
                          <a:ea typeface="Times New Roman"/>
                          <a:cs typeface="Times New Roman"/>
                          <a:sym typeface="Times New Roman"/>
                        </a:rPr>
                        <a:t>Student Name (Block Capital)</a:t>
                      </a:r>
                      <a:endParaRPr sz="1800"/>
                    </a:p>
                  </a:txBody>
                  <a:tcPr marT="55625" marB="55625" marR="55625" marL="55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FEFEF"/>
                    </a:solidFill>
                  </a:tcPr>
                </a:tc>
                <a:tc hMerge="1"/>
                <a:tc hMerge="1"/>
              </a:tr>
              <a:tr h="626275">
                <a:tc gridSpan="2" vMerge="1"/>
                <a:tc hMerge="1" vMerge="1"/>
                <a:tc>
                  <a:txBody>
                    <a:bodyPr/>
                    <a:lstStyle/>
                    <a:p>
                      <a:pPr indent="0" lvl="0" marL="0" marR="0" rtl="0" algn="l">
                        <a:spcBef>
                          <a:spcPts val="0"/>
                        </a:spcBef>
                        <a:spcAft>
                          <a:spcPts val="0"/>
                        </a:spcAft>
                        <a:buClr>
                          <a:schemeClr val="dk1"/>
                        </a:buClr>
                        <a:buSzPts val="1800"/>
                        <a:buFont typeface="Arial"/>
                        <a:buNone/>
                      </a:pPr>
                      <a:r>
                        <a:t/>
                      </a:r>
                      <a:endParaRPr sz="1800"/>
                    </a:p>
                  </a:txBody>
                  <a:tcPr marT="55625" marB="55625" marR="55625" marL="55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FEFEF"/>
                    </a:solidFill>
                  </a:tcPr>
                </a:tc>
                <a:tc>
                  <a:txBody>
                    <a:bodyPr/>
                    <a:lstStyle/>
                    <a:p>
                      <a:pPr indent="0" lvl="0" marL="0" marR="0" rtl="0" algn="l">
                        <a:spcBef>
                          <a:spcPts val="0"/>
                        </a:spcBef>
                        <a:spcAft>
                          <a:spcPts val="0"/>
                        </a:spcAft>
                        <a:buClr>
                          <a:schemeClr val="dk1"/>
                        </a:buClr>
                        <a:buSzPts val="1800"/>
                        <a:buFont typeface="Arial"/>
                        <a:buNone/>
                      </a:pPr>
                      <a:r>
                        <a:t/>
                      </a:r>
                      <a:endParaRPr sz="1800"/>
                    </a:p>
                  </a:txBody>
                  <a:tcPr marT="55625" marB="55625" marR="55625" marL="55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FEFEF"/>
                    </a:solidFill>
                  </a:tcPr>
                </a:tc>
                <a:tc>
                  <a:txBody>
                    <a:bodyPr/>
                    <a:lstStyle/>
                    <a:p>
                      <a:pPr indent="0" lvl="0" marL="0" marR="0" rtl="0" algn="l">
                        <a:spcBef>
                          <a:spcPts val="0"/>
                        </a:spcBef>
                        <a:spcAft>
                          <a:spcPts val="0"/>
                        </a:spcAft>
                        <a:buClr>
                          <a:schemeClr val="dk1"/>
                        </a:buClr>
                        <a:buSzPts val="1800"/>
                        <a:buFont typeface="Arial"/>
                        <a:buNone/>
                      </a:pPr>
                      <a:r>
                        <a:t/>
                      </a:r>
                      <a:endParaRPr sz="1800"/>
                    </a:p>
                  </a:txBody>
                  <a:tcPr marT="55625" marB="55625" marR="55625" marL="55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FEFEF"/>
                    </a:solidFill>
                  </a:tcPr>
                </a:tc>
              </a:tr>
              <a:tr h="626275">
                <a:tc rowSpan="2">
                  <a:txBody>
                    <a:bodyPr/>
                    <a:lstStyle/>
                    <a:p>
                      <a:pPr indent="0" lvl="0" marL="0" marR="0" rtl="0" algn="ctr">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Presentation and Demonstration (15)</a:t>
                      </a:r>
                      <a:endParaRPr sz="2000"/>
                    </a:p>
                  </a:txBody>
                  <a:tcPr marT="55625" marB="55625" marR="55625" marL="55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FE2F3"/>
                    </a:solidFill>
                  </a:tcPr>
                </a:tc>
                <a:tc>
                  <a:txBody>
                    <a:bodyPr/>
                    <a:lstStyle/>
                    <a:p>
                      <a:pPr indent="0" lvl="0" marL="0" marR="0" rtl="0" algn="ctr">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Clarity and Understanding</a:t>
                      </a:r>
                      <a:endParaRPr sz="2000"/>
                    </a:p>
                    <a:p>
                      <a:pPr indent="0" lvl="0" marL="0" marR="0" rtl="0" algn="ctr">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(10)</a:t>
                      </a:r>
                      <a:endParaRPr sz="2000"/>
                    </a:p>
                  </a:txBody>
                  <a:tcPr marT="55625" marB="55625" marR="55625" marL="55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FE2F3"/>
                    </a:solidFill>
                  </a:tcPr>
                </a:tc>
                <a:tc>
                  <a:txBody>
                    <a:bodyPr/>
                    <a:lstStyle/>
                    <a:p>
                      <a:pPr indent="0" lvl="0" marL="0" marR="0" rtl="0" algn="l">
                        <a:spcBef>
                          <a:spcPts val="0"/>
                        </a:spcBef>
                        <a:spcAft>
                          <a:spcPts val="0"/>
                        </a:spcAft>
                        <a:buClr>
                          <a:schemeClr val="dk1"/>
                        </a:buClr>
                        <a:buSzPts val="2000"/>
                        <a:buFont typeface="Arial"/>
                        <a:buNone/>
                      </a:pPr>
                      <a:br>
                        <a:rPr lang="en-US" sz="2000"/>
                      </a:br>
                      <a:endParaRPr sz="2000"/>
                    </a:p>
                  </a:txBody>
                  <a:tcPr marT="55625" marB="55625" marR="55625" marL="556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Arial"/>
                        <a:buNone/>
                      </a:pPr>
                      <a:br>
                        <a:rPr lang="en-US" sz="2000"/>
                      </a:br>
                      <a:endParaRPr sz="2000"/>
                    </a:p>
                  </a:txBody>
                  <a:tcPr marT="55625" marB="55625" marR="55625" marL="556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Arial"/>
                        <a:buNone/>
                      </a:pPr>
                      <a:br>
                        <a:rPr lang="en-US" sz="2000"/>
                      </a:br>
                      <a:endParaRPr sz="2000"/>
                    </a:p>
                  </a:txBody>
                  <a:tcPr marT="55625" marB="55625" marR="55625" marL="556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26275">
                <a:tc vMerge="1"/>
                <a:tc>
                  <a:txBody>
                    <a:bodyPr/>
                    <a:lstStyle/>
                    <a:p>
                      <a:pPr indent="0" lvl="0" marL="0" marR="0" rtl="0" algn="ctr">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Q&amp;A</a:t>
                      </a:r>
                      <a:endParaRPr sz="2000"/>
                    </a:p>
                    <a:p>
                      <a:pPr indent="0" lvl="0" marL="0" marR="0" rtl="0" algn="ctr">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(5)</a:t>
                      </a:r>
                      <a:endParaRPr sz="2000"/>
                    </a:p>
                  </a:txBody>
                  <a:tcPr marT="55625" marB="55625" marR="55625" marL="55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FE2F3"/>
                    </a:solidFill>
                  </a:tcPr>
                </a:tc>
                <a:tc>
                  <a:txBody>
                    <a:bodyPr/>
                    <a:lstStyle/>
                    <a:p>
                      <a:pPr indent="0" lvl="0" marL="0" marR="0" rtl="0" algn="l">
                        <a:spcBef>
                          <a:spcPts val="0"/>
                        </a:spcBef>
                        <a:spcAft>
                          <a:spcPts val="0"/>
                        </a:spcAft>
                        <a:buClr>
                          <a:schemeClr val="dk1"/>
                        </a:buClr>
                        <a:buSzPts val="2000"/>
                        <a:buFont typeface="Arial"/>
                        <a:buNone/>
                      </a:pPr>
                      <a:br>
                        <a:rPr lang="en-US" sz="2000"/>
                      </a:br>
                      <a:endParaRPr sz="2000"/>
                    </a:p>
                  </a:txBody>
                  <a:tcPr marT="55625" marB="55625" marR="55625" marL="556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Arial"/>
                        <a:buNone/>
                      </a:pPr>
                      <a:br>
                        <a:rPr lang="en-US" sz="2000"/>
                      </a:br>
                      <a:endParaRPr sz="2000"/>
                    </a:p>
                  </a:txBody>
                  <a:tcPr marT="55625" marB="55625" marR="55625" marL="556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Arial"/>
                        <a:buNone/>
                      </a:pPr>
                      <a:br>
                        <a:rPr lang="en-US" sz="2000"/>
                      </a:br>
                      <a:endParaRPr sz="2000"/>
                    </a:p>
                  </a:txBody>
                  <a:tcPr marT="55625" marB="55625" marR="55625" marL="556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992825">
                <a:tc>
                  <a:txBody>
                    <a:bodyPr/>
                    <a:lstStyle/>
                    <a:p>
                      <a:pPr indent="0" lvl="0" marL="0" marR="0" rtl="0" algn="ctr">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Student Effort (15)</a:t>
                      </a:r>
                      <a:endParaRPr sz="2000"/>
                    </a:p>
                  </a:txBody>
                  <a:tcPr marT="55625" marB="55625" marR="55625" marL="55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FE2F3"/>
                    </a:solidFill>
                  </a:tcPr>
                </a:tc>
                <a:tc>
                  <a:txBody>
                    <a:bodyPr/>
                    <a:lstStyle/>
                    <a:p>
                      <a:pPr indent="0" lvl="0" marL="0" marR="0" rtl="0" algn="l">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Suggestion based on</a:t>
                      </a:r>
                      <a:endParaRPr sz="2000"/>
                    </a:p>
                    <a:p>
                      <a:pPr indent="-285750" lvl="0" marL="285750" marR="0" rtl="0" algn="l">
                        <a:spcBef>
                          <a:spcPts val="0"/>
                        </a:spcBef>
                        <a:spcAft>
                          <a:spcPts val="0"/>
                        </a:spcAft>
                        <a:buClr>
                          <a:srgbClr val="000000"/>
                        </a:buClr>
                        <a:buSzPts val="1400"/>
                        <a:buFont typeface="Arial"/>
                        <a:buChar char="•"/>
                      </a:pPr>
                      <a:r>
                        <a:rPr b="1" i="0" lang="en-US" sz="1400" u="none" strike="noStrike">
                          <a:solidFill>
                            <a:srgbClr val="000000"/>
                          </a:solidFill>
                          <a:latin typeface="Times New Roman"/>
                          <a:ea typeface="Times New Roman"/>
                          <a:cs typeface="Times New Roman"/>
                          <a:sym typeface="Times New Roman"/>
                        </a:rPr>
                        <a:t>Tutorial submission</a:t>
                      </a:r>
                      <a:endParaRPr/>
                    </a:p>
                    <a:p>
                      <a:pPr indent="-285750" lvl="0" marL="285750" marR="0" rtl="0" algn="l">
                        <a:spcBef>
                          <a:spcPts val="0"/>
                        </a:spcBef>
                        <a:spcAft>
                          <a:spcPts val="0"/>
                        </a:spcAft>
                        <a:buClr>
                          <a:srgbClr val="000000"/>
                        </a:buClr>
                        <a:buSzPts val="1400"/>
                        <a:buFont typeface="Arial"/>
                        <a:buChar char="•"/>
                      </a:pPr>
                      <a:r>
                        <a:rPr b="1" i="0" lang="en-US" sz="1400" u="none" strike="noStrike">
                          <a:solidFill>
                            <a:srgbClr val="000000"/>
                          </a:solidFill>
                          <a:latin typeface="Times New Roman"/>
                          <a:ea typeface="Times New Roman"/>
                          <a:cs typeface="Times New Roman"/>
                          <a:sym typeface="Times New Roman"/>
                        </a:rPr>
                        <a:t>Practical submission</a:t>
                      </a:r>
                      <a:endParaRPr/>
                    </a:p>
                    <a:p>
                      <a:pPr indent="-285750" lvl="0" marL="285750" marR="0" rtl="0" algn="l">
                        <a:spcBef>
                          <a:spcPts val="0"/>
                        </a:spcBef>
                        <a:spcAft>
                          <a:spcPts val="0"/>
                        </a:spcAft>
                        <a:buClr>
                          <a:srgbClr val="000000"/>
                        </a:buClr>
                        <a:buSzPts val="1400"/>
                        <a:buFont typeface="Arial"/>
                        <a:buChar char="•"/>
                      </a:pPr>
                      <a:r>
                        <a:rPr b="1" i="0" lang="en-US" sz="1400" u="none" strike="noStrike">
                          <a:solidFill>
                            <a:srgbClr val="000000"/>
                          </a:solidFill>
                          <a:latin typeface="Times New Roman"/>
                          <a:ea typeface="Times New Roman"/>
                          <a:cs typeface="Times New Roman"/>
                          <a:sym typeface="Times New Roman"/>
                        </a:rPr>
                        <a:t>Class Participation</a:t>
                      </a:r>
                      <a:endParaRPr/>
                    </a:p>
                    <a:p>
                      <a:pPr indent="-285750" lvl="0" marL="285750" marR="0" rtl="0" algn="l">
                        <a:spcBef>
                          <a:spcPts val="0"/>
                        </a:spcBef>
                        <a:spcAft>
                          <a:spcPts val="0"/>
                        </a:spcAft>
                        <a:buClr>
                          <a:srgbClr val="000000"/>
                        </a:buClr>
                        <a:buSzPts val="1400"/>
                        <a:buFont typeface="Arial"/>
                        <a:buChar char="•"/>
                      </a:pPr>
                      <a:r>
                        <a:rPr b="1" i="0" lang="en-US" sz="1400" u="none" strike="noStrike">
                          <a:solidFill>
                            <a:srgbClr val="000000"/>
                          </a:solidFill>
                          <a:latin typeface="Times New Roman"/>
                          <a:ea typeface="Times New Roman"/>
                          <a:cs typeface="Times New Roman"/>
                          <a:sym typeface="Times New Roman"/>
                        </a:rPr>
                        <a:t>Advanced Features</a:t>
                      </a:r>
                      <a:endParaRPr/>
                    </a:p>
                  </a:txBody>
                  <a:tcPr marT="55625" marB="55625" marR="55625" marL="55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FE2F3"/>
                    </a:solidFill>
                  </a:tcPr>
                </a:tc>
                <a:tc>
                  <a:txBody>
                    <a:bodyPr/>
                    <a:lstStyle/>
                    <a:p>
                      <a:pPr indent="0" lvl="0" marL="0" marR="0" rtl="0" algn="l">
                        <a:spcBef>
                          <a:spcPts val="0"/>
                        </a:spcBef>
                        <a:spcAft>
                          <a:spcPts val="0"/>
                        </a:spcAft>
                        <a:buClr>
                          <a:schemeClr val="dk1"/>
                        </a:buClr>
                        <a:buSzPts val="2000"/>
                        <a:buFont typeface="Arial"/>
                        <a:buNone/>
                      </a:pPr>
                      <a:br>
                        <a:rPr lang="en-US" sz="2000"/>
                      </a:br>
                      <a:endParaRPr sz="2000"/>
                    </a:p>
                  </a:txBody>
                  <a:tcPr marT="55625" marB="55625" marR="55625" marL="556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Arial"/>
                        <a:buNone/>
                      </a:pPr>
                      <a:br>
                        <a:rPr lang="en-US" sz="2000"/>
                      </a:br>
                      <a:endParaRPr sz="2000"/>
                    </a:p>
                  </a:txBody>
                  <a:tcPr marT="55625" marB="55625" marR="55625" marL="556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Arial"/>
                        <a:buNone/>
                      </a:pPr>
                      <a:br>
                        <a:rPr lang="en-US" sz="2000"/>
                      </a:br>
                      <a:endParaRPr sz="2000"/>
                    </a:p>
                  </a:txBody>
                  <a:tcPr marT="55625" marB="55625" marR="55625" marL="556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26275">
                <a:tc gridSpan="2">
                  <a:txBody>
                    <a:bodyPr/>
                    <a:lstStyle/>
                    <a:p>
                      <a:pPr indent="0" lvl="0" marL="0" marR="0" rtl="0" algn="r">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Subtotal (Part 2)</a:t>
                      </a:r>
                      <a:endParaRPr sz="2000"/>
                    </a:p>
                  </a:txBody>
                  <a:tcPr marT="55625" marB="55625" marR="55625" marL="55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Clr>
                          <a:schemeClr val="dk1"/>
                        </a:buClr>
                        <a:buSzPts val="2000"/>
                        <a:buFont typeface="Arial"/>
                        <a:buNone/>
                      </a:pPr>
                      <a:br>
                        <a:rPr lang="en-US" sz="2000"/>
                      </a:br>
                      <a:endParaRPr sz="2000"/>
                    </a:p>
                  </a:txBody>
                  <a:tcPr marT="55625" marB="55625" marR="55625" marL="556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Arial"/>
                        <a:buNone/>
                      </a:pPr>
                      <a:br>
                        <a:rPr lang="en-US" sz="2000"/>
                      </a:br>
                      <a:endParaRPr sz="2000"/>
                    </a:p>
                  </a:txBody>
                  <a:tcPr marT="55625" marB="55625" marR="55625" marL="556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Arial"/>
                        <a:buNone/>
                      </a:pPr>
                      <a:br>
                        <a:rPr lang="en-US" sz="2000"/>
                      </a:br>
                      <a:endParaRPr sz="2000"/>
                    </a:p>
                  </a:txBody>
                  <a:tcPr marT="55625" marB="55625" marR="55625" marL="556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37450">
                <a:tc gridSpan="2">
                  <a:txBody>
                    <a:bodyPr/>
                    <a:lstStyle/>
                    <a:p>
                      <a:pPr indent="0" lvl="0" marL="0" marR="0" rtl="0" algn="r">
                        <a:spcBef>
                          <a:spcPts val="0"/>
                        </a:spcBef>
                        <a:spcAft>
                          <a:spcPts val="0"/>
                        </a:spcAft>
                        <a:buClr>
                          <a:srgbClr val="000000"/>
                        </a:buClr>
                        <a:buSzPts val="1400"/>
                        <a:buFont typeface="Times New Roman"/>
                        <a:buNone/>
                      </a:pPr>
                      <a:r>
                        <a:rPr b="1" i="0" lang="en-US" sz="1400" u="none" strike="noStrike">
                          <a:solidFill>
                            <a:srgbClr val="000000"/>
                          </a:solidFill>
                          <a:latin typeface="Times New Roman"/>
                          <a:ea typeface="Times New Roman"/>
                          <a:cs typeface="Times New Roman"/>
                          <a:sym typeface="Times New Roman"/>
                        </a:rPr>
                        <a:t>TOTAL (PART 1 + PART 2)</a:t>
                      </a:r>
                      <a:endParaRPr sz="2000"/>
                    </a:p>
                  </a:txBody>
                  <a:tcPr marT="55625" marB="55625" marR="55625" marL="55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a:txBody>
                    <a:bodyPr/>
                    <a:lstStyle/>
                    <a:p>
                      <a:pPr indent="0" lvl="0" marL="0" marR="0" rtl="0" algn="l">
                        <a:spcBef>
                          <a:spcPts val="0"/>
                        </a:spcBef>
                        <a:spcAft>
                          <a:spcPts val="0"/>
                        </a:spcAft>
                        <a:buClr>
                          <a:schemeClr val="dk1"/>
                        </a:buClr>
                        <a:buSzPts val="2000"/>
                        <a:buFont typeface="Arial"/>
                        <a:buNone/>
                      </a:pPr>
                      <a:br>
                        <a:rPr lang="en-US" sz="2000"/>
                      </a:br>
                      <a:endParaRPr sz="2000"/>
                    </a:p>
                  </a:txBody>
                  <a:tcPr marT="55625" marB="55625" marR="55625" marL="556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Arial"/>
                        <a:buNone/>
                      </a:pPr>
                      <a:br>
                        <a:rPr lang="en-US" sz="2000"/>
                      </a:br>
                      <a:endParaRPr sz="2000"/>
                    </a:p>
                  </a:txBody>
                  <a:tcPr marT="55625" marB="55625" marR="55625" marL="556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Arial"/>
                        <a:buNone/>
                      </a:pPr>
                      <a:br>
                        <a:rPr lang="en-US" sz="2000"/>
                      </a:br>
                      <a:endParaRPr sz="2000"/>
                    </a:p>
                  </a:txBody>
                  <a:tcPr marT="55625" marB="55625" marR="55625" marL="556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64" name="Google Shape;164;p25"/>
          <p:cNvSpPr/>
          <p:nvPr/>
        </p:nvSpPr>
        <p:spPr>
          <a:xfrm>
            <a:off x="146902" y="1087915"/>
            <a:ext cx="12192000" cy="457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5" name="Google Shape;165;p25"/>
          <p:cNvSpPr/>
          <p:nvPr/>
        </p:nvSpPr>
        <p:spPr>
          <a:xfrm>
            <a:off x="542904" y="166995"/>
            <a:ext cx="8540136" cy="69241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u="sng" cap="none" strike="noStrike">
                <a:solidFill>
                  <a:schemeClr val="dk1"/>
                </a:solidFill>
                <a:latin typeface="Times New Roman"/>
                <a:ea typeface="Times New Roman"/>
                <a:cs typeface="Times New Roman"/>
                <a:sym typeface="Times New Roman"/>
              </a:rPr>
              <a:t>Assignment Rubrics (cont.)</a:t>
            </a:r>
            <a:endParaRPr b="1" i="0" sz="16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1600" u="none" cap="none" strike="noStrike">
                <a:solidFill>
                  <a:schemeClr val="dk1"/>
                </a:solidFill>
                <a:latin typeface="Times New Roman"/>
                <a:ea typeface="Times New Roman"/>
                <a:cs typeface="Times New Roman"/>
                <a:sym typeface="Times New Roman"/>
              </a:rPr>
              <a:t>Part 2: Demonstration Session and Student Effort (30 marks)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6"/>
          <p:cNvSpPr txBox="1"/>
          <p:nvPr>
            <p:ph idx="12" type="sldNum"/>
          </p:nvPr>
        </p:nvSpPr>
        <p:spPr>
          <a:xfrm>
            <a:off x="11347836" y="6446622"/>
            <a:ext cx="484707" cy="228091"/>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71" name="Google Shape;171;p26"/>
          <p:cNvSpPr txBox="1"/>
          <p:nvPr>
            <p:ph type="title"/>
          </p:nvPr>
        </p:nvSpPr>
        <p:spPr>
          <a:xfrm>
            <a:off x="365726" y="1709664"/>
            <a:ext cx="11471749" cy="360974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Times New Roman"/>
              <a:buNone/>
            </a:pPr>
            <a:r>
              <a:rPr lang="en-US">
                <a:latin typeface="Times New Roman"/>
                <a:ea typeface="Times New Roman"/>
                <a:cs typeface="Times New Roman"/>
                <a:sym typeface="Times New Roman"/>
              </a:rPr>
              <a:t>Introduction</a:t>
            </a:r>
            <a:endParaRPr>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idx="12" type="sldNum"/>
          </p:nvPr>
        </p:nvSpPr>
        <p:spPr>
          <a:xfrm>
            <a:off x="11347836" y="6446622"/>
            <a:ext cx="484707" cy="228091"/>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77" name="Google Shape;177;p27"/>
          <p:cNvSpPr txBox="1"/>
          <p:nvPr>
            <p:ph type="title"/>
          </p:nvPr>
        </p:nvSpPr>
        <p:spPr>
          <a:xfrm>
            <a:off x="365727" y="299370"/>
            <a:ext cx="11466657" cy="29020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Introduction</a:t>
            </a:r>
            <a:endParaRPr/>
          </a:p>
        </p:txBody>
      </p:sp>
      <p:sp>
        <p:nvSpPr>
          <p:cNvPr id="178" name="Google Shape;178;p27"/>
          <p:cNvSpPr txBox="1"/>
          <p:nvPr/>
        </p:nvSpPr>
        <p:spPr>
          <a:xfrm>
            <a:off x="365725" y="1138925"/>
            <a:ext cx="10913100" cy="390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200">
                <a:solidFill>
                  <a:schemeClr val="dk1"/>
                </a:solidFill>
              </a:rPr>
              <a:t>Project</a:t>
            </a:r>
            <a:r>
              <a:rPr lang="en-US" sz="2200">
                <a:solidFill>
                  <a:schemeClr val="dk1"/>
                </a:solidFill>
              </a:rPr>
              <a:t>: SplashPoint — a cloud-based swimming pool booking system for TAR </a:t>
            </a:r>
            <a:r>
              <a:rPr lang="en-US" sz="2200">
                <a:solidFill>
                  <a:schemeClr val="dk1"/>
                </a:solidFill>
              </a:rPr>
              <a:t>UMT</a:t>
            </a:r>
            <a:r>
              <a:rPr lang="en-US" sz="2200">
                <a:solidFill>
                  <a:schemeClr val="dk1"/>
                </a:solidFill>
              </a:rPr>
              <a:t> Campus Aquatic Center</a:t>
            </a:r>
            <a:endParaRPr sz="2200">
              <a:solidFill>
                <a:schemeClr val="dk1"/>
              </a:solidFill>
            </a:endParaRPr>
          </a:p>
          <a:p>
            <a:pPr indent="0" lvl="0" marL="0" rtl="0" algn="l">
              <a:spcBef>
                <a:spcPts val="0"/>
              </a:spcBef>
              <a:spcAft>
                <a:spcPts val="0"/>
              </a:spcAft>
              <a:buNone/>
            </a:pPr>
            <a:r>
              <a:t/>
            </a:r>
            <a:endParaRPr sz="2200">
              <a:solidFill>
                <a:schemeClr val="dk1"/>
              </a:solidFill>
            </a:endParaRPr>
          </a:p>
          <a:p>
            <a:pPr indent="0" lvl="0" marL="0" rtl="0" algn="l">
              <a:spcBef>
                <a:spcPts val="0"/>
              </a:spcBef>
              <a:spcAft>
                <a:spcPts val="0"/>
              </a:spcAft>
              <a:buNone/>
            </a:pPr>
            <a:r>
              <a:rPr b="1" lang="en-US" sz="2200">
                <a:solidFill>
                  <a:schemeClr val="dk1"/>
                </a:solidFill>
              </a:rPr>
              <a:t>Problem</a:t>
            </a:r>
            <a:r>
              <a:rPr lang="en-US" sz="2200">
                <a:solidFill>
                  <a:schemeClr val="dk1"/>
                </a:solidFill>
              </a:rPr>
              <a:t>: manual/legacy booking methods cause long queues, scheduling conflicts, and system overload during peak periods</a:t>
            </a:r>
            <a:endParaRPr sz="2200">
              <a:solidFill>
                <a:schemeClr val="dk1"/>
              </a:solidFill>
            </a:endParaRPr>
          </a:p>
          <a:p>
            <a:pPr indent="0" lvl="0" marL="0" rtl="0" algn="l">
              <a:spcBef>
                <a:spcPts val="0"/>
              </a:spcBef>
              <a:spcAft>
                <a:spcPts val="0"/>
              </a:spcAft>
              <a:buNone/>
            </a:pPr>
            <a:r>
              <a:t/>
            </a:r>
            <a:endParaRPr sz="2200">
              <a:solidFill>
                <a:schemeClr val="dk1"/>
              </a:solidFill>
            </a:endParaRPr>
          </a:p>
          <a:p>
            <a:pPr indent="0" lvl="0" marL="0" rtl="0" algn="l">
              <a:spcBef>
                <a:spcPts val="0"/>
              </a:spcBef>
              <a:spcAft>
                <a:spcPts val="0"/>
              </a:spcAft>
              <a:buNone/>
            </a:pPr>
            <a:r>
              <a:rPr b="1" lang="en-US" sz="2200">
                <a:solidFill>
                  <a:schemeClr val="dk1"/>
                </a:solidFill>
              </a:rPr>
              <a:t>Objective</a:t>
            </a:r>
            <a:r>
              <a:rPr lang="en-US" sz="2200">
                <a:solidFill>
                  <a:schemeClr val="dk1"/>
                </a:solidFill>
              </a:rPr>
              <a:t>: deploy a scalable, secure, and cost-optimized booking platform as a proof of concept on AWS</a:t>
            </a:r>
            <a:endParaRPr sz="2200">
              <a:solidFill>
                <a:schemeClr val="dk1"/>
              </a:solidFill>
            </a:endParaRPr>
          </a:p>
          <a:p>
            <a:pPr indent="0" lvl="0" marL="0" rtl="0" algn="l">
              <a:spcBef>
                <a:spcPts val="0"/>
              </a:spcBef>
              <a:spcAft>
                <a:spcPts val="0"/>
              </a:spcAft>
              <a:buNone/>
            </a:pPr>
            <a:r>
              <a:t/>
            </a:r>
            <a:endParaRPr sz="2200">
              <a:solidFill>
                <a:schemeClr val="dk1"/>
              </a:solidFill>
            </a:endParaRPr>
          </a:p>
          <a:p>
            <a:pPr indent="0" lvl="0" marL="0" rtl="0" algn="l">
              <a:spcBef>
                <a:spcPts val="0"/>
              </a:spcBef>
              <a:spcAft>
                <a:spcPts val="0"/>
              </a:spcAft>
              <a:buNone/>
            </a:pPr>
            <a:r>
              <a:rPr b="1" lang="en-US" sz="2200">
                <a:solidFill>
                  <a:schemeClr val="dk1"/>
                </a:solidFill>
              </a:rPr>
              <a:t>Scope</a:t>
            </a:r>
            <a:r>
              <a:rPr lang="en-US" sz="2200">
                <a:solidFill>
                  <a:schemeClr val="dk1"/>
                </a:solidFill>
              </a:rPr>
              <a:t>: 3 campus pools (1 Olympic-size lane pool, 2 leisure/training pools), public browsing, member accounts, real-time availability, admin management</a:t>
            </a:r>
            <a:endParaRPr sz="22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8"/>
          <p:cNvSpPr txBox="1"/>
          <p:nvPr>
            <p:ph idx="12" type="sldNum"/>
          </p:nvPr>
        </p:nvSpPr>
        <p:spPr>
          <a:xfrm>
            <a:off x="11347836" y="6446622"/>
            <a:ext cx="484707" cy="228091"/>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84" name="Google Shape;184;p28"/>
          <p:cNvSpPr txBox="1"/>
          <p:nvPr>
            <p:ph type="title"/>
          </p:nvPr>
        </p:nvSpPr>
        <p:spPr>
          <a:xfrm>
            <a:off x="365726" y="1709664"/>
            <a:ext cx="11471749" cy="360974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Times New Roman"/>
              <a:buNone/>
            </a:pPr>
            <a:r>
              <a:rPr lang="en-US">
                <a:latin typeface="Times New Roman"/>
                <a:ea typeface="Times New Roman"/>
                <a:cs typeface="Times New Roman"/>
                <a:sym typeface="Times New Roman"/>
              </a:rPr>
              <a:t>AWS Architecture Design</a:t>
            </a:r>
            <a:endParaRPr>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txBox="1"/>
          <p:nvPr>
            <p:ph idx="12" type="sldNum"/>
          </p:nvPr>
        </p:nvSpPr>
        <p:spPr>
          <a:xfrm>
            <a:off x="11347836" y="6446622"/>
            <a:ext cx="484707" cy="228091"/>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90" name="Google Shape;190;p29"/>
          <p:cNvSpPr txBox="1"/>
          <p:nvPr>
            <p:ph type="title"/>
          </p:nvPr>
        </p:nvSpPr>
        <p:spPr>
          <a:xfrm>
            <a:off x="365727" y="299370"/>
            <a:ext cx="11466657" cy="29020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AWS Architecture Design</a:t>
            </a:r>
            <a:endParaRPr/>
          </a:p>
        </p:txBody>
      </p:sp>
      <p:pic>
        <p:nvPicPr>
          <p:cNvPr id="191" name="Google Shape;191;p29" title="AWS assignment-Page-4.drawio (1).png"/>
          <p:cNvPicPr preferRelativeResize="0"/>
          <p:nvPr/>
        </p:nvPicPr>
        <p:blipFill>
          <a:blip r:embed="rId3">
            <a:alphaModFix/>
          </a:blip>
          <a:stretch>
            <a:fillRect/>
          </a:stretch>
        </p:blipFill>
        <p:spPr>
          <a:xfrm>
            <a:off x="2724249" y="711100"/>
            <a:ext cx="6749598" cy="614690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0"/>
          <p:cNvSpPr txBox="1"/>
          <p:nvPr>
            <p:ph idx="12" type="sldNum"/>
          </p:nvPr>
        </p:nvSpPr>
        <p:spPr>
          <a:xfrm>
            <a:off x="11347836" y="6446622"/>
            <a:ext cx="484707" cy="228091"/>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98" name="Google Shape;198;p30"/>
          <p:cNvSpPr txBox="1"/>
          <p:nvPr>
            <p:ph type="title"/>
          </p:nvPr>
        </p:nvSpPr>
        <p:spPr>
          <a:xfrm>
            <a:off x="365726" y="1709664"/>
            <a:ext cx="11471749" cy="360974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Times New Roman"/>
              <a:buNone/>
            </a:pPr>
            <a:r>
              <a:rPr lang="en-US">
                <a:latin typeface="Times New Roman"/>
                <a:ea typeface="Times New Roman"/>
                <a:cs typeface="Times New Roman"/>
                <a:sym typeface="Times New Roman"/>
              </a:rPr>
              <a:t>Solution Overview Diagram</a:t>
            </a:r>
            <a:endParaRPr>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1"/>
          <p:cNvSpPr txBox="1"/>
          <p:nvPr>
            <p:ph idx="12" type="sldNum"/>
          </p:nvPr>
        </p:nvSpPr>
        <p:spPr>
          <a:xfrm>
            <a:off x="11347836" y="6446622"/>
            <a:ext cx="484707" cy="228091"/>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204" name="Google Shape;204;p31"/>
          <p:cNvSpPr txBox="1"/>
          <p:nvPr>
            <p:ph type="title"/>
          </p:nvPr>
        </p:nvSpPr>
        <p:spPr>
          <a:xfrm>
            <a:off x="365727" y="299370"/>
            <a:ext cx="11466657" cy="29020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Solution Overview Diagram</a:t>
            </a:r>
            <a:endParaRPr/>
          </a:p>
        </p:txBody>
      </p:sp>
      <p:pic>
        <p:nvPicPr>
          <p:cNvPr id="205" name="Google Shape;205;p31" title="AWS assignment-Page-5.drawio (1).png"/>
          <p:cNvPicPr preferRelativeResize="0"/>
          <p:nvPr/>
        </p:nvPicPr>
        <p:blipFill>
          <a:blip r:embed="rId3">
            <a:alphaModFix/>
          </a:blip>
          <a:stretch>
            <a:fillRect/>
          </a:stretch>
        </p:blipFill>
        <p:spPr>
          <a:xfrm>
            <a:off x="574475" y="809850"/>
            <a:ext cx="11043038" cy="586488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2"/>
          <p:cNvSpPr txBox="1"/>
          <p:nvPr>
            <p:ph idx="12" type="sldNum"/>
          </p:nvPr>
        </p:nvSpPr>
        <p:spPr>
          <a:xfrm>
            <a:off x="11347836" y="6446622"/>
            <a:ext cx="484707" cy="228091"/>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211" name="Google Shape;211;p32"/>
          <p:cNvSpPr txBox="1"/>
          <p:nvPr>
            <p:ph type="title"/>
          </p:nvPr>
        </p:nvSpPr>
        <p:spPr>
          <a:xfrm>
            <a:off x="365726" y="1709664"/>
            <a:ext cx="11471749" cy="360974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Times New Roman"/>
              <a:buNone/>
            </a:pPr>
            <a:r>
              <a:rPr lang="en-US">
                <a:latin typeface="Times New Roman"/>
                <a:ea typeface="Times New Roman"/>
                <a:cs typeface="Times New Roman"/>
                <a:sym typeface="Times New Roman"/>
              </a:rPr>
              <a:t>Key Features</a:t>
            </a:r>
            <a:endParaRPr>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3"/>
          <p:cNvSpPr txBox="1"/>
          <p:nvPr>
            <p:ph type="title"/>
          </p:nvPr>
        </p:nvSpPr>
        <p:spPr>
          <a:xfrm>
            <a:off x="457201" y="2545492"/>
            <a:ext cx="6456405" cy="244687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Times New Roman"/>
              <a:buNone/>
            </a:pPr>
            <a:r>
              <a:rPr lang="en-US">
                <a:latin typeface="Times New Roman"/>
                <a:ea typeface="Times New Roman"/>
                <a:cs typeface="Times New Roman"/>
                <a:sym typeface="Times New Roman"/>
              </a:rPr>
              <a:t>Functional</a:t>
            </a:r>
            <a:endParaRPr>
              <a:latin typeface="Times New Roman"/>
              <a:ea typeface="Times New Roman"/>
              <a:cs typeface="Times New Roman"/>
              <a:sym typeface="Times New Roman"/>
            </a:endParaRPr>
          </a:p>
        </p:txBody>
      </p:sp>
      <p:sp>
        <p:nvSpPr>
          <p:cNvPr id="217" name="Google Shape;217;p33"/>
          <p:cNvSpPr txBox="1"/>
          <p:nvPr>
            <p:ph idx="1" type="body"/>
          </p:nvPr>
        </p:nvSpPr>
        <p:spPr>
          <a:xfrm>
            <a:off x="457201" y="5040377"/>
            <a:ext cx="6456405" cy="99589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latin typeface="Times New Roman"/>
                <a:ea typeface="Times New Roman"/>
                <a:cs typeface="Times New Roman"/>
                <a:sym typeface="Times New Roman"/>
              </a:rPr>
              <a:t>Key Features</a:t>
            </a:r>
            <a:endParaRPr>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4"/>
          <p:cNvSpPr txBox="1"/>
          <p:nvPr>
            <p:ph idx="12" type="sldNum"/>
          </p:nvPr>
        </p:nvSpPr>
        <p:spPr>
          <a:xfrm>
            <a:off x="11347836" y="6446622"/>
            <a:ext cx="484707" cy="228091"/>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223" name="Google Shape;223;p34"/>
          <p:cNvSpPr txBox="1"/>
          <p:nvPr>
            <p:ph type="title"/>
          </p:nvPr>
        </p:nvSpPr>
        <p:spPr>
          <a:xfrm>
            <a:off x="365727" y="299370"/>
            <a:ext cx="11466657" cy="29020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Functional</a:t>
            </a:r>
            <a:endParaRPr/>
          </a:p>
        </p:txBody>
      </p:sp>
      <p:sp>
        <p:nvSpPr>
          <p:cNvPr id="224" name="Google Shape;224;p34"/>
          <p:cNvSpPr txBox="1"/>
          <p:nvPr/>
        </p:nvSpPr>
        <p:spPr>
          <a:xfrm>
            <a:off x="1580375" y="2644050"/>
            <a:ext cx="94416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solidFill>
                  <a:schemeClr val="dk1"/>
                </a:solidFill>
              </a:rPr>
              <a:t>Web site URL link</a:t>
            </a:r>
            <a:br>
              <a:rPr lang="en-US" sz="3000">
                <a:solidFill>
                  <a:schemeClr val="dk1"/>
                </a:solidFill>
              </a:rPr>
            </a:br>
            <a:r>
              <a:rPr lang="en-US" sz="3000" u="sng">
                <a:solidFill>
                  <a:schemeClr val="hlink"/>
                </a:solidFill>
                <a:hlinkClick r:id="rId3"/>
              </a:rPr>
              <a:t>http://splashpoint-alb-1364108331.us-east-1.elb.amazonaws.com</a:t>
            </a:r>
            <a:endParaRPr sz="3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id="229" name="Google Shape;229;p35"/>
          <p:cNvPicPr preferRelativeResize="0"/>
          <p:nvPr/>
        </p:nvPicPr>
        <p:blipFill>
          <a:blip r:embed="rId3">
            <a:alphaModFix/>
          </a:blip>
          <a:stretch>
            <a:fillRect/>
          </a:stretch>
        </p:blipFill>
        <p:spPr>
          <a:xfrm>
            <a:off x="1564900" y="1565475"/>
            <a:ext cx="9072322" cy="4716100"/>
          </a:xfrm>
          <a:prstGeom prst="rect">
            <a:avLst/>
          </a:prstGeom>
          <a:noFill/>
          <a:ln>
            <a:noFill/>
          </a:ln>
        </p:spPr>
      </p:pic>
      <p:sp>
        <p:nvSpPr>
          <p:cNvPr id="230" name="Google Shape;230;p35"/>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231" name="Google Shape;231;p35"/>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Functional</a:t>
            </a:r>
            <a:endParaRPr/>
          </a:p>
        </p:txBody>
      </p:sp>
      <p:sp>
        <p:nvSpPr>
          <p:cNvPr id="232" name="Google Shape;232;p35"/>
          <p:cNvSpPr txBox="1"/>
          <p:nvPr/>
        </p:nvSpPr>
        <p:spPr>
          <a:xfrm>
            <a:off x="365725" y="632525"/>
            <a:ext cx="2694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Admin Dashboard</a:t>
            </a:r>
            <a:endParaRPr sz="24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6"/>
          <p:cNvSpPr txBox="1"/>
          <p:nvPr>
            <p:ph type="title"/>
          </p:nvPr>
        </p:nvSpPr>
        <p:spPr>
          <a:xfrm>
            <a:off x="365763" y="299528"/>
            <a:ext cx="11466600" cy="289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Times New Roman"/>
                <a:ea typeface="Times New Roman"/>
                <a:cs typeface="Times New Roman"/>
                <a:sym typeface="Times New Roman"/>
              </a:rPr>
              <a:t>Key Features - Functional</a:t>
            </a:r>
            <a:endParaRPr/>
          </a:p>
        </p:txBody>
      </p:sp>
      <p:sp>
        <p:nvSpPr>
          <p:cNvPr id="239" name="Google Shape;239;p36"/>
          <p:cNvSpPr txBox="1"/>
          <p:nvPr/>
        </p:nvSpPr>
        <p:spPr>
          <a:xfrm>
            <a:off x="365775" y="632525"/>
            <a:ext cx="2881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Pools Management</a:t>
            </a:r>
            <a:endParaRPr sz="2400">
              <a:solidFill>
                <a:schemeClr val="dk1"/>
              </a:solidFill>
            </a:endParaRPr>
          </a:p>
        </p:txBody>
      </p:sp>
      <p:pic>
        <p:nvPicPr>
          <p:cNvPr id="240" name="Google Shape;240;p36"/>
          <p:cNvPicPr preferRelativeResize="0"/>
          <p:nvPr/>
        </p:nvPicPr>
        <p:blipFill>
          <a:blip r:embed="rId3">
            <a:alphaModFix/>
          </a:blip>
          <a:stretch>
            <a:fillRect/>
          </a:stretch>
        </p:blipFill>
        <p:spPr>
          <a:xfrm>
            <a:off x="1564900" y="1565475"/>
            <a:ext cx="8881501" cy="4676700"/>
          </a:xfrm>
          <a:prstGeom prst="rect">
            <a:avLst/>
          </a:prstGeom>
          <a:noFill/>
          <a:ln>
            <a:noFill/>
          </a:ln>
        </p:spPr>
      </p:pic>
      <p:sp>
        <p:nvSpPr>
          <p:cNvPr id="241" name="Google Shape;241;p36"/>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7"/>
          <p:cNvSpPr txBox="1"/>
          <p:nvPr>
            <p:ph type="title"/>
          </p:nvPr>
        </p:nvSpPr>
        <p:spPr>
          <a:xfrm>
            <a:off x="365763" y="299528"/>
            <a:ext cx="11466600" cy="289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Times New Roman"/>
                <a:ea typeface="Times New Roman"/>
                <a:cs typeface="Times New Roman"/>
                <a:sym typeface="Times New Roman"/>
              </a:rPr>
              <a:t>Key Features - Functional</a:t>
            </a:r>
            <a:endParaRPr/>
          </a:p>
        </p:txBody>
      </p:sp>
      <p:sp>
        <p:nvSpPr>
          <p:cNvPr id="248" name="Google Shape;248;p37"/>
          <p:cNvSpPr txBox="1"/>
          <p:nvPr/>
        </p:nvSpPr>
        <p:spPr>
          <a:xfrm>
            <a:off x="365775" y="632525"/>
            <a:ext cx="3347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Schedule </a:t>
            </a:r>
            <a:r>
              <a:rPr lang="en-US" sz="2400">
                <a:solidFill>
                  <a:schemeClr val="dk1"/>
                </a:solidFill>
              </a:rPr>
              <a:t>Management</a:t>
            </a:r>
            <a:endParaRPr sz="2400">
              <a:solidFill>
                <a:schemeClr val="dk1"/>
              </a:solidFill>
            </a:endParaRPr>
          </a:p>
        </p:txBody>
      </p:sp>
      <p:pic>
        <p:nvPicPr>
          <p:cNvPr id="249" name="Google Shape;249;p37"/>
          <p:cNvPicPr preferRelativeResize="0"/>
          <p:nvPr/>
        </p:nvPicPr>
        <p:blipFill>
          <a:blip r:embed="rId3">
            <a:alphaModFix/>
          </a:blip>
          <a:stretch>
            <a:fillRect/>
          </a:stretch>
        </p:blipFill>
        <p:spPr>
          <a:xfrm>
            <a:off x="1564900" y="1565475"/>
            <a:ext cx="8881498" cy="4635438"/>
          </a:xfrm>
          <a:prstGeom prst="rect">
            <a:avLst/>
          </a:prstGeom>
          <a:noFill/>
          <a:ln>
            <a:noFill/>
          </a:ln>
        </p:spPr>
      </p:pic>
      <p:sp>
        <p:nvSpPr>
          <p:cNvPr id="250" name="Google Shape;250;p37"/>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8"/>
          <p:cNvSpPr txBox="1"/>
          <p:nvPr>
            <p:ph type="title"/>
          </p:nvPr>
        </p:nvSpPr>
        <p:spPr>
          <a:xfrm>
            <a:off x="365763" y="299528"/>
            <a:ext cx="11466600" cy="289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Times New Roman"/>
                <a:ea typeface="Times New Roman"/>
                <a:cs typeface="Times New Roman"/>
                <a:sym typeface="Times New Roman"/>
              </a:rPr>
              <a:t>Key Features - Functional</a:t>
            </a:r>
            <a:endParaRPr/>
          </a:p>
        </p:txBody>
      </p:sp>
      <p:sp>
        <p:nvSpPr>
          <p:cNvPr id="257" name="Google Shape;257;p38"/>
          <p:cNvSpPr txBox="1"/>
          <p:nvPr/>
        </p:nvSpPr>
        <p:spPr>
          <a:xfrm>
            <a:off x="365775" y="632525"/>
            <a:ext cx="3347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Booking </a:t>
            </a:r>
            <a:r>
              <a:rPr lang="en-US" sz="2400">
                <a:solidFill>
                  <a:schemeClr val="dk1"/>
                </a:solidFill>
              </a:rPr>
              <a:t>Management</a:t>
            </a:r>
            <a:endParaRPr sz="2400">
              <a:solidFill>
                <a:schemeClr val="dk1"/>
              </a:solidFill>
            </a:endParaRPr>
          </a:p>
        </p:txBody>
      </p:sp>
      <p:pic>
        <p:nvPicPr>
          <p:cNvPr id="258" name="Google Shape;258;p38"/>
          <p:cNvPicPr preferRelativeResize="0"/>
          <p:nvPr/>
        </p:nvPicPr>
        <p:blipFill>
          <a:blip r:embed="rId3">
            <a:alphaModFix/>
          </a:blip>
          <a:stretch>
            <a:fillRect/>
          </a:stretch>
        </p:blipFill>
        <p:spPr>
          <a:xfrm>
            <a:off x="1564900" y="1559735"/>
            <a:ext cx="8881499" cy="4614490"/>
          </a:xfrm>
          <a:prstGeom prst="rect">
            <a:avLst/>
          </a:prstGeom>
          <a:noFill/>
          <a:ln>
            <a:noFill/>
          </a:ln>
        </p:spPr>
      </p:pic>
      <p:sp>
        <p:nvSpPr>
          <p:cNvPr id="259" name="Google Shape;259;p38"/>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9"/>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265" name="Google Shape;265;p39"/>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Functional</a:t>
            </a:r>
            <a:endParaRPr/>
          </a:p>
        </p:txBody>
      </p:sp>
      <p:sp>
        <p:nvSpPr>
          <p:cNvPr id="266" name="Google Shape;266;p39"/>
          <p:cNvSpPr txBox="1"/>
          <p:nvPr/>
        </p:nvSpPr>
        <p:spPr>
          <a:xfrm>
            <a:off x="365725" y="632525"/>
            <a:ext cx="2694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Check Availability</a:t>
            </a:r>
            <a:endParaRPr sz="2400">
              <a:solidFill>
                <a:schemeClr val="dk1"/>
              </a:solidFill>
            </a:endParaRPr>
          </a:p>
        </p:txBody>
      </p:sp>
      <p:pic>
        <p:nvPicPr>
          <p:cNvPr id="267" name="Google Shape;267;p39"/>
          <p:cNvPicPr preferRelativeResize="0"/>
          <p:nvPr/>
        </p:nvPicPr>
        <p:blipFill>
          <a:blip r:embed="rId3">
            <a:alphaModFix/>
          </a:blip>
          <a:stretch>
            <a:fillRect/>
          </a:stretch>
        </p:blipFill>
        <p:spPr>
          <a:xfrm>
            <a:off x="1564900" y="1565475"/>
            <a:ext cx="9005615" cy="47161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0"/>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273" name="Google Shape;273;p40"/>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Functional</a:t>
            </a:r>
            <a:endParaRPr/>
          </a:p>
        </p:txBody>
      </p:sp>
      <p:sp>
        <p:nvSpPr>
          <p:cNvPr id="274" name="Google Shape;274;p40"/>
          <p:cNvSpPr txBox="1"/>
          <p:nvPr/>
        </p:nvSpPr>
        <p:spPr>
          <a:xfrm>
            <a:off x="365725" y="632525"/>
            <a:ext cx="2694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Booking</a:t>
            </a:r>
            <a:endParaRPr sz="2400">
              <a:solidFill>
                <a:schemeClr val="dk1"/>
              </a:solidFill>
            </a:endParaRPr>
          </a:p>
        </p:txBody>
      </p:sp>
      <p:pic>
        <p:nvPicPr>
          <p:cNvPr id="275" name="Google Shape;275;p40"/>
          <p:cNvPicPr preferRelativeResize="0"/>
          <p:nvPr/>
        </p:nvPicPr>
        <p:blipFill>
          <a:blip r:embed="rId3">
            <a:alphaModFix/>
          </a:blip>
          <a:stretch>
            <a:fillRect/>
          </a:stretch>
        </p:blipFill>
        <p:spPr>
          <a:xfrm>
            <a:off x="309788" y="1339025"/>
            <a:ext cx="11572431" cy="495519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1"/>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281" name="Google Shape;281;p41"/>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Functional</a:t>
            </a:r>
            <a:endParaRPr/>
          </a:p>
        </p:txBody>
      </p:sp>
      <p:sp>
        <p:nvSpPr>
          <p:cNvPr id="282" name="Google Shape;282;p41"/>
          <p:cNvSpPr txBox="1"/>
          <p:nvPr/>
        </p:nvSpPr>
        <p:spPr>
          <a:xfrm>
            <a:off x="365725" y="632525"/>
            <a:ext cx="2694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Book Successful</a:t>
            </a:r>
            <a:endParaRPr sz="2400">
              <a:solidFill>
                <a:schemeClr val="dk1"/>
              </a:solidFill>
            </a:endParaRPr>
          </a:p>
        </p:txBody>
      </p:sp>
      <p:pic>
        <p:nvPicPr>
          <p:cNvPr id="283" name="Google Shape;283;p41"/>
          <p:cNvPicPr preferRelativeResize="0"/>
          <p:nvPr/>
        </p:nvPicPr>
        <p:blipFill>
          <a:blip r:embed="rId3">
            <a:alphaModFix/>
          </a:blip>
          <a:stretch>
            <a:fillRect/>
          </a:stretch>
        </p:blipFill>
        <p:spPr>
          <a:xfrm>
            <a:off x="3212725" y="741870"/>
            <a:ext cx="5429913" cy="596372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2"/>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289" name="Google Shape;289;p42"/>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Functional</a:t>
            </a:r>
            <a:endParaRPr/>
          </a:p>
        </p:txBody>
      </p:sp>
      <p:sp>
        <p:nvSpPr>
          <p:cNvPr id="290" name="Google Shape;290;p42"/>
          <p:cNvSpPr txBox="1"/>
          <p:nvPr/>
        </p:nvSpPr>
        <p:spPr>
          <a:xfrm>
            <a:off x="365725" y="632525"/>
            <a:ext cx="5885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After book successful, will receive a email</a:t>
            </a:r>
            <a:endParaRPr sz="2400">
              <a:solidFill>
                <a:schemeClr val="dk1"/>
              </a:solidFill>
            </a:endParaRPr>
          </a:p>
        </p:txBody>
      </p:sp>
      <p:pic>
        <p:nvPicPr>
          <p:cNvPr id="291" name="Google Shape;291;p42"/>
          <p:cNvPicPr preferRelativeResize="0"/>
          <p:nvPr/>
        </p:nvPicPr>
        <p:blipFill>
          <a:blip r:embed="rId3">
            <a:alphaModFix/>
          </a:blip>
          <a:stretch>
            <a:fillRect/>
          </a:stretch>
        </p:blipFill>
        <p:spPr>
          <a:xfrm>
            <a:off x="743738" y="1229675"/>
            <a:ext cx="10710569" cy="53665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3"/>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297" name="Google Shape;297;p43"/>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Functional</a:t>
            </a:r>
            <a:endParaRPr/>
          </a:p>
        </p:txBody>
      </p:sp>
      <p:sp>
        <p:nvSpPr>
          <p:cNvPr id="298" name="Google Shape;298;p43"/>
          <p:cNvSpPr txBox="1"/>
          <p:nvPr/>
        </p:nvSpPr>
        <p:spPr>
          <a:xfrm>
            <a:off x="365725" y="632525"/>
            <a:ext cx="4467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Profile &amp; View / Cancel Booking</a:t>
            </a:r>
            <a:endParaRPr sz="2400">
              <a:solidFill>
                <a:schemeClr val="dk1"/>
              </a:solidFill>
            </a:endParaRPr>
          </a:p>
        </p:txBody>
      </p:sp>
      <p:pic>
        <p:nvPicPr>
          <p:cNvPr id="299" name="Google Shape;299;p43"/>
          <p:cNvPicPr preferRelativeResize="0"/>
          <p:nvPr/>
        </p:nvPicPr>
        <p:blipFill>
          <a:blip r:embed="rId3">
            <a:alphaModFix/>
          </a:blip>
          <a:stretch>
            <a:fillRect/>
          </a:stretch>
        </p:blipFill>
        <p:spPr>
          <a:xfrm>
            <a:off x="2294950" y="1186625"/>
            <a:ext cx="7602112" cy="53665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4"/>
          <p:cNvSpPr txBox="1"/>
          <p:nvPr>
            <p:ph type="title"/>
          </p:nvPr>
        </p:nvSpPr>
        <p:spPr>
          <a:xfrm>
            <a:off x="457201" y="2545492"/>
            <a:ext cx="6456405" cy="244687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Times New Roman"/>
              <a:buNone/>
            </a:pPr>
            <a:r>
              <a:rPr lang="en-US">
                <a:latin typeface="Times New Roman"/>
                <a:ea typeface="Times New Roman"/>
                <a:cs typeface="Times New Roman"/>
                <a:sym typeface="Times New Roman"/>
              </a:rPr>
              <a:t>Secure</a:t>
            </a:r>
            <a:endParaRPr>
              <a:latin typeface="Times New Roman"/>
              <a:ea typeface="Times New Roman"/>
              <a:cs typeface="Times New Roman"/>
              <a:sym typeface="Times New Roman"/>
            </a:endParaRPr>
          </a:p>
        </p:txBody>
      </p:sp>
      <p:sp>
        <p:nvSpPr>
          <p:cNvPr id="305" name="Google Shape;305;p44"/>
          <p:cNvSpPr txBox="1"/>
          <p:nvPr>
            <p:ph idx="1" type="body"/>
          </p:nvPr>
        </p:nvSpPr>
        <p:spPr>
          <a:xfrm>
            <a:off x="457201" y="5040377"/>
            <a:ext cx="6456405" cy="99589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latin typeface="Times New Roman"/>
                <a:ea typeface="Times New Roman"/>
                <a:cs typeface="Times New Roman"/>
                <a:sym typeface="Times New Roman"/>
              </a:rPr>
              <a:t>Key Features</a:t>
            </a:r>
            <a:endParaRPr>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5"/>
          <p:cNvSpPr txBox="1"/>
          <p:nvPr>
            <p:ph type="title"/>
          </p:nvPr>
        </p:nvSpPr>
        <p:spPr>
          <a:xfrm>
            <a:off x="457201" y="2545492"/>
            <a:ext cx="6456300" cy="2446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Times New Roman"/>
              <a:buNone/>
            </a:pPr>
            <a:r>
              <a:rPr lang="en-US">
                <a:latin typeface="Times New Roman"/>
                <a:ea typeface="Times New Roman"/>
                <a:cs typeface="Times New Roman"/>
                <a:sym typeface="Times New Roman"/>
              </a:rPr>
              <a:t>Secure</a:t>
            </a:r>
            <a:endParaRPr>
              <a:latin typeface="Times New Roman"/>
              <a:ea typeface="Times New Roman"/>
              <a:cs typeface="Times New Roman"/>
              <a:sym typeface="Times New Roman"/>
            </a:endParaRPr>
          </a:p>
        </p:txBody>
      </p:sp>
      <p:sp>
        <p:nvSpPr>
          <p:cNvPr id="311" name="Google Shape;311;p45"/>
          <p:cNvSpPr txBox="1"/>
          <p:nvPr>
            <p:ph idx="1" type="body"/>
          </p:nvPr>
        </p:nvSpPr>
        <p:spPr>
          <a:xfrm>
            <a:off x="457201" y="5040377"/>
            <a:ext cx="6456300" cy="996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2900"/>
              <a:t>Secure — Network &amp; Data Protection</a:t>
            </a:r>
            <a:endParaRPr sz="2900">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6"/>
          <p:cNvSpPr txBox="1"/>
          <p:nvPr>
            <p:ph type="title"/>
          </p:nvPr>
        </p:nvSpPr>
        <p:spPr>
          <a:xfrm>
            <a:off x="457201" y="2545492"/>
            <a:ext cx="6456300" cy="2446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Times New Roman"/>
              <a:buNone/>
            </a:pPr>
            <a:r>
              <a:rPr lang="en-US">
                <a:latin typeface="Times New Roman"/>
                <a:ea typeface="Times New Roman"/>
                <a:cs typeface="Times New Roman"/>
                <a:sym typeface="Times New Roman"/>
              </a:rPr>
              <a:t>Secure</a:t>
            </a:r>
            <a:endParaRPr>
              <a:latin typeface="Times New Roman"/>
              <a:ea typeface="Times New Roman"/>
              <a:cs typeface="Times New Roman"/>
              <a:sym typeface="Times New Roman"/>
            </a:endParaRPr>
          </a:p>
        </p:txBody>
      </p:sp>
      <p:sp>
        <p:nvSpPr>
          <p:cNvPr id="317" name="Google Shape;317;p46"/>
          <p:cNvSpPr txBox="1"/>
          <p:nvPr>
            <p:ph idx="1" type="body"/>
          </p:nvPr>
        </p:nvSpPr>
        <p:spPr>
          <a:xfrm>
            <a:off x="457201" y="5040377"/>
            <a:ext cx="6456300" cy="996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latin typeface="Times New Roman"/>
                <a:ea typeface="Times New Roman"/>
                <a:cs typeface="Times New Roman"/>
                <a:sym typeface="Times New Roman"/>
              </a:rPr>
              <a:t>Key Features - System Manager Services</a:t>
            </a:r>
            <a:endParaRPr>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7"/>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323" name="Google Shape;323;p47"/>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Secure</a:t>
            </a:r>
            <a:endParaRPr/>
          </a:p>
        </p:txBody>
      </p:sp>
      <p:pic>
        <p:nvPicPr>
          <p:cNvPr id="324" name="Google Shape;324;p47"/>
          <p:cNvPicPr preferRelativeResize="0"/>
          <p:nvPr/>
        </p:nvPicPr>
        <p:blipFill>
          <a:blip r:embed="rId3">
            <a:alphaModFix/>
          </a:blip>
          <a:stretch>
            <a:fillRect/>
          </a:stretch>
        </p:blipFill>
        <p:spPr>
          <a:xfrm>
            <a:off x="155425" y="1261500"/>
            <a:ext cx="11887200" cy="4850034"/>
          </a:xfrm>
          <a:prstGeom prst="rect">
            <a:avLst/>
          </a:prstGeom>
          <a:noFill/>
          <a:ln>
            <a:noFill/>
          </a:ln>
        </p:spPr>
      </p:pic>
      <p:sp>
        <p:nvSpPr>
          <p:cNvPr id="325" name="Google Shape;325;p47"/>
          <p:cNvSpPr txBox="1"/>
          <p:nvPr/>
        </p:nvSpPr>
        <p:spPr>
          <a:xfrm>
            <a:off x="365725" y="632525"/>
            <a:ext cx="4467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VPC</a:t>
            </a:r>
            <a:endParaRPr sz="24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8"/>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331" name="Google Shape;331;p48"/>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Secure</a:t>
            </a:r>
            <a:endParaRPr/>
          </a:p>
        </p:txBody>
      </p:sp>
      <p:pic>
        <p:nvPicPr>
          <p:cNvPr id="332" name="Google Shape;332;p48"/>
          <p:cNvPicPr preferRelativeResize="0"/>
          <p:nvPr/>
        </p:nvPicPr>
        <p:blipFill>
          <a:blip r:embed="rId3">
            <a:alphaModFix/>
          </a:blip>
          <a:stretch>
            <a:fillRect/>
          </a:stretch>
        </p:blipFill>
        <p:spPr>
          <a:xfrm>
            <a:off x="155425" y="1383970"/>
            <a:ext cx="11887198" cy="5062653"/>
          </a:xfrm>
          <a:prstGeom prst="rect">
            <a:avLst/>
          </a:prstGeom>
          <a:noFill/>
          <a:ln>
            <a:noFill/>
          </a:ln>
        </p:spPr>
      </p:pic>
      <p:sp>
        <p:nvSpPr>
          <p:cNvPr id="333" name="Google Shape;333;p48"/>
          <p:cNvSpPr txBox="1"/>
          <p:nvPr/>
        </p:nvSpPr>
        <p:spPr>
          <a:xfrm>
            <a:off x="365725" y="709675"/>
            <a:ext cx="6205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2 AZ - 2 Public &amp; 2 Private Subnet</a:t>
            </a:r>
            <a:endParaRPr sz="24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9"/>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339" name="Google Shape;339;p49"/>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Secure</a:t>
            </a:r>
            <a:endParaRPr/>
          </a:p>
        </p:txBody>
      </p:sp>
      <p:pic>
        <p:nvPicPr>
          <p:cNvPr id="340" name="Google Shape;340;p49"/>
          <p:cNvPicPr preferRelativeResize="0"/>
          <p:nvPr/>
        </p:nvPicPr>
        <p:blipFill>
          <a:blip r:embed="rId3">
            <a:alphaModFix/>
          </a:blip>
          <a:stretch>
            <a:fillRect/>
          </a:stretch>
        </p:blipFill>
        <p:spPr>
          <a:xfrm>
            <a:off x="155425" y="1164870"/>
            <a:ext cx="11887201" cy="3191047"/>
          </a:xfrm>
          <a:prstGeom prst="rect">
            <a:avLst/>
          </a:prstGeom>
          <a:noFill/>
          <a:ln>
            <a:noFill/>
          </a:ln>
        </p:spPr>
      </p:pic>
      <p:pic>
        <p:nvPicPr>
          <p:cNvPr id="341" name="Google Shape;341;p49"/>
          <p:cNvPicPr preferRelativeResize="0"/>
          <p:nvPr/>
        </p:nvPicPr>
        <p:blipFill>
          <a:blip r:embed="rId4">
            <a:alphaModFix/>
          </a:blip>
          <a:stretch>
            <a:fillRect/>
          </a:stretch>
        </p:blipFill>
        <p:spPr>
          <a:xfrm>
            <a:off x="451725" y="4355917"/>
            <a:ext cx="11294590" cy="2208905"/>
          </a:xfrm>
          <a:prstGeom prst="rect">
            <a:avLst/>
          </a:prstGeom>
          <a:noFill/>
          <a:ln>
            <a:noFill/>
          </a:ln>
        </p:spPr>
      </p:pic>
      <p:sp>
        <p:nvSpPr>
          <p:cNvPr id="342" name="Google Shape;342;p49"/>
          <p:cNvSpPr txBox="1"/>
          <p:nvPr/>
        </p:nvSpPr>
        <p:spPr>
          <a:xfrm>
            <a:off x="365725" y="610775"/>
            <a:ext cx="4467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NAT Gateway &amp; Elastic IP</a:t>
            </a:r>
            <a:endParaRPr sz="24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0"/>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348" name="Google Shape;348;p50"/>
          <p:cNvSpPr txBox="1"/>
          <p:nvPr>
            <p:ph type="title"/>
          </p:nvPr>
        </p:nvSpPr>
        <p:spPr>
          <a:xfrm>
            <a:off x="365727" y="212779"/>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Secure</a:t>
            </a:r>
            <a:endParaRPr/>
          </a:p>
        </p:txBody>
      </p:sp>
      <p:pic>
        <p:nvPicPr>
          <p:cNvPr id="349" name="Google Shape;349;p50"/>
          <p:cNvPicPr preferRelativeResize="0"/>
          <p:nvPr/>
        </p:nvPicPr>
        <p:blipFill>
          <a:blip r:embed="rId3">
            <a:alphaModFix/>
          </a:blip>
          <a:stretch>
            <a:fillRect/>
          </a:stretch>
        </p:blipFill>
        <p:spPr>
          <a:xfrm>
            <a:off x="152400" y="502875"/>
            <a:ext cx="11887200" cy="3109050"/>
          </a:xfrm>
          <a:prstGeom prst="rect">
            <a:avLst/>
          </a:prstGeom>
          <a:noFill/>
          <a:ln>
            <a:noFill/>
          </a:ln>
        </p:spPr>
      </p:pic>
      <p:pic>
        <p:nvPicPr>
          <p:cNvPr id="350" name="Google Shape;350;p50"/>
          <p:cNvPicPr preferRelativeResize="0"/>
          <p:nvPr/>
        </p:nvPicPr>
        <p:blipFill>
          <a:blip r:embed="rId4">
            <a:alphaModFix/>
          </a:blip>
          <a:stretch>
            <a:fillRect/>
          </a:stretch>
        </p:blipFill>
        <p:spPr>
          <a:xfrm>
            <a:off x="259063" y="3748950"/>
            <a:ext cx="11679925" cy="3109051"/>
          </a:xfrm>
          <a:prstGeom prst="rect">
            <a:avLst/>
          </a:prstGeom>
          <a:noFill/>
          <a:ln>
            <a:noFill/>
          </a:ln>
        </p:spPr>
      </p:pic>
      <p:sp>
        <p:nvSpPr>
          <p:cNvPr id="351" name="Google Shape;351;p50"/>
          <p:cNvSpPr txBox="1"/>
          <p:nvPr/>
        </p:nvSpPr>
        <p:spPr>
          <a:xfrm>
            <a:off x="4132425" y="0"/>
            <a:ext cx="4467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Route Table</a:t>
            </a:r>
            <a:endParaRPr sz="2400">
              <a:solidFill>
                <a:schemeClr val="dk1"/>
              </a:solidFill>
            </a:endParaRPr>
          </a:p>
        </p:txBody>
      </p:sp>
      <p:sp>
        <p:nvSpPr>
          <p:cNvPr id="352" name="Google Shape;352;p50"/>
          <p:cNvSpPr/>
          <p:nvPr/>
        </p:nvSpPr>
        <p:spPr>
          <a:xfrm>
            <a:off x="469650" y="3045789"/>
            <a:ext cx="10538100" cy="2901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3" name="Google Shape;353;p50"/>
          <p:cNvSpPr/>
          <p:nvPr/>
        </p:nvSpPr>
        <p:spPr>
          <a:xfrm>
            <a:off x="469650" y="6300964"/>
            <a:ext cx="10538100" cy="2901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1"/>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359" name="Google Shape;359;p51"/>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Secure</a:t>
            </a:r>
            <a:endParaRPr/>
          </a:p>
        </p:txBody>
      </p:sp>
      <p:sp>
        <p:nvSpPr>
          <p:cNvPr id="360" name="Google Shape;360;p51"/>
          <p:cNvSpPr txBox="1"/>
          <p:nvPr/>
        </p:nvSpPr>
        <p:spPr>
          <a:xfrm>
            <a:off x="528050" y="816163"/>
            <a:ext cx="4467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Security Group - sg-alb</a:t>
            </a:r>
            <a:endParaRPr sz="2400">
              <a:solidFill>
                <a:schemeClr val="dk1"/>
              </a:solidFill>
            </a:endParaRPr>
          </a:p>
        </p:txBody>
      </p:sp>
      <p:pic>
        <p:nvPicPr>
          <p:cNvPr id="361" name="Google Shape;361;p51"/>
          <p:cNvPicPr preferRelativeResize="0"/>
          <p:nvPr/>
        </p:nvPicPr>
        <p:blipFill>
          <a:blip r:embed="rId3">
            <a:alphaModFix/>
          </a:blip>
          <a:stretch>
            <a:fillRect/>
          </a:stretch>
        </p:blipFill>
        <p:spPr>
          <a:xfrm>
            <a:off x="155425" y="1681575"/>
            <a:ext cx="11887202" cy="445373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2"/>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367" name="Google Shape;367;p52"/>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Secure</a:t>
            </a:r>
            <a:endParaRPr/>
          </a:p>
        </p:txBody>
      </p:sp>
      <p:pic>
        <p:nvPicPr>
          <p:cNvPr id="368" name="Google Shape;368;p52"/>
          <p:cNvPicPr preferRelativeResize="0"/>
          <p:nvPr/>
        </p:nvPicPr>
        <p:blipFill>
          <a:blip r:embed="rId3">
            <a:alphaModFix/>
          </a:blip>
          <a:stretch>
            <a:fillRect/>
          </a:stretch>
        </p:blipFill>
        <p:spPr>
          <a:xfrm>
            <a:off x="152400" y="1596945"/>
            <a:ext cx="11887199" cy="4951775"/>
          </a:xfrm>
          <a:prstGeom prst="rect">
            <a:avLst/>
          </a:prstGeom>
          <a:noFill/>
          <a:ln>
            <a:noFill/>
          </a:ln>
        </p:spPr>
      </p:pic>
      <p:sp>
        <p:nvSpPr>
          <p:cNvPr id="369" name="Google Shape;369;p52"/>
          <p:cNvSpPr/>
          <p:nvPr/>
        </p:nvSpPr>
        <p:spPr>
          <a:xfrm>
            <a:off x="3501600" y="5583850"/>
            <a:ext cx="8623800" cy="7251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0" name="Google Shape;370;p52"/>
          <p:cNvSpPr txBox="1"/>
          <p:nvPr/>
        </p:nvSpPr>
        <p:spPr>
          <a:xfrm>
            <a:off x="528050" y="816163"/>
            <a:ext cx="4467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Security Group - sg-alb</a:t>
            </a:r>
            <a:endParaRPr sz="240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3"/>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376" name="Google Shape;376;p53"/>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Secure</a:t>
            </a:r>
            <a:endParaRPr/>
          </a:p>
        </p:txBody>
      </p:sp>
      <p:sp>
        <p:nvSpPr>
          <p:cNvPr id="377" name="Google Shape;377;p53"/>
          <p:cNvSpPr txBox="1"/>
          <p:nvPr/>
        </p:nvSpPr>
        <p:spPr>
          <a:xfrm>
            <a:off x="506425" y="722225"/>
            <a:ext cx="4467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Security Group - sg-ec2</a:t>
            </a:r>
            <a:endParaRPr sz="2400">
              <a:solidFill>
                <a:schemeClr val="dk1"/>
              </a:solidFill>
            </a:endParaRPr>
          </a:p>
        </p:txBody>
      </p:sp>
      <p:pic>
        <p:nvPicPr>
          <p:cNvPr id="378" name="Google Shape;378;p53"/>
          <p:cNvPicPr preferRelativeResize="0"/>
          <p:nvPr/>
        </p:nvPicPr>
        <p:blipFill>
          <a:blip r:embed="rId3">
            <a:alphaModFix/>
          </a:blip>
          <a:stretch>
            <a:fillRect/>
          </a:stretch>
        </p:blipFill>
        <p:spPr>
          <a:xfrm>
            <a:off x="152400" y="1495488"/>
            <a:ext cx="11887200" cy="4731983"/>
          </a:xfrm>
          <a:prstGeom prst="rect">
            <a:avLst/>
          </a:prstGeom>
          <a:noFill/>
          <a:ln>
            <a:noFill/>
          </a:ln>
        </p:spPr>
      </p:pic>
      <p:sp>
        <p:nvSpPr>
          <p:cNvPr id="379" name="Google Shape;379;p53"/>
          <p:cNvSpPr/>
          <p:nvPr/>
        </p:nvSpPr>
        <p:spPr>
          <a:xfrm>
            <a:off x="5918475" y="3574200"/>
            <a:ext cx="3828000" cy="23763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4"/>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385" name="Google Shape;385;p54"/>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Secure</a:t>
            </a:r>
            <a:endParaRPr/>
          </a:p>
        </p:txBody>
      </p:sp>
      <p:pic>
        <p:nvPicPr>
          <p:cNvPr id="386" name="Google Shape;386;p54"/>
          <p:cNvPicPr preferRelativeResize="0"/>
          <p:nvPr/>
        </p:nvPicPr>
        <p:blipFill>
          <a:blip r:embed="rId3">
            <a:alphaModFix/>
          </a:blip>
          <a:stretch>
            <a:fillRect/>
          </a:stretch>
        </p:blipFill>
        <p:spPr>
          <a:xfrm>
            <a:off x="155425" y="1384182"/>
            <a:ext cx="11887198" cy="5155275"/>
          </a:xfrm>
          <a:prstGeom prst="rect">
            <a:avLst/>
          </a:prstGeom>
          <a:noFill/>
          <a:ln>
            <a:noFill/>
          </a:ln>
        </p:spPr>
      </p:pic>
      <p:sp>
        <p:nvSpPr>
          <p:cNvPr id="387" name="Google Shape;387;p54"/>
          <p:cNvSpPr/>
          <p:nvPr/>
        </p:nvSpPr>
        <p:spPr>
          <a:xfrm>
            <a:off x="2463175" y="5256075"/>
            <a:ext cx="9477600" cy="7251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8" name="Google Shape;388;p54"/>
          <p:cNvSpPr txBox="1"/>
          <p:nvPr/>
        </p:nvSpPr>
        <p:spPr>
          <a:xfrm>
            <a:off x="506425" y="722225"/>
            <a:ext cx="4467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Security Group - sg-ec2</a:t>
            </a:r>
            <a:endParaRPr sz="24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5"/>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394" name="Google Shape;394;p55"/>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Secure</a:t>
            </a:r>
            <a:endParaRPr/>
          </a:p>
        </p:txBody>
      </p:sp>
      <p:sp>
        <p:nvSpPr>
          <p:cNvPr id="395" name="Google Shape;395;p55"/>
          <p:cNvSpPr txBox="1"/>
          <p:nvPr/>
        </p:nvSpPr>
        <p:spPr>
          <a:xfrm>
            <a:off x="2699700" y="5993875"/>
            <a:ext cx="8351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endParaRPr>
          </a:p>
        </p:txBody>
      </p:sp>
      <p:sp>
        <p:nvSpPr>
          <p:cNvPr id="396" name="Google Shape;396;p55"/>
          <p:cNvSpPr txBox="1"/>
          <p:nvPr/>
        </p:nvSpPr>
        <p:spPr>
          <a:xfrm>
            <a:off x="506425" y="722225"/>
            <a:ext cx="4467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Security Group - sg-rds</a:t>
            </a:r>
            <a:endParaRPr sz="2400">
              <a:solidFill>
                <a:schemeClr val="dk1"/>
              </a:solidFill>
            </a:endParaRPr>
          </a:p>
        </p:txBody>
      </p:sp>
      <p:pic>
        <p:nvPicPr>
          <p:cNvPr id="397" name="Google Shape;397;p55"/>
          <p:cNvPicPr preferRelativeResize="0"/>
          <p:nvPr/>
        </p:nvPicPr>
        <p:blipFill>
          <a:blip r:embed="rId3">
            <a:alphaModFix/>
          </a:blip>
          <a:stretch>
            <a:fillRect/>
          </a:stretch>
        </p:blipFill>
        <p:spPr>
          <a:xfrm>
            <a:off x="404588" y="1791200"/>
            <a:ext cx="11382818" cy="4412749"/>
          </a:xfrm>
          <a:prstGeom prst="rect">
            <a:avLst/>
          </a:prstGeom>
          <a:noFill/>
          <a:ln>
            <a:noFill/>
          </a:ln>
        </p:spPr>
      </p:pic>
      <p:sp>
        <p:nvSpPr>
          <p:cNvPr id="398" name="Google Shape;398;p55"/>
          <p:cNvSpPr/>
          <p:nvPr/>
        </p:nvSpPr>
        <p:spPr>
          <a:xfrm>
            <a:off x="5614000" y="5024075"/>
            <a:ext cx="3828000" cy="12888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6"/>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404" name="Google Shape;404;p56"/>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Secure</a:t>
            </a:r>
            <a:endParaRPr/>
          </a:p>
        </p:txBody>
      </p:sp>
      <p:pic>
        <p:nvPicPr>
          <p:cNvPr id="405" name="Google Shape;405;p56"/>
          <p:cNvPicPr preferRelativeResize="0"/>
          <p:nvPr/>
        </p:nvPicPr>
        <p:blipFill>
          <a:blip r:embed="rId3">
            <a:alphaModFix/>
          </a:blip>
          <a:stretch>
            <a:fillRect/>
          </a:stretch>
        </p:blipFill>
        <p:spPr>
          <a:xfrm>
            <a:off x="260650" y="1409070"/>
            <a:ext cx="11887200" cy="4981651"/>
          </a:xfrm>
          <a:prstGeom prst="rect">
            <a:avLst/>
          </a:prstGeom>
          <a:noFill/>
          <a:ln>
            <a:noFill/>
          </a:ln>
        </p:spPr>
      </p:pic>
      <p:sp>
        <p:nvSpPr>
          <p:cNvPr id="406" name="Google Shape;406;p56"/>
          <p:cNvSpPr/>
          <p:nvPr/>
        </p:nvSpPr>
        <p:spPr>
          <a:xfrm>
            <a:off x="4645350" y="5338800"/>
            <a:ext cx="7273500" cy="5073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7" name="Google Shape;407;p56"/>
          <p:cNvSpPr txBox="1"/>
          <p:nvPr/>
        </p:nvSpPr>
        <p:spPr>
          <a:xfrm>
            <a:off x="2699700" y="5993875"/>
            <a:ext cx="8351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endParaRPr>
          </a:p>
        </p:txBody>
      </p:sp>
      <p:sp>
        <p:nvSpPr>
          <p:cNvPr id="408" name="Google Shape;408;p56"/>
          <p:cNvSpPr txBox="1"/>
          <p:nvPr/>
        </p:nvSpPr>
        <p:spPr>
          <a:xfrm>
            <a:off x="506425" y="722225"/>
            <a:ext cx="4467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Security Group - sg-rds</a:t>
            </a:r>
            <a:endParaRPr sz="2400">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7"/>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414" name="Google Shape;414;p57"/>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Secure</a:t>
            </a:r>
            <a:endParaRPr/>
          </a:p>
        </p:txBody>
      </p:sp>
      <p:pic>
        <p:nvPicPr>
          <p:cNvPr id="415" name="Google Shape;415;p57"/>
          <p:cNvPicPr preferRelativeResize="0"/>
          <p:nvPr/>
        </p:nvPicPr>
        <p:blipFill>
          <a:blip r:embed="rId3">
            <a:alphaModFix/>
          </a:blip>
          <a:stretch>
            <a:fillRect/>
          </a:stretch>
        </p:blipFill>
        <p:spPr>
          <a:xfrm>
            <a:off x="471413" y="1122270"/>
            <a:ext cx="11075974" cy="5552353"/>
          </a:xfrm>
          <a:prstGeom prst="rect">
            <a:avLst/>
          </a:prstGeom>
          <a:noFill/>
          <a:ln>
            <a:noFill/>
          </a:ln>
        </p:spPr>
      </p:pic>
      <p:sp>
        <p:nvSpPr>
          <p:cNvPr id="416" name="Google Shape;416;p57"/>
          <p:cNvSpPr txBox="1"/>
          <p:nvPr/>
        </p:nvSpPr>
        <p:spPr>
          <a:xfrm>
            <a:off x="579675" y="689750"/>
            <a:ext cx="4467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RDS</a:t>
            </a:r>
            <a:endParaRPr sz="240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8"/>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422" name="Google Shape;422;p58"/>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Secure</a:t>
            </a:r>
            <a:endParaRPr/>
          </a:p>
        </p:txBody>
      </p:sp>
      <p:pic>
        <p:nvPicPr>
          <p:cNvPr id="423" name="Google Shape;423;p58"/>
          <p:cNvPicPr preferRelativeResize="0"/>
          <p:nvPr/>
        </p:nvPicPr>
        <p:blipFill>
          <a:blip r:embed="rId3">
            <a:alphaModFix/>
          </a:blip>
          <a:stretch>
            <a:fillRect/>
          </a:stretch>
        </p:blipFill>
        <p:spPr>
          <a:xfrm>
            <a:off x="155425" y="1337195"/>
            <a:ext cx="11887200" cy="5255204"/>
          </a:xfrm>
          <a:prstGeom prst="rect">
            <a:avLst/>
          </a:prstGeom>
          <a:noFill/>
          <a:ln>
            <a:noFill/>
          </a:ln>
        </p:spPr>
      </p:pic>
      <p:sp>
        <p:nvSpPr>
          <p:cNvPr id="424" name="Google Shape;424;p58"/>
          <p:cNvSpPr/>
          <p:nvPr/>
        </p:nvSpPr>
        <p:spPr>
          <a:xfrm>
            <a:off x="6657200" y="3261575"/>
            <a:ext cx="2548500" cy="6813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5" name="Google Shape;425;p58"/>
          <p:cNvSpPr txBox="1"/>
          <p:nvPr/>
        </p:nvSpPr>
        <p:spPr>
          <a:xfrm>
            <a:off x="506425" y="722225"/>
            <a:ext cx="4467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RDS</a:t>
            </a:r>
            <a:endParaRPr sz="2400">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9"/>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431" name="Google Shape;431;p59"/>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Secure</a:t>
            </a:r>
            <a:endParaRPr/>
          </a:p>
        </p:txBody>
      </p:sp>
      <p:pic>
        <p:nvPicPr>
          <p:cNvPr id="432" name="Google Shape;432;p59"/>
          <p:cNvPicPr preferRelativeResize="0"/>
          <p:nvPr/>
        </p:nvPicPr>
        <p:blipFill>
          <a:blip r:embed="rId3">
            <a:alphaModFix/>
          </a:blip>
          <a:stretch>
            <a:fillRect/>
          </a:stretch>
        </p:blipFill>
        <p:spPr>
          <a:xfrm>
            <a:off x="174050" y="1122270"/>
            <a:ext cx="11500788" cy="5552353"/>
          </a:xfrm>
          <a:prstGeom prst="rect">
            <a:avLst/>
          </a:prstGeom>
          <a:noFill/>
          <a:ln>
            <a:noFill/>
          </a:ln>
        </p:spPr>
      </p:pic>
      <p:sp>
        <p:nvSpPr>
          <p:cNvPr id="433" name="Google Shape;433;p59"/>
          <p:cNvSpPr/>
          <p:nvPr/>
        </p:nvSpPr>
        <p:spPr>
          <a:xfrm>
            <a:off x="4102225" y="2048125"/>
            <a:ext cx="6162000" cy="5799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4" name="Google Shape;434;p59"/>
          <p:cNvSpPr txBox="1"/>
          <p:nvPr/>
        </p:nvSpPr>
        <p:spPr>
          <a:xfrm>
            <a:off x="365725" y="657275"/>
            <a:ext cx="4467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Private EC2</a:t>
            </a:r>
            <a:endParaRPr sz="2400">
              <a:solidFill>
                <a:schemeClr val="dk1"/>
              </a:solidFill>
            </a:endParaRPr>
          </a:p>
        </p:txBody>
      </p:sp>
      <p:sp>
        <p:nvSpPr>
          <p:cNvPr id="435" name="Google Shape;435;p59"/>
          <p:cNvSpPr/>
          <p:nvPr/>
        </p:nvSpPr>
        <p:spPr>
          <a:xfrm>
            <a:off x="557400" y="5100325"/>
            <a:ext cx="1663800" cy="5799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0"/>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441" name="Google Shape;441;p60"/>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Secure</a:t>
            </a:r>
            <a:endParaRPr/>
          </a:p>
        </p:txBody>
      </p:sp>
      <p:sp>
        <p:nvSpPr>
          <p:cNvPr id="442" name="Google Shape;442;p60"/>
          <p:cNvSpPr txBox="1"/>
          <p:nvPr/>
        </p:nvSpPr>
        <p:spPr>
          <a:xfrm>
            <a:off x="1080925" y="1696375"/>
            <a:ext cx="10036200" cy="2986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2600"/>
              <a:t>Our security design follows the "zero trust" principle—the EC2 application layer and the RDS database layer are completely isolated in a private subnet, with zero exposure to the external network. The only external entry point is ALB, with layers of restrictions from Security Group: ALB only accepts HTTP/HTTPS, EC2 only trusts traffic from ALB, and RDS only trusts traffic from EC2, forming a one-way trust chain.</a:t>
            </a:r>
            <a:endParaRPr sz="26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1"/>
          <p:cNvSpPr txBox="1"/>
          <p:nvPr>
            <p:ph type="title"/>
          </p:nvPr>
        </p:nvSpPr>
        <p:spPr>
          <a:xfrm>
            <a:off x="457201" y="2545492"/>
            <a:ext cx="6456300" cy="2446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Times New Roman"/>
              <a:buNone/>
            </a:pPr>
            <a:r>
              <a:rPr lang="en-US">
                <a:latin typeface="Times New Roman"/>
                <a:ea typeface="Times New Roman"/>
                <a:cs typeface="Times New Roman"/>
                <a:sym typeface="Times New Roman"/>
              </a:rPr>
              <a:t>Secure</a:t>
            </a:r>
            <a:endParaRPr>
              <a:latin typeface="Times New Roman"/>
              <a:ea typeface="Times New Roman"/>
              <a:cs typeface="Times New Roman"/>
              <a:sym typeface="Times New Roman"/>
            </a:endParaRPr>
          </a:p>
        </p:txBody>
      </p:sp>
      <p:sp>
        <p:nvSpPr>
          <p:cNvPr id="448" name="Google Shape;448;p61"/>
          <p:cNvSpPr txBox="1"/>
          <p:nvPr>
            <p:ph idx="1" type="body"/>
          </p:nvPr>
        </p:nvSpPr>
        <p:spPr>
          <a:xfrm>
            <a:off x="457201" y="5040377"/>
            <a:ext cx="6456300" cy="996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None/>
            </a:pPr>
            <a:r>
              <a:rPr lang="en-US" sz="2400"/>
              <a:t>Secure — Secrets Management &amp; Edge Protection </a:t>
            </a:r>
            <a:endParaRPr sz="2400"/>
          </a:p>
          <a:p>
            <a:pPr indent="0" lvl="0" marL="0" rtl="0" algn="l">
              <a:lnSpc>
                <a:spcPct val="100000"/>
              </a:lnSpc>
              <a:spcBef>
                <a:spcPts val="0"/>
              </a:spcBef>
              <a:spcAft>
                <a:spcPts val="0"/>
              </a:spcAft>
              <a:buClr>
                <a:schemeClr val="dk1"/>
              </a:buClr>
              <a:buSzPts val="1100"/>
              <a:buNone/>
            </a:pPr>
            <a:r>
              <a:t/>
            </a:r>
            <a:endParaRPr sz="24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2"/>
          <p:cNvSpPr txBox="1"/>
          <p:nvPr>
            <p:ph type="title"/>
          </p:nvPr>
        </p:nvSpPr>
        <p:spPr>
          <a:xfrm>
            <a:off x="457201" y="2545492"/>
            <a:ext cx="6456300" cy="2446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Times New Roman"/>
              <a:buNone/>
            </a:pPr>
            <a:r>
              <a:rPr lang="en-US">
                <a:latin typeface="Times New Roman"/>
                <a:ea typeface="Times New Roman"/>
                <a:cs typeface="Times New Roman"/>
                <a:sym typeface="Times New Roman"/>
              </a:rPr>
              <a:t>Secure</a:t>
            </a:r>
            <a:endParaRPr>
              <a:latin typeface="Times New Roman"/>
              <a:ea typeface="Times New Roman"/>
              <a:cs typeface="Times New Roman"/>
              <a:sym typeface="Times New Roman"/>
            </a:endParaRPr>
          </a:p>
        </p:txBody>
      </p:sp>
      <p:sp>
        <p:nvSpPr>
          <p:cNvPr id="454" name="Google Shape;454;p62"/>
          <p:cNvSpPr txBox="1"/>
          <p:nvPr>
            <p:ph idx="1" type="body"/>
          </p:nvPr>
        </p:nvSpPr>
        <p:spPr>
          <a:xfrm>
            <a:off x="457201" y="5040377"/>
            <a:ext cx="6456300" cy="996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latin typeface="Times New Roman"/>
                <a:ea typeface="Times New Roman"/>
                <a:cs typeface="Times New Roman"/>
                <a:sym typeface="Times New Roman"/>
              </a:rPr>
              <a:t>Key Features - System Manager </a:t>
            </a:r>
            <a:endParaRPr>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63"/>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460" name="Google Shape;460;p63"/>
          <p:cNvSpPr txBox="1"/>
          <p:nvPr>
            <p:ph type="title"/>
          </p:nvPr>
        </p:nvSpPr>
        <p:spPr>
          <a:xfrm>
            <a:off x="365727" y="212376"/>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Secure</a:t>
            </a:r>
            <a:endParaRPr/>
          </a:p>
        </p:txBody>
      </p:sp>
      <p:pic>
        <p:nvPicPr>
          <p:cNvPr id="461" name="Google Shape;461;p63"/>
          <p:cNvPicPr preferRelativeResize="0"/>
          <p:nvPr/>
        </p:nvPicPr>
        <p:blipFill>
          <a:blip r:embed="rId3">
            <a:alphaModFix/>
          </a:blip>
          <a:stretch>
            <a:fillRect/>
          </a:stretch>
        </p:blipFill>
        <p:spPr>
          <a:xfrm>
            <a:off x="152400" y="1329301"/>
            <a:ext cx="11887202" cy="4290497"/>
          </a:xfrm>
          <a:prstGeom prst="rect">
            <a:avLst/>
          </a:prstGeom>
          <a:noFill/>
          <a:ln>
            <a:noFill/>
          </a:ln>
        </p:spPr>
      </p:pic>
      <p:sp>
        <p:nvSpPr>
          <p:cNvPr id="462" name="Google Shape;462;p63"/>
          <p:cNvSpPr/>
          <p:nvPr/>
        </p:nvSpPr>
        <p:spPr>
          <a:xfrm>
            <a:off x="279175" y="3935000"/>
            <a:ext cx="4609800" cy="13629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64"/>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468" name="Google Shape;468;p64"/>
          <p:cNvSpPr txBox="1"/>
          <p:nvPr>
            <p:ph type="title"/>
          </p:nvPr>
        </p:nvSpPr>
        <p:spPr>
          <a:xfrm>
            <a:off x="365727" y="212376"/>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Secure</a:t>
            </a:r>
            <a:endParaRPr/>
          </a:p>
        </p:txBody>
      </p:sp>
      <p:pic>
        <p:nvPicPr>
          <p:cNvPr id="469" name="Google Shape;469;p64"/>
          <p:cNvPicPr preferRelativeResize="0"/>
          <p:nvPr/>
        </p:nvPicPr>
        <p:blipFill>
          <a:blip r:embed="rId3">
            <a:alphaModFix/>
          </a:blip>
          <a:stretch>
            <a:fillRect/>
          </a:stretch>
        </p:blipFill>
        <p:spPr>
          <a:xfrm>
            <a:off x="152400" y="1089851"/>
            <a:ext cx="11887202" cy="4124003"/>
          </a:xfrm>
          <a:prstGeom prst="rect">
            <a:avLst/>
          </a:prstGeom>
          <a:noFill/>
          <a:ln>
            <a:noFill/>
          </a:ln>
        </p:spPr>
      </p:pic>
      <p:pic>
        <p:nvPicPr>
          <p:cNvPr id="470" name="Google Shape;470;p64"/>
          <p:cNvPicPr preferRelativeResize="0"/>
          <p:nvPr/>
        </p:nvPicPr>
        <p:blipFill>
          <a:blip r:embed="rId4">
            <a:alphaModFix/>
          </a:blip>
          <a:stretch>
            <a:fillRect/>
          </a:stretch>
        </p:blipFill>
        <p:spPr>
          <a:xfrm>
            <a:off x="365725" y="5540229"/>
            <a:ext cx="3438525" cy="771525"/>
          </a:xfrm>
          <a:prstGeom prst="rect">
            <a:avLst/>
          </a:prstGeom>
          <a:noFill/>
          <a:ln>
            <a:noFill/>
          </a:ln>
        </p:spPr>
      </p:pic>
      <p:sp>
        <p:nvSpPr>
          <p:cNvPr id="471" name="Google Shape;471;p64"/>
          <p:cNvSpPr/>
          <p:nvPr/>
        </p:nvSpPr>
        <p:spPr>
          <a:xfrm>
            <a:off x="264225" y="3559525"/>
            <a:ext cx="4494300" cy="13419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65"/>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477" name="Google Shape;477;p65"/>
          <p:cNvSpPr txBox="1"/>
          <p:nvPr>
            <p:ph type="title"/>
          </p:nvPr>
        </p:nvSpPr>
        <p:spPr>
          <a:xfrm>
            <a:off x="365727" y="212376"/>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Secure</a:t>
            </a:r>
            <a:endParaRPr/>
          </a:p>
        </p:txBody>
      </p:sp>
      <p:pic>
        <p:nvPicPr>
          <p:cNvPr id="478" name="Google Shape;478;p65"/>
          <p:cNvPicPr preferRelativeResize="0"/>
          <p:nvPr/>
        </p:nvPicPr>
        <p:blipFill>
          <a:blip r:embed="rId3">
            <a:alphaModFix/>
          </a:blip>
          <a:stretch>
            <a:fillRect/>
          </a:stretch>
        </p:blipFill>
        <p:spPr>
          <a:xfrm>
            <a:off x="152400" y="687250"/>
            <a:ext cx="11680223" cy="3970450"/>
          </a:xfrm>
          <a:prstGeom prst="rect">
            <a:avLst/>
          </a:prstGeom>
          <a:noFill/>
          <a:ln>
            <a:noFill/>
          </a:ln>
        </p:spPr>
      </p:pic>
      <p:sp>
        <p:nvSpPr>
          <p:cNvPr id="479" name="Google Shape;479;p65"/>
          <p:cNvSpPr txBox="1"/>
          <p:nvPr/>
        </p:nvSpPr>
        <p:spPr>
          <a:xfrm>
            <a:off x="246500" y="4599705"/>
            <a:ext cx="10094100" cy="238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100"/>
              <a:t>DB_HOST=$(aws ssm get-parameter --name "/pool-booking/db-host" --region us-east-1 --query "Parameter.Value" --output text)</a:t>
            </a:r>
            <a:endParaRPr b="1" sz="1100"/>
          </a:p>
          <a:p>
            <a:pPr indent="0" lvl="0" marL="0" rtl="0" algn="l">
              <a:spcBef>
                <a:spcPts val="0"/>
              </a:spcBef>
              <a:spcAft>
                <a:spcPts val="0"/>
              </a:spcAft>
              <a:buNone/>
            </a:pPr>
            <a:r>
              <a:rPr b="1" lang="en-US" sz="1100"/>
              <a:t>DB_USER=$(aws ssm get-parameter --name "/pool-booking/db-user" --region us-east-1 --query "Parameter.Value" --output text) </a:t>
            </a:r>
            <a:endParaRPr b="1" sz="1100"/>
          </a:p>
          <a:p>
            <a:pPr indent="0" lvl="0" marL="0" rtl="0" algn="l">
              <a:spcBef>
                <a:spcPts val="0"/>
              </a:spcBef>
              <a:spcAft>
                <a:spcPts val="0"/>
              </a:spcAft>
              <a:buNone/>
            </a:pPr>
            <a:r>
              <a:rPr b="1" lang="en-US" sz="1100"/>
              <a:t>DB_PASS=$(aws ssm get-parameter --name "/pool-booking/db-pass" --with-decryption --region us-east-1 --query "Parameter.Value" --output text)</a:t>
            </a:r>
            <a:endParaRPr b="1" sz="1100"/>
          </a:p>
          <a:p>
            <a:pPr indent="0" lvl="0" marL="0" rtl="0" algn="l">
              <a:spcBef>
                <a:spcPts val="0"/>
              </a:spcBef>
              <a:spcAft>
                <a:spcPts val="0"/>
              </a:spcAft>
              <a:buNone/>
            </a:pPr>
            <a:r>
              <a:rPr b="1" lang="en-US" sz="1100"/>
              <a:t>DB_NAME=$(aws ssm get-parameter --name "/pool-booking/db-name" --region us-east-1 --query "Parameter.Value" --output text) </a:t>
            </a:r>
            <a:endParaRPr b="1" sz="1100"/>
          </a:p>
          <a:p>
            <a:pPr indent="0" lvl="0" marL="0" rtl="0" algn="l">
              <a:spcBef>
                <a:spcPts val="0"/>
              </a:spcBef>
              <a:spcAft>
                <a:spcPts val="0"/>
              </a:spcAft>
              <a:buNone/>
            </a:pPr>
            <a:r>
              <a:t/>
            </a:r>
            <a:endParaRPr b="1" sz="1100"/>
          </a:p>
          <a:p>
            <a:pPr indent="0" lvl="0" marL="0" rtl="0" algn="l">
              <a:spcBef>
                <a:spcPts val="0"/>
              </a:spcBef>
              <a:spcAft>
                <a:spcPts val="0"/>
              </a:spcAft>
              <a:buNone/>
            </a:pPr>
            <a:r>
              <a:t/>
            </a:r>
            <a:endParaRPr b="1" sz="1100"/>
          </a:p>
          <a:p>
            <a:pPr indent="0" lvl="0" marL="0" rtl="0" algn="l">
              <a:spcBef>
                <a:spcPts val="0"/>
              </a:spcBef>
              <a:spcAft>
                <a:spcPts val="0"/>
              </a:spcAft>
              <a:buNone/>
            </a:pPr>
            <a:r>
              <a:rPr b="1" lang="en-US" sz="1100"/>
              <a:t>sudo tee /etc/httpd/conf.d/db-env.conf &lt;&lt; EOF</a:t>
            </a:r>
            <a:endParaRPr b="1" sz="1100"/>
          </a:p>
          <a:p>
            <a:pPr indent="0" lvl="0" marL="0" rtl="0" algn="l">
              <a:spcBef>
                <a:spcPts val="0"/>
              </a:spcBef>
              <a:spcAft>
                <a:spcPts val="0"/>
              </a:spcAft>
              <a:buNone/>
            </a:pPr>
            <a:r>
              <a:rPr b="1" lang="en-US" sz="1100"/>
              <a:t>SetEnv DB_HOST $DB_HOST</a:t>
            </a:r>
            <a:endParaRPr b="1" sz="1100"/>
          </a:p>
          <a:p>
            <a:pPr indent="0" lvl="0" marL="0" rtl="0" algn="l">
              <a:spcBef>
                <a:spcPts val="0"/>
              </a:spcBef>
              <a:spcAft>
                <a:spcPts val="0"/>
              </a:spcAft>
              <a:buNone/>
            </a:pPr>
            <a:r>
              <a:rPr b="1" lang="en-US" sz="1100"/>
              <a:t>SetEnv DB_USER $DB_USER</a:t>
            </a:r>
            <a:endParaRPr b="1" sz="1100"/>
          </a:p>
          <a:p>
            <a:pPr indent="0" lvl="0" marL="0" rtl="0" algn="l">
              <a:spcBef>
                <a:spcPts val="0"/>
              </a:spcBef>
              <a:spcAft>
                <a:spcPts val="0"/>
              </a:spcAft>
              <a:buNone/>
            </a:pPr>
            <a:r>
              <a:rPr b="1" lang="en-US" sz="1100"/>
              <a:t>SetEnv DB_PASS $DB_PASS</a:t>
            </a:r>
            <a:endParaRPr b="1" sz="1100"/>
          </a:p>
          <a:p>
            <a:pPr indent="0" lvl="0" marL="0" rtl="0" algn="l">
              <a:spcBef>
                <a:spcPts val="0"/>
              </a:spcBef>
              <a:spcAft>
                <a:spcPts val="0"/>
              </a:spcAft>
              <a:buNone/>
            </a:pPr>
            <a:r>
              <a:rPr b="1" lang="en-US" sz="1100"/>
              <a:t>SetEnv DB_NAME $DB_NAME</a:t>
            </a:r>
            <a:endParaRPr b="1" sz="1100"/>
          </a:p>
          <a:p>
            <a:pPr indent="0" lvl="0" marL="0" rtl="0" algn="l">
              <a:spcBef>
                <a:spcPts val="0"/>
              </a:spcBef>
              <a:spcAft>
                <a:spcPts val="0"/>
              </a:spcAft>
              <a:buNone/>
            </a:pPr>
            <a:r>
              <a:rPr b="1" lang="en-US" sz="1100"/>
              <a:t>SetEnv IMAGE_BASE_URL https://jy-pool-booking-bucket.s3.us-east-1.amazonaws.com/</a:t>
            </a:r>
            <a:endParaRPr b="1" sz="1100"/>
          </a:p>
          <a:p>
            <a:pPr indent="0" lvl="0" marL="0" rtl="0" algn="l">
              <a:spcBef>
                <a:spcPts val="0"/>
              </a:spcBef>
              <a:spcAft>
                <a:spcPts val="0"/>
              </a:spcAft>
              <a:buNone/>
            </a:pPr>
            <a:r>
              <a:rPr b="1" lang="en-US" sz="1100"/>
              <a:t>EOF</a:t>
            </a:r>
            <a:endParaRPr b="1" sz="1100"/>
          </a:p>
        </p:txBody>
      </p:sp>
      <p:sp>
        <p:nvSpPr>
          <p:cNvPr id="480" name="Google Shape;480;p65"/>
          <p:cNvSpPr/>
          <p:nvPr/>
        </p:nvSpPr>
        <p:spPr>
          <a:xfrm>
            <a:off x="757650" y="3139050"/>
            <a:ext cx="5760600" cy="13419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66"/>
          <p:cNvSpPr txBox="1"/>
          <p:nvPr>
            <p:ph type="title"/>
          </p:nvPr>
        </p:nvSpPr>
        <p:spPr>
          <a:xfrm>
            <a:off x="457201" y="2545492"/>
            <a:ext cx="6456300" cy="2446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Times New Roman"/>
              <a:buNone/>
            </a:pPr>
            <a:r>
              <a:rPr lang="en-US">
                <a:latin typeface="Times New Roman"/>
                <a:ea typeface="Times New Roman"/>
                <a:cs typeface="Times New Roman"/>
                <a:sym typeface="Times New Roman"/>
              </a:rPr>
              <a:t>Secure</a:t>
            </a:r>
            <a:endParaRPr>
              <a:latin typeface="Times New Roman"/>
              <a:ea typeface="Times New Roman"/>
              <a:cs typeface="Times New Roman"/>
              <a:sym typeface="Times New Roman"/>
            </a:endParaRPr>
          </a:p>
        </p:txBody>
      </p:sp>
      <p:sp>
        <p:nvSpPr>
          <p:cNvPr id="486" name="Google Shape;486;p66"/>
          <p:cNvSpPr txBox="1"/>
          <p:nvPr>
            <p:ph idx="1" type="body"/>
          </p:nvPr>
        </p:nvSpPr>
        <p:spPr>
          <a:xfrm>
            <a:off x="457201" y="5040377"/>
            <a:ext cx="6456300" cy="996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latin typeface="Times New Roman"/>
                <a:ea typeface="Times New Roman"/>
                <a:cs typeface="Times New Roman"/>
                <a:sym typeface="Times New Roman"/>
              </a:rPr>
              <a:t>Key Features - WAF &amp; Shield </a:t>
            </a:r>
            <a:endParaRPr>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7"/>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492" name="Google Shape;492;p67"/>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Secure</a:t>
            </a:r>
            <a:endParaRPr/>
          </a:p>
        </p:txBody>
      </p:sp>
      <p:pic>
        <p:nvPicPr>
          <p:cNvPr id="493" name="Google Shape;493;p67"/>
          <p:cNvPicPr preferRelativeResize="0"/>
          <p:nvPr/>
        </p:nvPicPr>
        <p:blipFill>
          <a:blip r:embed="rId3">
            <a:alphaModFix/>
          </a:blip>
          <a:stretch>
            <a:fillRect/>
          </a:stretch>
        </p:blipFill>
        <p:spPr>
          <a:xfrm>
            <a:off x="152400" y="785370"/>
            <a:ext cx="11887203" cy="3613510"/>
          </a:xfrm>
          <a:prstGeom prst="rect">
            <a:avLst/>
          </a:prstGeom>
          <a:noFill/>
          <a:ln>
            <a:noFill/>
          </a:ln>
        </p:spPr>
      </p:pic>
      <p:sp>
        <p:nvSpPr>
          <p:cNvPr id="494" name="Google Shape;494;p67"/>
          <p:cNvSpPr/>
          <p:nvPr/>
        </p:nvSpPr>
        <p:spPr>
          <a:xfrm>
            <a:off x="8163025" y="1253400"/>
            <a:ext cx="3669300" cy="11907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95" name="Google Shape;495;p67"/>
          <p:cNvPicPr preferRelativeResize="0"/>
          <p:nvPr/>
        </p:nvPicPr>
        <p:blipFill>
          <a:blip r:embed="rId4">
            <a:alphaModFix/>
          </a:blip>
          <a:stretch>
            <a:fillRect/>
          </a:stretch>
        </p:blipFill>
        <p:spPr>
          <a:xfrm>
            <a:off x="303950" y="4410300"/>
            <a:ext cx="11370357" cy="2414950"/>
          </a:xfrm>
          <a:prstGeom prst="rect">
            <a:avLst/>
          </a:prstGeom>
          <a:noFill/>
          <a:ln>
            <a:noFill/>
          </a:ln>
        </p:spPr>
      </p:pic>
      <p:sp>
        <p:nvSpPr>
          <p:cNvPr id="496" name="Google Shape;496;p67"/>
          <p:cNvSpPr/>
          <p:nvPr/>
        </p:nvSpPr>
        <p:spPr>
          <a:xfrm>
            <a:off x="7784525" y="4594775"/>
            <a:ext cx="4731900" cy="22119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7" name="Google Shape;497;p67"/>
          <p:cNvSpPr txBox="1"/>
          <p:nvPr/>
        </p:nvSpPr>
        <p:spPr>
          <a:xfrm>
            <a:off x="3755325" y="35375"/>
            <a:ext cx="4467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WAF - Web Application Firewall</a:t>
            </a:r>
            <a:endParaRPr sz="2400">
              <a:solidFill>
                <a:schemeClr val="dk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68"/>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503" name="Google Shape;503;p68"/>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Secure</a:t>
            </a:r>
            <a:endParaRPr/>
          </a:p>
        </p:txBody>
      </p:sp>
      <p:sp>
        <p:nvSpPr>
          <p:cNvPr id="504" name="Google Shape;504;p68"/>
          <p:cNvSpPr txBox="1"/>
          <p:nvPr/>
        </p:nvSpPr>
        <p:spPr>
          <a:xfrm>
            <a:off x="278375" y="4275925"/>
            <a:ext cx="8351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1"/>
                </a:solidFill>
              </a:rPr>
              <a:t>Simulated attack test add - ?id=1' OR '1'='1 </a:t>
            </a:r>
            <a:endParaRPr sz="2000">
              <a:solidFill>
                <a:schemeClr val="dk1"/>
              </a:solidFill>
            </a:endParaRPr>
          </a:p>
        </p:txBody>
      </p:sp>
      <p:pic>
        <p:nvPicPr>
          <p:cNvPr id="505" name="Google Shape;505;p68"/>
          <p:cNvPicPr preferRelativeResize="0"/>
          <p:nvPr/>
        </p:nvPicPr>
        <p:blipFill>
          <a:blip r:embed="rId3">
            <a:alphaModFix/>
          </a:blip>
          <a:stretch>
            <a:fillRect/>
          </a:stretch>
        </p:blipFill>
        <p:spPr>
          <a:xfrm>
            <a:off x="94400" y="4879825"/>
            <a:ext cx="11887202" cy="861032"/>
          </a:xfrm>
          <a:prstGeom prst="rect">
            <a:avLst/>
          </a:prstGeom>
          <a:noFill/>
          <a:ln>
            <a:noFill/>
          </a:ln>
        </p:spPr>
      </p:pic>
      <p:pic>
        <p:nvPicPr>
          <p:cNvPr id="506" name="Google Shape;506;p68"/>
          <p:cNvPicPr preferRelativeResize="0"/>
          <p:nvPr/>
        </p:nvPicPr>
        <p:blipFill>
          <a:blip r:embed="rId4">
            <a:alphaModFix/>
          </a:blip>
          <a:stretch>
            <a:fillRect/>
          </a:stretch>
        </p:blipFill>
        <p:spPr>
          <a:xfrm>
            <a:off x="1863275" y="1339850"/>
            <a:ext cx="8230898" cy="2324725"/>
          </a:xfrm>
          <a:prstGeom prst="rect">
            <a:avLst/>
          </a:prstGeom>
          <a:noFill/>
          <a:ln>
            <a:noFill/>
          </a:ln>
        </p:spPr>
      </p:pic>
      <p:sp>
        <p:nvSpPr>
          <p:cNvPr id="507" name="Google Shape;507;p68"/>
          <p:cNvSpPr txBox="1"/>
          <p:nvPr/>
        </p:nvSpPr>
        <p:spPr>
          <a:xfrm>
            <a:off x="152400" y="775850"/>
            <a:ext cx="5171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1"/>
                </a:solidFill>
              </a:rPr>
              <a:t>When did not have setup WAF</a:t>
            </a:r>
            <a:endParaRPr sz="2000">
              <a:solidFill>
                <a:schemeClr val="dk1"/>
              </a:solidFill>
            </a:endParaRPr>
          </a:p>
        </p:txBody>
      </p:sp>
      <p:sp>
        <p:nvSpPr>
          <p:cNvPr id="508" name="Google Shape;508;p68"/>
          <p:cNvSpPr/>
          <p:nvPr/>
        </p:nvSpPr>
        <p:spPr>
          <a:xfrm>
            <a:off x="1818400" y="1286125"/>
            <a:ext cx="6162000" cy="2901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9" name="Google Shape;509;p68"/>
          <p:cNvSpPr/>
          <p:nvPr/>
        </p:nvSpPr>
        <p:spPr>
          <a:xfrm>
            <a:off x="1743500" y="4879825"/>
            <a:ext cx="6162000" cy="8004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9"/>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515" name="Google Shape;515;p69"/>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Secure</a:t>
            </a:r>
            <a:endParaRPr/>
          </a:p>
        </p:txBody>
      </p:sp>
      <p:sp>
        <p:nvSpPr>
          <p:cNvPr id="516" name="Google Shape;516;p69"/>
          <p:cNvSpPr txBox="1"/>
          <p:nvPr/>
        </p:nvSpPr>
        <p:spPr>
          <a:xfrm>
            <a:off x="719275" y="2278950"/>
            <a:ext cx="10759500" cy="3093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2100"/>
              <a:t>In addition to network layer isolation, we also implemented application layer and edge layer protection. Database passwords are not hard-coded in configuration files, but are encrypted and stored using SecureString in the SSM Parameter Store, and EC2 dynamically retrieves them at boot time via IAM Role. Member passwords use bcrypt one-way hashes; the database does not store plaintext, so even if data is leaked, passwords cannot be reverse-engineered. An outermost layer of WAF is added to intercept common attacks such as SQL injection and XSS. We have actually tested attacks with malicious payloads; the system correctly returned a 403 error and recorded it.</a:t>
            </a:r>
            <a:endParaRPr sz="21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70"/>
          <p:cNvSpPr txBox="1"/>
          <p:nvPr>
            <p:ph type="title"/>
          </p:nvPr>
        </p:nvSpPr>
        <p:spPr>
          <a:xfrm>
            <a:off x="457201" y="2545492"/>
            <a:ext cx="6456405" cy="244687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Times New Roman"/>
              <a:buNone/>
            </a:pPr>
            <a:r>
              <a:rPr lang="en-US">
                <a:latin typeface="Times New Roman"/>
                <a:ea typeface="Times New Roman"/>
                <a:cs typeface="Times New Roman"/>
                <a:sym typeface="Times New Roman"/>
              </a:rPr>
              <a:t>Cost Optimized</a:t>
            </a:r>
            <a:endParaRPr>
              <a:latin typeface="Times New Roman"/>
              <a:ea typeface="Times New Roman"/>
              <a:cs typeface="Times New Roman"/>
              <a:sym typeface="Times New Roman"/>
            </a:endParaRPr>
          </a:p>
        </p:txBody>
      </p:sp>
      <p:sp>
        <p:nvSpPr>
          <p:cNvPr id="522" name="Google Shape;522;p70"/>
          <p:cNvSpPr txBox="1"/>
          <p:nvPr>
            <p:ph idx="1" type="body"/>
          </p:nvPr>
        </p:nvSpPr>
        <p:spPr>
          <a:xfrm>
            <a:off x="457201" y="5040377"/>
            <a:ext cx="6456405" cy="99589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latin typeface="Times New Roman"/>
                <a:ea typeface="Times New Roman"/>
                <a:cs typeface="Times New Roman"/>
                <a:sym typeface="Times New Roman"/>
              </a:rPr>
              <a:t>Key Features</a:t>
            </a:r>
            <a:endParaRPr>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71"/>
          <p:cNvSpPr txBox="1"/>
          <p:nvPr>
            <p:ph idx="12" type="sldNum"/>
          </p:nvPr>
        </p:nvSpPr>
        <p:spPr>
          <a:xfrm>
            <a:off x="11347836" y="6446622"/>
            <a:ext cx="484707" cy="228091"/>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528" name="Google Shape;528;p71"/>
          <p:cNvSpPr txBox="1"/>
          <p:nvPr>
            <p:ph type="title"/>
          </p:nvPr>
        </p:nvSpPr>
        <p:spPr>
          <a:xfrm>
            <a:off x="365727" y="299370"/>
            <a:ext cx="11466657" cy="29020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Cost Optimized</a:t>
            </a:r>
            <a:endParaRPr/>
          </a:p>
        </p:txBody>
      </p:sp>
      <p:sp>
        <p:nvSpPr>
          <p:cNvPr id="529" name="Google Shape;529;p71"/>
          <p:cNvSpPr txBox="1"/>
          <p:nvPr/>
        </p:nvSpPr>
        <p:spPr>
          <a:xfrm>
            <a:off x="454625" y="2153950"/>
            <a:ext cx="53709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000">
                <a:solidFill>
                  <a:schemeClr val="dk1"/>
                </a:solidFill>
              </a:rPr>
              <a:t>Total </a:t>
            </a:r>
            <a:r>
              <a:rPr lang="en-US" sz="2000">
                <a:solidFill>
                  <a:schemeClr val="dk1"/>
                </a:solidFill>
              </a:rPr>
              <a:t>Cost need ：111.59 USD per month</a:t>
            </a:r>
            <a:endParaRPr sz="2000">
              <a:solidFill>
                <a:schemeClr val="dk1"/>
              </a:solidFill>
            </a:endParaRPr>
          </a:p>
        </p:txBody>
      </p:sp>
      <p:pic>
        <p:nvPicPr>
          <p:cNvPr id="530" name="Google Shape;530;p71"/>
          <p:cNvPicPr preferRelativeResize="0"/>
          <p:nvPr/>
        </p:nvPicPr>
        <p:blipFill>
          <a:blip r:embed="rId3">
            <a:alphaModFix/>
          </a:blip>
          <a:stretch>
            <a:fillRect/>
          </a:stretch>
        </p:blipFill>
        <p:spPr>
          <a:xfrm>
            <a:off x="-16400" y="2873825"/>
            <a:ext cx="11887200" cy="2803892"/>
          </a:xfrm>
          <a:prstGeom prst="rect">
            <a:avLst/>
          </a:prstGeom>
          <a:noFill/>
          <a:ln>
            <a:noFill/>
          </a:ln>
        </p:spPr>
      </p:pic>
      <p:sp>
        <p:nvSpPr>
          <p:cNvPr id="531" name="Google Shape;531;p71"/>
          <p:cNvSpPr txBox="1"/>
          <p:nvPr/>
        </p:nvSpPr>
        <p:spPr>
          <a:xfrm>
            <a:off x="454625" y="1028250"/>
            <a:ext cx="10436400" cy="86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000">
                <a:solidFill>
                  <a:schemeClr val="dk1"/>
                </a:solidFill>
              </a:rPr>
              <a:t>Summary report link: </a:t>
            </a:r>
            <a:r>
              <a:rPr lang="en-US" sz="2100" u="sng">
                <a:solidFill>
                  <a:srgbClr val="1155CC"/>
                </a:solidFill>
                <a:hlinkClick r:id="rId4">
                  <a:extLst>
                    <a:ext uri="{A12FA001-AC4F-418D-AE19-62706E023703}">
                      <ahyp:hlinkClr val="tx"/>
                    </a:ext>
                  </a:extLst>
                </a:hlinkClick>
              </a:rPr>
              <a:t>https://calculator.aws/#/estimate?id=23588b3280df473ebb580ed19157a1e86458921e </a:t>
            </a:r>
            <a:endParaRPr sz="21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72"/>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537" name="Google Shape;537;p72"/>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Cost Optimized</a:t>
            </a:r>
            <a:endParaRPr/>
          </a:p>
        </p:txBody>
      </p:sp>
      <p:pic>
        <p:nvPicPr>
          <p:cNvPr id="538" name="Google Shape;538;p72"/>
          <p:cNvPicPr preferRelativeResize="0"/>
          <p:nvPr/>
        </p:nvPicPr>
        <p:blipFill>
          <a:blip r:embed="rId3">
            <a:alphaModFix/>
          </a:blip>
          <a:stretch>
            <a:fillRect/>
          </a:stretch>
        </p:blipFill>
        <p:spPr>
          <a:xfrm>
            <a:off x="152400" y="842265"/>
            <a:ext cx="11887200" cy="2703212"/>
          </a:xfrm>
          <a:prstGeom prst="rect">
            <a:avLst/>
          </a:prstGeom>
          <a:noFill/>
          <a:ln>
            <a:noFill/>
          </a:ln>
        </p:spPr>
      </p:pic>
      <p:sp>
        <p:nvSpPr>
          <p:cNvPr id="539" name="Google Shape;539;p72"/>
          <p:cNvSpPr txBox="1"/>
          <p:nvPr/>
        </p:nvSpPr>
        <p:spPr>
          <a:xfrm>
            <a:off x="3025" y="3798275"/>
            <a:ext cx="12192000" cy="2505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n-US" sz="1600">
                <a:solidFill>
                  <a:schemeClr val="dk1"/>
                </a:solidFill>
                <a:highlight>
                  <a:srgbClr val="FFFFFF"/>
                </a:highlight>
                <a:latin typeface="Times New Roman"/>
                <a:ea typeface="Times New Roman"/>
                <a:cs typeface="Times New Roman"/>
                <a:sym typeface="Times New Roman"/>
              </a:rPr>
              <a:t>This EC2 configuration is designed for a small application that needs to run continuously while keeping the overall cost low. Shared tenancy is selected because the physical server resources are shared with other AWS customers, making it a more affordable option. Linux is chosen because it is lightweight, widely supported, and suitable for many types of applications. Two t3.micro instances are used to provide basic reliability, so the application can continue operating if one instance experiences a problem. On-Demand pricing is suitable because the instances are expected to run continuously without requiring a long-term commitment. The 8 GB EBS storage provides basic space for the operating system and application files, while monitoring is disabled to avoid additional costs. The data transfer values are set to zero because the estimate assumes very little network traffic. Overall, this configuration provides a simple, affordable, and reliable solution for a small workload.</a:t>
            </a:r>
            <a:endParaRPr sz="1600">
              <a:solidFill>
                <a:schemeClr val="dk1"/>
              </a:solidFill>
              <a:highlight>
                <a:srgbClr val="FFFFFF"/>
              </a:highlight>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t/>
            </a:r>
            <a:endParaRPr sz="1200">
              <a:solidFill>
                <a:schemeClr val="dk1"/>
              </a:solidFill>
              <a:highlight>
                <a:srgbClr val="FFFFFF"/>
              </a:highlight>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73"/>
          <p:cNvSpPr txBox="1"/>
          <p:nvPr>
            <p:ph type="title"/>
          </p:nvPr>
        </p:nvSpPr>
        <p:spPr>
          <a:xfrm>
            <a:off x="365763" y="299528"/>
            <a:ext cx="11466600" cy="289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Cost Optimized</a:t>
            </a:r>
            <a:endParaRPr/>
          </a:p>
        </p:txBody>
      </p:sp>
      <p:sp>
        <p:nvSpPr>
          <p:cNvPr id="546" name="Google Shape;546;p73"/>
          <p:cNvSpPr txBox="1"/>
          <p:nvPr/>
        </p:nvSpPr>
        <p:spPr>
          <a:xfrm>
            <a:off x="0" y="3367325"/>
            <a:ext cx="12126300" cy="2130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US" sz="1600">
                <a:solidFill>
                  <a:schemeClr val="dk1"/>
                </a:solidFill>
                <a:highlight>
                  <a:srgbClr val="FFFFFF"/>
                </a:highlight>
                <a:latin typeface="Times New Roman"/>
                <a:ea typeface="Times New Roman"/>
                <a:cs typeface="Times New Roman"/>
                <a:sym typeface="Times New Roman"/>
              </a:rPr>
              <a:t>This RDS for MySQL configuration is designed for a small database workload that needs to run continuously while keeping costs low. The 20 GB storage provides enough space for a small application database, while General Purpose SSD (gp2) offers a balance between storage performance and cost. One RDS node is selected because the workload is small and does not require a standby database. The db.t3.micro instance is a low-cost option suitable for applications with light database usage. 100% utilization per month means the database is expected to run continuously, 24 hours a day. The Single-AZ deployment is chosen because it is cheaper and suitable when high availability is not a major requirement. Finally, On-Demand pricing provides flexibility because there is no long-term commitment. Overall, this configuration provides a simple and affordable MySQL database solution for a small application.</a:t>
            </a:r>
            <a:r>
              <a:rPr lang="en-US" sz="1600">
                <a:solidFill>
                  <a:schemeClr val="dk1"/>
                </a:solidFill>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p:txBody>
      </p:sp>
      <p:pic>
        <p:nvPicPr>
          <p:cNvPr id="547" name="Google Shape;547;p73"/>
          <p:cNvPicPr preferRelativeResize="0"/>
          <p:nvPr/>
        </p:nvPicPr>
        <p:blipFill>
          <a:blip r:embed="rId3">
            <a:alphaModFix/>
          </a:blip>
          <a:stretch>
            <a:fillRect/>
          </a:stretch>
        </p:blipFill>
        <p:spPr>
          <a:xfrm>
            <a:off x="0" y="798812"/>
            <a:ext cx="12126300" cy="23449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74"/>
          <p:cNvSpPr txBox="1"/>
          <p:nvPr>
            <p:ph type="title"/>
          </p:nvPr>
        </p:nvSpPr>
        <p:spPr>
          <a:xfrm>
            <a:off x="365763" y="299528"/>
            <a:ext cx="11466600" cy="289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Cost Optimized</a:t>
            </a:r>
            <a:endParaRPr/>
          </a:p>
        </p:txBody>
      </p:sp>
      <p:pic>
        <p:nvPicPr>
          <p:cNvPr id="554" name="Google Shape;554;p74"/>
          <p:cNvPicPr preferRelativeResize="0"/>
          <p:nvPr/>
        </p:nvPicPr>
        <p:blipFill>
          <a:blip r:embed="rId3">
            <a:alphaModFix/>
          </a:blip>
          <a:stretch>
            <a:fillRect/>
          </a:stretch>
        </p:blipFill>
        <p:spPr>
          <a:xfrm>
            <a:off x="26863" y="960448"/>
            <a:ext cx="12138276" cy="1555250"/>
          </a:xfrm>
          <a:prstGeom prst="rect">
            <a:avLst/>
          </a:prstGeom>
          <a:noFill/>
          <a:ln>
            <a:noFill/>
          </a:ln>
        </p:spPr>
      </p:pic>
      <p:sp>
        <p:nvSpPr>
          <p:cNvPr id="555" name="Google Shape;555;p74"/>
          <p:cNvSpPr txBox="1"/>
          <p:nvPr/>
        </p:nvSpPr>
        <p:spPr>
          <a:xfrm>
            <a:off x="29925" y="3131200"/>
            <a:ext cx="12138300" cy="997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US" sz="1600">
                <a:solidFill>
                  <a:schemeClr val="dk1"/>
                </a:solidFill>
                <a:highlight>
                  <a:srgbClr val="FFFFFF"/>
                </a:highlight>
                <a:latin typeface="Times New Roman"/>
                <a:ea typeface="Times New Roman"/>
                <a:cs typeface="Times New Roman"/>
                <a:sym typeface="Times New Roman"/>
              </a:rPr>
              <a:t>The Elastic Load Balancing configuration with one Application Load Balancer (ALB) is suitable for distributing incoming application traffic across the two EC2 instances. The load balancer helps ensure that requests are directed to available servers, improving the application's reliability and availability. Using one ALB is sufficient for this small application setup and helps keep the overall AWS cost lower.</a:t>
            </a:r>
            <a:r>
              <a:rPr lang="en-US" sz="1600">
                <a:solidFill>
                  <a:schemeClr val="dk1"/>
                </a:solidFill>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75"/>
          <p:cNvSpPr txBox="1"/>
          <p:nvPr>
            <p:ph type="title"/>
          </p:nvPr>
        </p:nvSpPr>
        <p:spPr>
          <a:xfrm>
            <a:off x="365763" y="299528"/>
            <a:ext cx="11466600" cy="289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Cost Optimized</a:t>
            </a:r>
            <a:endParaRPr/>
          </a:p>
        </p:txBody>
      </p:sp>
      <p:sp>
        <p:nvSpPr>
          <p:cNvPr id="562" name="Google Shape;562;p75"/>
          <p:cNvSpPr txBox="1"/>
          <p:nvPr/>
        </p:nvSpPr>
        <p:spPr>
          <a:xfrm>
            <a:off x="0" y="3095975"/>
            <a:ext cx="12192000" cy="1563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US" sz="1600">
                <a:solidFill>
                  <a:schemeClr val="dk1"/>
                </a:solidFill>
                <a:highlight>
                  <a:srgbClr val="FFFFFF"/>
                </a:highlight>
                <a:latin typeface="Times New Roman"/>
                <a:ea typeface="Times New Roman"/>
                <a:cs typeface="Times New Roman"/>
                <a:sym typeface="Times New Roman"/>
              </a:rPr>
              <a:t>This Amazon VPC configuration is designed to provide secure internet connectivity for the application while controlling costs. The 22 working days per month represents the estimated period of usage during a typical month. One NAT Gateway is used to allow resources in private subnets to access the internet securely without being directly exposed to incoming internet traffic. The NAT Gateway is active across 3 Availability Zones, providing better network availability. The configuration also includes 5 regional NAT Gateways, which represents the estimated regional usage for the cost calculation. Overall, this setup provides a balance between security, availability, and cost for the application.</a:t>
            </a:r>
            <a:r>
              <a:rPr lang="en-US" sz="1600">
                <a:solidFill>
                  <a:schemeClr val="dk1"/>
                </a:solidFill>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p:txBody>
      </p:sp>
      <p:pic>
        <p:nvPicPr>
          <p:cNvPr id="563" name="Google Shape;563;p75"/>
          <p:cNvPicPr preferRelativeResize="0"/>
          <p:nvPr/>
        </p:nvPicPr>
        <p:blipFill>
          <a:blip r:embed="rId3">
            <a:alphaModFix/>
          </a:blip>
          <a:stretch>
            <a:fillRect/>
          </a:stretch>
        </p:blipFill>
        <p:spPr>
          <a:xfrm>
            <a:off x="90750" y="877000"/>
            <a:ext cx="12101250" cy="19310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76"/>
          <p:cNvSpPr txBox="1"/>
          <p:nvPr>
            <p:ph type="title"/>
          </p:nvPr>
        </p:nvSpPr>
        <p:spPr>
          <a:xfrm>
            <a:off x="365763" y="299528"/>
            <a:ext cx="11466600" cy="289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Cost Optimized</a:t>
            </a:r>
            <a:endParaRPr/>
          </a:p>
        </p:txBody>
      </p:sp>
      <p:sp>
        <p:nvSpPr>
          <p:cNvPr id="570" name="Google Shape;570;p76"/>
          <p:cNvSpPr txBox="1"/>
          <p:nvPr/>
        </p:nvSpPr>
        <p:spPr>
          <a:xfrm>
            <a:off x="0" y="3134000"/>
            <a:ext cx="12192000" cy="1563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US" sz="1600">
                <a:solidFill>
                  <a:schemeClr val="dk1"/>
                </a:solidFill>
                <a:highlight>
                  <a:srgbClr val="FFFFFF"/>
                </a:highlight>
                <a:latin typeface="Times New Roman"/>
                <a:ea typeface="Times New Roman"/>
                <a:cs typeface="Times New Roman"/>
                <a:sym typeface="Times New Roman"/>
              </a:rPr>
              <a:t>This Amazon S3 configuration is designed for storing a small amount of application data at a low cost. The 5 GB of S3 Standard storage is suitable for storing files, images, documents, backups, or other application data that may need frequent access. The 10,000 PUT, COPY, POST, and LIST requests and 10,000 GET and other requests represent a small amount of activity between the application and S3. Data transfer is set to 0 TB because the estimate assumes there is no significant data transferred in or out of S3. Overall, this configuration provides simple, scalable, and affordable cloud storage for a small application.</a:t>
            </a:r>
            <a:r>
              <a:rPr lang="en-US" sz="1600">
                <a:solidFill>
                  <a:schemeClr val="dk1"/>
                </a:solidFill>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p:txBody>
      </p:sp>
      <p:pic>
        <p:nvPicPr>
          <p:cNvPr id="571" name="Google Shape;571;p76"/>
          <p:cNvPicPr preferRelativeResize="0"/>
          <p:nvPr/>
        </p:nvPicPr>
        <p:blipFill>
          <a:blip r:embed="rId3">
            <a:alphaModFix/>
          </a:blip>
          <a:stretch>
            <a:fillRect/>
          </a:stretch>
        </p:blipFill>
        <p:spPr>
          <a:xfrm>
            <a:off x="3075" y="723150"/>
            <a:ext cx="12192000" cy="21641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77"/>
          <p:cNvSpPr txBox="1"/>
          <p:nvPr>
            <p:ph type="title"/>
          </p:nvPr>
        </p:nvSpPr>
        <p:spPr>
          <a:xfrm>
            <a:off x="365763" y="299528"/>
            <a:ext cx="11466600" cy="289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Cost Optimized</a:t>
            </a:r>
            <a:endParaRPr/>
          </a:p>
        </p:txBody>
      </p:sp>
      <p:sp>
        <p:nvSpPr>
          <p:cNvPr id="578" name="Google Shape;578;p77"/>
          <p:cNvSpPr txBox="1"/>
          <p:nvPr/>
        </p:nvSpPr>
        <p:spPr>
          <a:xfrm>
            <a:off x="-49350" y="2947950"/>
            <a:ext cx="12290700" cy="1280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n-US" sz="1600">
                <a:solidFill>
                  <a:schemeClr val="dk1"/>
                </a:solidFill>
                <a:latin typeface="Times New Roman"/>
                <a:ea typeface="Times New Roman"/>
                <a:cs typeface="Times New Roman"/>
                <a:sym typeface="Times New Roman"/>
              </a:rPr>
              <a:t>The AWS Web Application Firewall (WAF) configuration is designed to protect the web application from common online threats. One Web ACL is used to control and filter incoming web traffic, while two rules are added to determine which requests should be allowed or blocked. This provides basic security for the application while keeping the configuration simple and cost-effective. Overall, AWS WAF helps protect the application from malicious or unwanted web traffic.</a:t>
            </a:r>
            <a:endParaRPr sz="1600">
              <a:solidFill>
                <a:schemeClr val="dk1"/>
              </a:solidFill>
              <a:latin typeface="Times New Roman"/>
              <a:ea typeface="Times New Roman"/>
              <a:cs typeface="Times New Roman"/>
              <a:sym typeface="Times New Roman"/>
            </a:endParaRPr>
          </a:p>
        </p:txBody>
      </p:sp>
      <p:pic>
        <p:nvPicPr>
          <p:cNvPr id="579" name="Google Shape;579;p77"/>
          <p:cNvPicPr preferRelativeResize="0"/>
          <p:nvPr/>
        </p:nvPicPr>
        <p:blipFill>
          <a:blip r:embed="rId3">
            <a:alphaModFix/>
          </a:blip>
          <a:stretch>
            <a:fillRect/>
          </a:stretch>
        </p:blipFill>
        <p:spPr>
          <a:xfrm>
            <a:off x="0" y="741425"/>
            <a:ext cx="12192001" cy="18567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78"/>
          <p:cNvSpPr txBox="1"/>
          <p:nvPr>
            <p:ph type="title"/>
          </p:nvPr>
        </p:nvSpPr>
        <p:spPr>
          <a:xfrm>
            <a:off x="365763" y="299528"/>
            <a:ext cx="11466600" cy="289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Cost Optimized</a:t>
            </a:r>
            <a:endParaRPr/>
          </a:p>
        </p:txBody>
      </p:sp>
      <p:pic>
        <p:nvPicPr>
          <p:cNvPr id="586" name="Google Shape;586;p78"/>
          <p:cNvPicPr preferRelativeResize="0"/>
          <p:nvPr/>
        </p:nvPicPr>
        <p:blipFill>
          <a:blip r:embed="rId3">
            <a:alphaModFix/>
          </a:blip>
          <a:stretch>
            <a:fillRect/>
          </a:stretch>
        </p:blipFill>
        <p:spPr>
          <a:xfrm>
            <a:off x="0" y="642750"/>
            <a:ext cx="12191998" cy="3516724"/>
          </a:xfrm>
          <a:prstGeom prst="rect">
            <a:avLst/>
          </a:prstGeom>
          <a:noFill/>
          <a:ln>
            <a:noFill/>
          </a:ln>
        </p:spPr>
      </p:pic>
      <p:sp>
        <p:nvSpPr>
          <p:cNvPr id="587" name="Google Shape;587;p78"/>
          <p:cNvSpPr txBox="1"/>
          <p:nvPr/>
        </p:nvSpPr>
        <p:spPr>
          <a:xfrm>
            <a:off x="-61700" y="4447550"/>
            <a:ext cx="12253800" cy="1847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US" sz="1600">
                <a:solidFill>
                  <a:schemeClr val="dk1"/>
                </a:solidFill>
                <a:highlight>
                  <a:srgbClr val="FFFFFF"/>
                </a:highlight>
                <a:latin typeface="Times New Roman"/>
                <a:ea typeface="Times New Roman"/>
                <a:cs typeface="Times New Roman"/>
                <a:sym typeface="Times New Roman"/>
              </a:rPr>
              <a:t>This AWS Lambda configuration is designed for a small application that needs to run code without managing servers directly. The x86 architecture is chosen because it provides broad compatibility with common applications and libraries. The Buffered invoke mode allows Lambda to process requests asynchronously, which is suitable for tasks that do not require an immediate response. The 512 MB ephemeral storage provides temporary space for processing files and data during execution. With 10,000 requests per month, this configuration is suitable for a light workload while keeping costs low. Overall, AWS Lambda provides a flexible and cost-effective way to run application functions without maintaining additional servers.</a:t>
            </a:r>
            <a:r>
              <a:rPr lang="en-US" sz="1600">
                <a:solidFill>
                  <a:schemeClr val="dk1"/>
                </a:solidFill>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79"/>
          <p:cNvSpPr txBox="1"/>
          <p:nvPr>
            <p:ph type="title"/>
          </p:nvPr>
        </p:nvSpPr>
        <p:spPr>
          <a:xfrm>
            <a:off x="365763" y="299528"/>
            <a:ext cx="11466600" cy="289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Cost Optimized</a:t>
            </a:r>
            <a:endParaRPr/>
          </a:p>
        </p:txBody>
      </p:sp>
      <p:pic>
        <p:nvPicPr>
          <p:cNvPr id="594" name="Google Shape;594;p79"/>
          <p:cNvPicPr preferRelativeResize="0"/>
          <p:nvPr/>
        </p:nvPicPr>
        <p:blipFill>
          <a:blip r:embed="rId3">
            <a:alphaModFix/>
          </a:blip>
          <a:stretch>
            <a:fillRect/>
          </a:stretch>
        </p:blipFill>
        <p:spPr>
          <a:xfrm>
            <a:off x="0" y="741425"/>
            <a:ext cx="12191998" cy="2074150"/>
          </a:xfrm>
          <a:prstGeom prst="rect">
            <a:avLst/>
          </a:prstGeom>
          <a:noFill/>
          <a:ln>
            <a:noFill/>
          </a:ln>
        </p:spPr>
      </p:pic>
      <p:sp>
        <p:nvSpPr>
          <p:cNvPr id="595" name="Google Shape;595;p79"/>
          <p:cNvSpPr txBox="1"/>
          <p:nvPr/>
        </p:nvSpPr>
        <p:spPr>
          <a:xfrm>
            <a:off x="0" y="3355000"/>
            <a:ext cx="12192000" cy="1563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n-US" sz="1600">
                <a:solidFill>
                  <a:schemeClr val="dk1"/>
                </a:solidFill>
                <a:latin typeface="Times New Roman"/>
                <a:ea typeface="Times New Roman"/>
                <a:cs typeface="Times New Roman"/>
                <a:sym typeface="Times New Roman"/>
              </a:rPr>
              <a:t>The Amazon Simple Notification Service (SNS) configuration is used to send notifications and messages between different parts of the application. The HTTP/HTTPS notifications (1,000 per month) allow SNS to send messages to web applications or services, while EMAIL/EMAIL-JSON notifications (1,000 per month) allow notifications to be delivered through email. Data transfer is set to 0 TB because the estimate assumes there is no significant additional data transfer. Overall, SNS provides a simple and reliable way to send alerts, updates, and application notifications while keeping the setup cost low.</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80"/>
          <p:cNvSpPr txBox="1"/>
          <p:nvPr>
            <p:ph type="title"/>
          </p:nvPr>
        </p:nvSpPr>
        <p:spPr>
          <a:xfrm>
            <a:off x="365763" y="299528"/>
            <a:ext cx="11466600" cy="289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Cost Optimized</a:t>
            </a:r>
            <a:endParaRPr/>
          </a:p>
        </p:txBody>
      </p:sp>
      <p:sp>
        <p:nvSpPr>
          <p:cNvPr id="602" name="Google Shape;602;p80"/>
          <p:cNvSpPr txBox="1"/>
          <p:nvPr/>
        </p:nvSpPr>
        <p:spPr>
          <a:xfrm>
            <a:off x="32850" y="3170000"/>
            <a:ext cx="12126300" cy="1563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US" sz="1600">
                <a:solidFill>
                  <a:schemeClr val="dk1"/>
                </a:solidFill>
                <a:highlight>
                  <a:srgbClr val="FFFFFF"/>
                </a:highlight>
                <a:latin typeface="Times New Roman"/>
                <a:ea typeface="Times New Roman"/>
                <a:cs typeface="Times New Roman"/>
                <a:sym typeface="Times New Roman"/>
              </a:rPr>
              <a:t>The Amazon CloudWatch configuration is used to monitor the performance and health of the application. The 70 mobile OTEL events and spans are used to collect application activity and performance data, while a sampling rate of 1 means the monitoring collects all the specified events. Three metrics are used to track important application information, and one dashboard provides a central place to view the system's performance. Two standard-resolution alarm metrics are used to detect potential problems and generate alerts when certain conditions occur. Overall, this configuration provides basic monitoring and alerting to help maintain the application's performance and reliability.</a:t>
            </a:r>
            <a:r>
              <a:rPr lang="en-US" sz="1600">
                <a:solidFill>
                  <a:schemeClr val="dk1"/>
                </a:solidFill>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p:txBody>
      </p:sp>
      <p:pic>
        <p:nvPicPr>
          <p:cNvPr id="603" name="Google Shape;603;p80"/>
          <p:cNvPicPr preferRelativeResize="0"/>
          <p:nvPr/>
        </p:nvPicPr>
        <p:blipFill>
          <a:blip r:embed="rId3">
            <a:alphaModFix/>
          </a:blip>
          <a:stretch>
            <a:fillRect/>
          </a:stretch>
        </p:blipFill>
        <p:spPr>
          <a:xfrm>
            <a:off x="0" y="681100"/>
            <a:ext cx="12192000" cy="202392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81"/>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609" name="Google Shape;609;p81"/>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Cost Optimized</a:t>
            </a:r>
            <a:endParaRPr/>
          </a:p>
        </p:txBody>
      </p:sp>
      <p:sp>
        <p:nvSpPr>
          <p:cNvPr id="610" name="Google Shape;610;p81"/>
          <p:cNvSpPr txBox="1"/>
          <p:nvPr/>
        </p:nvSpPr>
        <p:spPr>
          <a:xfrm>
            <a:off x="990900" y="1846650"/>
            <a:ext cx="10210200" cy="3164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800">
                <a:solidFill>
                  <a:schemeClr val="dk1"/>
                </a:solidFill>
              </a:rPr>
              <a:t>The following components and management services implemented in the architecture incur $0.00 base charge or fall entirely within the AWS Free Tier, and are categorized as </a:t>
            </a:r>
            <a:r>
              <a:rPr b="1" lang="en-US" sz="1800">
                <a:solidFill>
                  <a:schemeClr val="dk1"/>
                </a:solidFill>
              </a:rPr>
              <a:t>Free / Negligible Cost</a:t>
            </a:r>
            <a:r>
              <a:rPr lang="en-US" sz="1800">
                <a:solidFill>
                  <a:schemeClr val="dk1"/>
                </a:solidFill>
              </a:rPr>
              <a:t> in the estimate:</a:t>
            </a:r>
            <a:endParaRPr sz="1800">
              <a:solidFill>
                <a:schemeClr val="dk1"/>
              </a:solidFill>
            </a:endParaRPr>
          </a:p>
          <a:p>
            <a:pPr indent="-342900" lvl="0" marL="457200" rtl="0" algn="l">
              <a:lnSpc>
                <a:spcPct val="115000"/>
              </a:lnSpc>
              <a:spcBef>
                <a:spcPts val="1200"/>
              </a:spcBef>
              <a:spcAft>
                <a:spcPts val="0"/>
              </a:spcAft>
              <a:buClr>
                <a:schemeClr val="dk1"/>
              </a:buClr>
              <a:buSzPts val="1800"/>
              <a:buChar char="●"/>
            </a:pPr>
            <a:r>
              <a:rPr b="1" lang="en-US" sz="1800">
                <a:solidFill>
                  <a:schemeClr val="dk1"/>
                </a:solidFill>
              </a:rPr>
              <a:t>AWS Systems Manager (Parameter Store):</a:t>
            </a:r>
            <a:r>
              <a:rPr lang="en-US" sz="1800">
                <a:solidFill>
                  <a:schemeClr val="dk1"/>
                </a:solidFill>
              </a:rPr>
              <a:t> Standard Parameters usage is free.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AWS CloudTrail:</a:t>
            </a:r>
            <a:r>
              <a:rPr lang="en-US" sz="1800">
                <a:solidFill>
                  <a:schemeClr val="dk1"/>
                </a:solidFill>
              </a:rPr>
              <a:t> The first copy of Management Events (1st Trail) per region is free.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AWS Auto Scaling Group:</a:t>
            </a:r>
            <a:r>
              <a:rPr lang="en-US" sz="1800">
                <a:solidFill>
                  <a:schemeClr val="dk1"/>
                </a:solidFill>
              </a:rPr>
              <a:t> The Auto Scaling service itself has no additional cost; charges apply only to the underlying EC2 instances it provisions.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Amazon VPC &amp; Security Groups:</a:t>
            </a:r>
            <a:r>
              <a:rPr lang="en-US" sz="1800">
                <a:solidFill>
                  <a:schemeClr val="dk1"/>
                </a:solidFill>
              </a:rPr>
              <a:t> Virtual Private Cloud infrastructure, subnets, routing tables, and Security Group network rules are provided free of charge.</a:t>
            </a:r>
            <a:endParaRPr sz="1800">
              <a:solidFill>
                <a:schemeClr val="dk1"/>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82"/>
          <p:cNvSpPr txBox="1"/>
          <p:nvPr>
            <p:ph type="title"/>
          </p:nvPr>
        </p:nvSpPr>
        <p:spPr>
          <a:xfrm>
            <a:off x="457201" y="2545492"/>
            <a:ext cx="6456405" cy="244687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Times New Roman"/>
              <a:buNone/>
            </a:pPr>
            <a:r>
              <a:rPr lang="en-US">
                <a:latin typeface="Times New Roman"/>
                <a:ea typeface="Times New Roman"/>
                <a:cs typeface="Times New Roman"/>
                <a:sym typeface="Times New Roman"/>
              </a:rPr>
              <a:t>High Performing</a:t>
            </a:r>
            <a:endParaRPr>
              <a:latin typeface="Times New Roman"/>
              <a:ea typeface="Times New Roman"/>
              <a:cs typeface="Times New Roman"/>
              <a:sym typeface="Times New Roman"/>
            </a:endParaRPr>
          </a:p>
        </p:txBody>
      </p:sp>
      <p:sp>
        <p:nvSpPr>
          <p:cNvPr id="616" name="Google Shape;616;p82"/>
          <p:cNvSpPr txBox="1"/>
          <p:nvPr>
            <p:ph idx="1" type="body"/>
          </p:nvPr>
        </p:nvSpPr>
        <p:spPr>
          <a:xfrm>
            <a:off x="457201" y="5040377"/>
            <a:ext cx="6456405" cy="99589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latin typeface="Times New Roman"/>
                <a:ea typeface="Times New Roman"/>
                <a:cs typeface="Times New Roman"/>
                <a:sym typeface="Times New Roman"/>
              </a:rPr>
              <a:t>Key Features</a:t>
            </a:r>
            <a:endParaRPr>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83"/>
          <p:cNvSpPr txBox="1"/>
          <p:nvPr>
            <p:ph type="title"/>
          </p:nvPr>
        </p:nvSpPr>
        <p:spPr>
          <a:xfrm>
            <a:off x="457201" y="2545492"/>
            <a:ext cx="6456300" cy="2446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Times New Roman"/>
              <a:buNone/>
            </a:pPr>
            <a:r>
              <a:rPr lang="en-US">
                <a:latin typeface="Times New Roman"/>
                <a:ea typeface="Times New Roman"/>
                <a:cs typeface="Times New Roman"/>
                <a:sym typeface="Times New Roman"/>
              </a:rPr>
              <a:t>High Performing</a:t>
            </a:r>
            <a:endParaRPr>
              <a:latin typeface="Times New Roman"/>
              <a:ea typeface="Times New Roman"/>
              <a:cs typeface="Times New Roman"/>
              <a:sym typeface="Times New Roman"/>
            </a:endParaRPr>
          </a:p>
        </p:txBody>
      </p:sp>
      <p:sp>
        <p:nvSpPr>
          <p:cNvPr id="622" name="Google Shape;622;p83"/>
          <p:cNvSpPr txBox="1"/>
          <p:nvPr>
            <p:ph idx="1" type="body"/>
          </p:nvPr>
        </p:nvSpPr>
        <p:spPr>
          <a:xfrm>
            <a:off x="457201" y="5040377"/>
            <a:ext cx="6456300" cy="996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latin typeface="Times New Roman"/>
                <a:ea typeface="Times New Roman"/>
                <a:cs typeface="Times New Roman"/>
                <a:sym typeface="Times New Roman"/>
              </a:rPr>
              <a:t>Key Features - CloudWatch Alarm</a:t>
            </a:r>
            <a:endParaRPr>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84"/>
          <p:cNvSpPr txBox="1"/>
          <p:nvPr>
            <p:ph idx="12" type="sldNum"/>
          </p:nvPr>
        </p:nvSpPr>
        <p:spPr>
          <a:xfrm>
            <a:off x="11347836" y="6446622"/>
            <a:ext cx="484707" cy="228091"/>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628" name="Google Shape;628;p84"/>
          <p:cNvSpPr txBox="1"/>
          <p:nvPr>
            <p:ph type="title"/>
          </p:nvPr>
        </p:nvSpPr>
        <p:spPr>
          <a:xfrm>
            <a:off x="325027" y="217945"/>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High Performing</a:t>
            </a:r>
            <a:endParaRPr/>
          </a:p>
        </p:txBody>
      </p:sp>
      <p:pic>
        <p:nvPicPr>
          <p:cNvPr id="629" name="Google Shape;629;p84"/>
          <p:cNvPicPr preferRelativeResize="0"/>
          <p:nvPr/>
        </p:nvPicPr>
        <p:blipFill>
          <a:blip r:embed="rId3">
            <a:alphaModFix/>
          </a:blip>
          <a:stretch>
            <a:fillRect/>
          </a:stretch>
        </p:blipFill>
        <p:spPr>
          <a:xfrm>
            <a:off x="152400" y="1362253"/>
            <a:ext cx="11887198" cy="1111708"/>
          </a:xfrm>
          <a:prstGeom prst="rect">
            <a:avLst/>
          </a:prstGeom>
          <a:noFill/>
          <a:ln>
            <a:noFill/>
          </a:ln>
        </p:spPr>
      </p:pic>
      <p:sp>
        <p:nvSpPr>
          <p:cNvPr id="630" name="Google Shape;630;p84"/>
          <p:cNvSpPr txBox="1"/>
          <p:nvPr/>
        </p:nvSpPr>
        <p:spPr>
          <a:xfrm>
            <a:off x="325025" y="761588"/>
            <a:ext cx="8351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1"/>
                </a:solidFill>
              </a:rPr>
              <a:t>Test EC2-High-CPU-Alarm</a:t>
            </a:r>
            <a:endParaRPr sz="2000">
              <a:solidFill>
                <a:schemeClr val="dk1"/>
              </a:solidFill>
            </a:endParaRPr>
          </a:p>
        </p:txBody>
      </p:sp>
      <p:pic>
        <p:nvPicPr>
          <p:cNvPr id="631" name="Google Shape;631;p84"/>
          <p:cNvPicPr preferRelativeResize="0"/>
          <p:nvPr/>
        </p:nvPicPr>
        <p:blipFill>
          <a:blip r:embed="rId4">
            <a:alphaModFix/>
          </a:blip>
          <a:stretch>
            <a:fillRect/>
          </a:stretch>
        </p:blipFill>
        <p:spPr>
          <a:xfrm>
            <a:off x="1295752" y="2689550"/>
            <a:ext cx="9600502" cy="3757074"/>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85"/>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637" name="Google Shape;637;p85"/>
          <p:cNvSpPr txBox="1"/>
          <p:nvPr>
            <p:ph type="title"/>
          </p:nvPr>
        </p:nvSpPr>
        <p:spPr>
          <a:xfrm>
            <a:off x="365727" y="197877"/>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High Performing</a:t>
            </a:r>
            <a:endParaRPr/>
          </a:p>
        </p:txBody>
      </p:sp>
      <p:pic>
        <p:nvPicPr>
          <p:cNvPr id="638" name="Google Shape;638;p85"/>
          <p:cNvPicPr preferRelativeResize="0"/>
          <p:nvPr/>
        </p:nvPicPr>
        <p:blipFill>
          <a:blip r:embed="rId3">
            <a:alphaModFix/>
          </a:blip>
          <a:stretch>
            <a:fillRect/>
          </a:stretch>
        </p:blipFill>
        <p:spPr>
          <a:xfrm>
            <a:off x="329850" y="1122270"/>
            <a:ext cx="11538350" cy="5552353"/>
          </a:xfrm>
          <a:prstGeom prst="rect">
            <a:avLst/>
          </a:prstGeom>
          <a:noFill/>
          <a:ln>
            <a:noFill/>
          </a:ln>
        </p:spPr>
      </p:pic>
      <p:sp>
        <p:nvSpPr>
          <p:cNvPr id="639" name="Google Shape;639;p85"/>
          <p:cNvSpPr txBox="1"/>
          <p:nvPr/>
        </p:nvSpPr>
        <p:spPr>
          <a:xfrm>
            <a:off x="438100" y="629675"/>
            <a:ext cx="8351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1"/>
                </a:solidFill>
              </a:rPr>
              <a:t>Email notification</a:t>
            </a:r>
            <a:endParaRPr sz="2000">
              <a:solidFill>
                <a:schemeClr val="dk1"/>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86"/>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645" name="Google Shape;645;p86"/>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High Performing</a:t>
            </a:r>
            <a:endParaRPr/>
          </a:p>
        </p:txBody>
      </p:sp>
      <p:sp>
        <p:nvSpPr>
          <p:cNvPr id="646" name="Google Shape;646;p86"/>
          <p:cNvSpPr txBox="1"/>
          <p:nvPr/>
        </p:nvSpPr>
        <p:spPr>
          <a:xfrm>
            <a:off x="577125" y="629675"/>
            <a:ext cx="8068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1"/>
                </a:solidFill>
              </a:rPr>
              <a:t>Asg - alarm</a:t>
            </a:r>
            <a:endParaRPr sz="2000">
              <a:solidFill>
                <a:schemeClr val="dk1"/>
              </a:solidFill>
            </a:endParaRPr>
          </a:p>
        </p:txBody>
      </p:sp>
      <p:pic>
        <p:nvPicPr>
          <p:cNvPr id="647" name="Google Shape;647;p86"/>
          <p:cNvPicPr preferRelativeResize="0"/>
          <p:nvPr/>
        </p:nvPicPr>
        <p:blipFill>
          <a:blip r:embed="rId3">
            <a:alphaModFix/>
          </a:blip>
          <a:stretch>
            <a:fillRect/>
          </a:stretch>
        </p:blipFill>
        <p:spPr>
          <a:xfrm>
            <a:off x="7622801" y="1305650"/>
            <a:ext cx="4667250" cy="3657600"/>
          </a:xfrm>
          <a:prstGeom prst="rect">
            <a:avLst/>
          </a:prstGeom>
          <a:noFill/>
          <a:ln>
            <a:noFill/>
          </a:ln>
        </p:spPr>
      </p:pic>
      <p:pic>
        <p:nvPicPr>
          <p:cNvPr id="648" name="Google Shape;648;p86"/>
          <p:cNvPicPr preferRelativeResize="0"/>
          <p:nvPr/>
        </p:nvPicPr>
        <p:blipFill>
          <a:blip r:embed="rId4">
            <a:alphaModFix/>
          </a:blip>
          <a:stretch>
            <a:fillRect/>
          </a:stretch>
        </p:blipFill>
        <p:spPr>
          <a:xfrm>
            <a:off x="133400" y="1162475"/>
            <a:ext cx="7489402" cy="543862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87"/>
          <p:cNvSpPr txBox="1"/>
          <p:nvPr>
            <p:ph type="title"/>
          </p:nvPr>
        </p:nvSpPr>
        <p:spPr>
          <a:xfrm>
            <a:off x="457201" y="2545492"/>
            <a:ext cx="6456300" cy="2446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Times New Roman"/>
              <a:buNone/>
            </a:pPr>
            <a:r>
              <a:rPr lang="en-US">
                <a:latin typeface="Times New Roman"/>
                <a:ea typeface="Times New Roman"/>
                <a:cs typeface="Times New Roman"/>
                <a:sym typeface="Times New Roman"/>
              </a:rPr>
              <a:t>High Performing</a:t>
            </a:r>
            <a:endParaRPr>
              <a:latin typeface="Times New Roman"/>
              <a:ea typeface="Times New Roman"/>
              <a:cs typeface="Times New Roman"/>
              <a:sym typeface="Times New Roman"/>
            </a:endParaRPr>
          </a:p>
        </p:txBody>
      </p:sp>
      <p:sp>
        <p:nvSpPr>
          <p:cNvPr id="654" name="Google Shape;654;p87"/>
          <p:cNvSpPr txBox="1"/>
          <p:nvPr>
            <p:ph idx="1" type="body"/>
          </p:nvPr>
        </p:nvSpPr>
        <p:spPr>
          <a:xfrm>
            <a:off x="457200" y="5040375"/>
            <a:ext cx="7901700" cy="996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latin typeface="Times New Roman"/>
                <a:ea typeface="Times New Roman"/>
                <a:cs typeface="Times New Roman"/>
                <a:sym typeface="Times New Roman"/>
              </a:rPr>
              <a:t>Key Features - CloudWatch Dashboard</a:t>
            </a:r>
            <a:endParaRPr>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88"/>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660" name="Google Shape;660;p88"/>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High Performing</a:t>
            </a:r>
            <a:endParaRPr/>
          </a:p>
        </p:txBody>
      </p:sp>
      <p:pic>
        <p:nvPicPr>
          <p:cNvPr id="661" name="Google Shape;661;p88"/>
          <p:cNvPicPr preferRelativeResize="0"/>
          <p:nvPr/>
        </p:nvPicPr>
        <p:blipFill>
          <a:blip r:embed="rId3">
            <a:alphaModFix/>
          </a:blip>
          <a:stretch>
            <a:fillRect/>
          </a:stretch>
        </p:blipFill>
        <p:spPr>
          <a:xfrm>
            <a:off x="155425" y="1531995"/>
            <a:ext cx="11887200" cy="5062372"/>
          </a:xfrm>
          <a:prstGeom prst="rect">
            <a:avLst/>
          </a:prstGeom>
          <a:noFill/>
          <a:ln>
            <a:noFill/>
          </a:ln>
        </p:spPr>
      </p:pic>
      <p:sp>
        <p:nvSpPr>
          <p:cNvPr id="662" name="Google Shape;662;p88"/>
          <p:cNvSpPr txBox="1"/>
          <p:nvPr/>
        </p:nvSpPr>
        <p:spPr>
          <a:xfrm>
            <a:off x="261950" y="694900"/>
            <a:ext cx="6234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rPr>
              <a:t>CloudWatch Dashboard + Alarm</a:t>
            </a:r>
            <a:endParaRPr sz="2800">
              <a:solidFill>
                <a:schemeClr val="dk1"/>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89"/>
          <p:cNvSpPr txBox="1"/>
          <p:nvPr>
            <p:ph type="title"/>
          </p:nvPr>
        </p:nvSpPr>
        <p:spPr>
          <a:xfrm>
            <a:off x="457201" y="2545492"/>
            <a:ext cx="6456300" cy="2446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Times New Roman"/>
              <a:buNone/>
            </a:pPr>
            <a:r>
              <a:rPr lang="en-US">
                <a:latin typeface="Times New Roman"/>
                <a:ea typeface="Times New Roman"/>
                <a:cs typeface="Times New Roman"/>
                <a:sym typeface="Times New Roman"/>
              </a:rPr>
              <a:t>High Performing</a:t>
            </a:r>
            <a:endParaRPr>
              <a:latin typeface="Times New Roman"/>
              <a:ea typeface="Times New Roman"/>
              <a:cs typeface="Times New Roman"/>
              <a:sym typeface="Times New Roman"/>
            </a:endParaRPr>
          </a:p>
        </p:txBody>
      </p:sp>
      <p:sp>
        <p:nvSpPr>
          <p:cNvPr id="668" name="Google Shape;668;p89"/>
          <p:cNvSpPr txBox="1"/>
          <p:nvPr>
            <p:ph idx="1" type="body"/>
          </p:nvPr>
        </p:nvSpPr>
        <p:spPr>
          <a:xfrm>
            <a:off x="457200" y="5040375"/>
            <a:ext cx="8594400" cy="996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latin typeface="Times New Roman"/>
                <a:ea typeface="Times New Roman"/>
                <a:cs typeface="Times New Roman"/>
                <a:sym typeface="Times New Roman"/>
              </a:rPr>
              <a:t>Key Features - </a:t>
            </a:r>
            <a:r>
              <a:rPr lang="en-US">
                <a:latin typeface="Times New Roman"/>
                <a:ea typeface="Times New Roman"/>
                <a:cs typeface="Times New Roman"/>
                <a:sym typeface="Times New Roman"/>
              </a:rPr>
              <a:t>Test Setup &amp; Execution </a:t>
            </a:r>
            <a:endParaRPr>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90"/>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674" name="Google Shape;674;p90"/>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High Performing</a:t>
            </a:r>
            <a:endParaRPr/>
          </a:p>
        </p:txBody>
      </p:sp>
      <p:sp>
        <p:nvSpPr>
          <p:cNvPr id="675" name="Google Shape;675;p90"/>
          <p:cNvSpPr txBox="1"/>
          <p:nvPr/>
        </p:nvSpPr>
        <p:spPr>
          <a:xfrm>
            <a:off x="711950" y="1333675"/>
            <a:ext cx="102702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t>We used Apache Bench to simulate 50 concurrent users making a total of 50000 requests to the homepage. During the test, there were zero failed requests, and the average response time remained within an acceptable range. We also observed that when CPU utilization exceeded our set 70% threshold, the CloudWatch Alarm was triggered, and the Auto Scaling Group automatically increased from 1 instance to 2 instances. After the load was distributed, the system continued to operate stably, and when traffic decreased, it automatically shrunk back to its original capacity, proving that this architecture truly has the ability to dynamically scale up and down, and is not just a set-up system.</a:t>
            </a:r>
            <a:endParaRPr sz="1600"/>
          </a:p>
        </p:txBody>
      </p:sp>
      <p:sp>
        <p:nvSpPr>
          <p:cNvPr id="676" name="Google Shape;676;p90"/>
          <p:cNvSpPr txBox="1"/>
          <p:nvPr/>
        </p:nvSpPr>
        <p:spPr>
          <a:xfrm>
            <a:off x="770075" y="3228888"/>
            <a:ext cx="1027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ab -n 50000 -c 50 http://splashpoint-alb-1364108331.us-east-1.elb.amazonaws.com/index.php</a:t>
            </a:r>
            <a:endParaRPr/>
          </a:p>
        </p:txBody>
      </p:sp>
      <p:pic>
        <p:nvPicPr>
          <p:cNvPr id="677" name="Google Shape;677;p90"/>
          <p:cNvPicPr preferRelativeResize="0"/>
          <p:nvPr/>
        </p:nvPicPr>
        <p:blipFill>
          <a:blip r:embed="rId3">
            <a:alphaModFix/>
          </a:blip>
          <a:stretch>
            <a:fillRect/>
          </a:stretch>
        </p:blipFill>
        <p:spPr>
          <a:xfrm>
            <a:off x="2402238" y="3886927"/>
            <a:ext cx="7393587" cy="251640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91"/>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683" name="Google Shape;683;p91"/>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High Performing</a:t>
            </a:r>
            <a:endParaRPr/>
          </a:p>
        </p:txBody>
      </p:sp>
      <p:pic>
        <p:nvPicPr>
          <p:cNvPr id="684" name="Google Shape;684;p91"/>
          <p:cNvPicPr preferRelativeResize="0"/>
          <p:nvPr/>
        </p:nvPicPr>
        <p:blipFill>
          <a:blip r:embed="rId3">
            <a:alphaModFix/>
          </a:blip>
          <a:stretch>
            <a:fillRect/>
          </a:stretch>
        </p:blipFill>
        <p:spPr>
          <a:xfrm>
            <a:off x="304800" y="1734813"/>
            <a:ext cx="11887202" cy="3388379"/>
          </a:xfrm>
          <a:prstGeom prst="rect">
            <a:avLst/>
          </a:prstGeom>
          <a:noFill/>
          <a:ln>
            <a:noFill/>
          </a:ln>
        </p:spPr>
      </p:pic>
      <p:sp>
        <p:nvSpPr>
          <p:cNvPr id="685" name="Google Shape;685;p91"/>
          <p:cNvSpPr txBox="1"/>
          <p:nvPr/>
        </p:nvSpPr>
        <p:spPr>
          <a:xfrm>
            <a:off x="365725" y="877450"/>
            <a:ext cx="60291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solidFill>
                  <a:schemeClr val="dk1"/>
                </a:solidFill>
              </a:rPr>
              <a:t>Before stress test</a:t>
            </a:r>
            <a:endParaRPr b="1" sz="2500">
              <a:solidFill>
                <a:schemeClr val="dk1"/>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92"/>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691" name="Google Shape;691;p92"/>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High Performing</a:t>
            </a:r>
            <a:endParaRPr/>
          </a:p>
        </p:txBody>
      </p:sp>
      <p:pic>
        <p:nvPicPr>
          <p:cNvPr id="692" name="Google Shape;692;p92"/>
          <p:cNvPicPr preferRelativeResize="0"/>
          <p:nvPr/>
        </p:nvPicPr>
        <p:blipFill>
          <a:blip r:embed="rId3">
            <a:alphaModFix/>
          </a:blip>
          <a:stretch>
            <a:fillRect/>
          </a:stretch>
        </p:blipFill>
        <p:spPr>
          <a:xfrm>
            <a:off x="152400" y="741870"/>
            <a:ext cx="11555880" cy="5552353"/>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93"/>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698" name="Google Shape;698;p93"/>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High Performing</a:t>
            </a:r>
            <a:endParaRPr/>
          </a:p>
        </p:txBody>
      </p:sp>
      <p:pic>
        <p:nvPicPr>
          <p:cNvPr id="699" name="Google Shape;699;p93"/>
          <p:cNvPicPr preferRelativeResize="0"/>
          <p:nvPr/>
        </p:nvPicPr>
        <p:blipFill>
          <a:blip r:embed="rId3">
            <a:alphaModFix/>
          </a:blip>
          <a:stretch>
            <a:fillRect/>
          </a:stretch>
        </p:blipFill>
        <p:spPr>
          <a:xfrm>
            <a:off x="152400" y="779483"/>
            <a:ext cx="11887197" cy="5477139"/>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94"/>
          <p:cNvSpPr txBox="1"/>
          <p:nvPr>
            <p:ph type="title"/>
          </p:nvPr>
        </p:nvSpPr>
        <p:spPr>
          <a:xfrm>
            <a:off x="457201" y="2545492"/>
            <a:ext cx="6456300" cy="2446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Times New Roman"/>
              <a:buNone/>
            </a:pPr>
            <a:r>
              <a:rPr lang="en-US">
                <a:latin typeface="Times New Roman"/>
                <a:ea typeface="Times New Roman"/>
                <a:cs typeface="Times New Roman"/>
                <a:sym typeface="Times New Roman"/>
              </a:rPr>
              <a:t>High Performing</a:t>
            </a:r>
            <a:endParaRPr>
              <a:latin typeface="Times New Roman"/>
              <a:ea typeface="Times New Roman"/>
              <a:cs typeface="Times New Roman"/>
              <a:sym typeface="Times New Roman"/>
            </a:endParaRPr>
          </a:p>
        </p:txBody>
      </p:sp>
      <p:sp>
        <p:nvSpPr>
          <p:cNvPr id="705" name="Google Shape;705;p94"/>
          <p:cNvSpPr txBox="1"/>
          <p:nvPr>
            <p:ph idx="1" type="body"/>
          </p:nvPr>
        </p:nvSpPr>
        <p:spPr>
          <a:xfrm>
            <a:off x="457201" y="5040377"/>
            <a:ext cx="6456300" cy="996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latin typeface="Times New Roman"/>
                <a:ea typeface="Times New Roman"/>
                <a:cs typeface="Times New Roman"/>
                <a:sym typeface="Times New Roman"/>
              </a:rPr>
              <a:t>Key Features - </a:t>
            </a:r>
            <a:r>
              <a:rPr lang="en-US">
                <a:latin typeface="Times New Roman"/>
                <a:ea typeface="Times New Roman"/>
                <a:cs typeface="Times New Roman"/>
                <a:sym typeface="Times New Roman"/>
              </a:rPr>
              <a:t>Scaling Under Load </a:t>
            </a:r>
            <a:endParaRPr>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95"/>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711" name="Google Shape;711;p95"/>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High Performing</a:t>
            </a:r>
            <a:endParaRPr/>
          </a:p>
        </p:txBody>
      </p:sp>
      <p:sp>
        <p:nvSpPr>
          <p:cNvPr id="712" name="Google Shape;712;p95"/>
          <p:cNvSpPr txBox="1"/>
          <p:nvPr/>
        </p:nvSpPr>
        <p:spPr>
          <a:xfrm>
            <a:off x="365725" y="714550"/>
            <a:ext cx="60291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a:solidFill>
                  <a:schemeClr val="dk1"/>
                </a:solidFill>
              </a:rPr>
              <a:t>After Stress Test</a:t>
            </a:r>
            <a:endParaRPr b="1" sz="2300">
              <a:solidFill>
                <a:schemeClr val="dk1"/>
              </a:solidFill>
            </a:endParaRPr>
          </a:p>
        </p:txBody>
      </p:sp>
      <p:pic>
        <p:nvPicPr>
          <p:cNvPr id="713" name="Google Shape;713;p95"/>
          <p:cNvPicPr preferRelativeResize="0"/>
          <p:nvPr/>
        </p:nvPicPr>
        <p:blipFill>
          <a:blip r:embed="rId3">
            <a:alphaModFix/>
          </a:blip>
          <a:stretch>
            <a:fillRect/>
          </a:stretch>
        </p:blipFill>
        <p:spPr>
          <a:xfrm>
            <a:off x="365725" y="1729338"/>
            <a:ext cx="6724650" cy="1371600"/>
          </a:xfrm>
          <a:prstGeom prst="rect">
            <a:avLst/>
          </a:prstGeom>
          <a:noFill/>
          <a:ln>
            <a:noFill/>
          </a:ln>
        </p:spPr>
      </p:pic>
      <p:pic>
        <p:nvPicPr>
          <p:cNvPr id="714" name="Google Shape;714;p95"/>
          <p:cNvPicPr preferRelativeResize="0"/>
          <p:nvPr/>
        </p:nvPicPr>
        <p:blipFill>
          <a:blip r:embed="rId4">
            <a:alphaModFix/>
          </a:blip>
          <a:stretch>
            <a:fillRect/>
          </a:stretch>
        </p:blipFill>
        <p:spPr>
          <a:xfrm>
            <a:off x="375" y="3344925"/>
            <a:ext cx="7455350" cy="2771775"/>
          </a:xfrm>
          <a:prstGeom prst="rect">
            <a:avLst/>
          </a:prstGeom>
          <a:noFill/>
          <a:ln>
            <a:noFill/>
          </a:ln>
        </p:spPr>
      </p:pic>
      <p:pic>
        <p:nvPicPr>
          <p:cNvPr id="715" name="Google Shape;715;p95"/>
          <p:cNvPicPr preferRelativeResize="0"/>
          <p:nvPr/>
        </p:nvPicPr>
        <p:blipFill>
          <a:blip r:embed="rId5">
            <a:alphaModFix/>
          </a:blip>
          <a:stretch>
            <a:fillRect/>
          </a:stretch>
        </p:blipFill>
        <p:spPr>
          <a:xfrm>
            <a:off x="7455726" y="1505300"/>
            <a:ext cx="4648974" cy="4528926"/>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96"/>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721" name="Google Shape;721;p96"/>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High Performing</a:t>
            </a:r>
            <a:endParaRPr/>
          </a:p>
        </p:txBody>
      </p:sp>
      <p:pic>
        <p:nvPicPr>
          <p:cNvPr id="722" name="Google Shape;722;p96"/>
          <p:cNvPicPr preferRelativeResize="0"/>
          <p:nvPr/>
        </p:nvPicPr>
        <p:blipFill>
          <a:blip r:embed="rId3">
            <a:alphaModFix/>
          </a:blip>
          <a:stretch>
            <a:fillRect/>
          </a:stretch>
        </p:blipFill>
        <p:spPr>
          <a:xfrm>
            <a:off x="152400" y="741870"/>
            <a:ext cx="11887202" cy="5438638"/>
          </a:xfrm>
          <a:prstGeom prst="rect">
            <a:avLst/>
          </a:prstGeom>
          <a:noFill/>
          <a:ln>
            <a:noFill/>
          </a:ln>
        </p:spPr>
      </p:pic>
      <p:sp>
        <p:nvSpPr>
          <p:cNvPr id="723" name="Google Shape;723;p96"/>
          <p:cNvSpPr/>
          <p:nvPr/>
        </p:nvSpPr>
        <p:spPr>
          <a:xfrm>
            <a:off x="9377425" y="2387325"/>
            <a:ext cx="2455200" cy="35808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97"/>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729" name="Google Shape;729;p97"/>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High Performing</a:t>
            </a:r>
            <a:endParaRPr/>
          </a:p>
        </p:txBody>
      </p:sp>
      <p:pic>
        <p:nvPicPr>
          <p:cNvPr id="730" name="Google Shape;730;p97"/>
          <p:cNvPicPr preferRelativeResize="0"/>
          <p:nvPr/>
        </p:nvPicPr>
        <p:blipFill>
          <a:blip r:embed="rId3">
            <a:alphaModFix/>
          </a:blip>
          <a:stretch>
            <a:fillRect/>
          </a:stretch>
        </p:blipFill>
        <p:spPr>
          <a:xfrm>
            <a:off x="152400" y="1843850"/>
            <a:ext cx="11887201" cy="3508150"/>
          </a:xfrm>
          <a:prstGeom prst="rect">
            <a:avLst/>
          </a:prstGeom>
          <a:noFill/>
          <a:ln>
            <a:noFill/>
          </a:ln>
        </p:spPr>
      </p:pic>
      <p:sp>
        <p:nvSpPr>
          <p:cNvPr id="731" name="Google Shape;731;p97"/>
          <p:cNvSpPr/>
          <p:nvPr/>
        </p:nvSpPr>
        <p:spPr>
          <a:xfrm>
            <a:off x="2753125" y="2902275"/>
            <a:ext cx="8594700" cy="6156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98"/>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737" name="Google Shape;737;p98"/>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High Performing</a:t>
            </a:r>
            <a:endParaRPr/>
          </a:p>
        </p:txBody>
      </p:sp>
      <p:pic>
        <p:nvPicPr>
          <p:cNvPr id="738" name="Google Shape;738;p98"/>
          <p:cNvPicPr preferRelativeResize="0"/>
          <p:nvPr/>
        </p:nvPicPr>
        <p:blipFill>
          <a:blip r:embed="rId3">
            <a:alphaModFix/>
          </a:blip>
          <a:stretch>
            <a:fillRect/>
          </a:stretch>
        </p:blipFill>
        <p:spPr>
          <a:xfrm>
            <a:off x="0" y="3075470"/>
            <a:ext cx="11887200" cy="3599159"/>
          </a:xfrm>
          <a:prstGeom prst="rect">
            <a:avLst/>
          </a:prstGeom>
          <a:noFill/>
          <a:ln>
            <a:noFill/>
          </a:ln>
        </p:spPr>
      </p:pic>
      <p:pic>
        <p:nvPicPr>
          <p:cNvPr id="739" name="Google Shape;739;p98"/>
          <p:cNvPicPr preferRelativeResize="0"/>
          <p:nvPr/>
        </p:nvPicPr>
        <p:blipFill>
          <a:blip r:embed="rId4">
            <a:alphaModFix/>
          </a:blip>
          <a:stretch>
            <a:fillRect/>
          </a:stretch>
        </p:blipFill>
        <p:spPr>
          <a:xfrm>
            <a:off x="0" y="589465"/>
            <a:ext cx="11887200" cy="3206815"/>
          </a:xfrm>
          <a:prstGeom prst="rect">
            <a:avLst/>
          </a:prstGeom>
          <a:noFill/>
          <a:ln>
            <a:noFill/>
          </a:ln>
        </p:spPr>
      </p:pic>
      <p:sp>
        <p:nvSpPr>
          <p:cNvPr id="740" name="Google Shape;740;p98"/>
          <p:cNvSpPr/>
          <p:nvPr/>
        </p:nvSpPr>
        <p:spPr>
          <a:xfrm>
            <a:off x="458500" y="1629650"/>
            <a:ext cx="11027700" cy="20655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1" name="Google Shape;741;p98"/>
          <p:cNvSpPr/>
          <p:nvPr/>
        </p:nvSpPr>
        <p:spPr>
          <a:xfrm>
            <a:off x="188775" y="4109175"/>
            <a:ext cx="11351700" cy="14154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99"/>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747" name="Google Shape;747;p99"/>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High Performing</a:t>
            </a:r>
            <a:endParaRPr/>
          </a:p>
        </p:txBody>
      </p:sp>
      <p:pic>
        <p:nvPicPr>
          <p:cNvPr id="748" name="Google Shape;748;p99"/>
          <p:cNvPicPr preferRelativeResize="0"/>
          <p:nvPr/>
        </p:nvPicPr>
        <p:blipFill>
          <a:blip r:embed="rId3">
            <a:alphaModFix/>
          </a:blip>
          <a:stretch>
            <a:fillRect/>
          </a:stretch>
        </p:blipFill>
        <p:spPr>
          <a:xfrm>
            <a:off x="152400" y="741870"/>
            <a:ext cx="11887201" cy="5183949"/>
          </a:xfrm>
          <a:prstGeom prst="rect">
            <a:avLst/>
          </a:prstGeom>
          <a:noFill/>
          <a:ln>
            <a:noFill/>
          </a:ln>
        </p:spPr>
      </p:pic>
      <p:sp>
        <p:nvSpPr>
          <p:cNvPr id="749" name="Google Shape;749;p99"/>
          <p:cNvSpPr/>
          <p:nvPr/>
        </p:nvSpPr>
        <p:spPr>
          <a:xfrm>
            <a:off x="1941350" y="850325"/>
            <a:ext cx="2455200" cy="6156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0" name="Google Shape;750;p99"/>
          <p:cNvSpPr/>
          <p:nvPr/>
        </p:nvSpPr>
        <p:spPr>
          <a:xfrm>
            <a:off x="5427500" y="4585425"/>
            <a:ext cx="2606100" cy="11013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100"/>
          <p:cNvSpPr txBox="1"/>
          <p:nvPr>
            <p:ph type="title"/>
          </p:nvPr>
        </p:nvSpPr>
        <p:spPr>
          <a:xfrm>
            <a:off x="457201" y="2545492"/>
            <a:ext cx="6456405" cy="244687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Times New Roman"/>
              <a:buNone/>
            </a:pPr>
            <a:r>
              <a:rPr lang="en-US">
                <a:latin typeface="Times New Roman"/>
                <a:ea typeface="Times New Roman"/>
                <a:cs typeface="Times New Roman"/>
                <a:sym typeface="Times New Roman"/>
              </a:rPr>
              <a:t>Scalability</a:t>
            </a:r>
            <a:endParaRPr>
              <a:latin typeface="Times New Roman"/>
              <a:ea typeface="Times New Roman"/>
              <a:cs typeface="Times New Roman"/>
              <a:sym typeface="Times New Roman"/>
            </a:endParaRPr>
          </a:p>
        </p:txBody>
      </p:sp>
      <p:sp>
        <p:nvSpPr>
          <p:cNvPr id="756" name="Google Shape;756;p100"/>
          <p:cNvSpPr txBox="1"/>
          <p:nvPr>
            <p:ph idx="1" type="body"/>
          </p:nvPr>
        </p:nvSpPr>
        <p:spPr>
          <a:xfrm>
            <a:off x="457201" y="5040377"/>
            <a:ext cx="6456405" cy="99589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latin typeface="Times New Roman"/>
                <a:ea typeface="Times New Roman"/>
                <a:cs typeface="Times New Roman"/>
                <a:sym typeface="Times New Roman"/>
              </a:rPr>
              <a:t>Key Features</a:t>
            </a:r>
            <a:endParaRPr>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101"/>
          <p:cNvSpPr txBox="1"/>
          <p:nvPr>
            <p:ph type="title"/>
          </p:nvPr>
        </p:nvSpPr>
        <p:spPr>
          <a:xfrm>
            <a:off x="457201" y="2545492"/>
            <a:ext cx="6456300" cy="2446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Times New Roman"/>
              <a:buNone/>
            </a:pPr>
            <a:r>
              <a:rPr lang="en-US">
                <a:latin typeface="Times New Roman"/>
                <a:ea typeface="Times New Roman"/>
                <a:cs typeface="Times New Roman"/>
                <a:sym typeface="Times New Roman"/>
              </a:rPr>
              <a:t>Scalability</a:t>
            </a:r>
            <a:endParaRPr>
              <a:latin typeface="Times New Roman"/>
              <a:ea typeface="Times New Roman"/>
              <a:cs typeface="Times New Roman"/>
              <a:sym typeface="Times New Roman"/>
            </a:endParaRPr>
          </a:p>
        </p:txBody>
      </p:sp>
      <p:sp>
        <p:nvSpPr>
          <p:cNvPr id="762" name="Google Shape;762;p101"/>
          <p:cNvSpPr txBox="1"/>
          <p:nvPr>
            <p:ph idx="1" type="body"/>
          </p:nvPr>
        </p:nvSpPr>
        <p:spPr>
          <a:xfrm>
            <a:off x="457200" y="5040375"/>
            <a:ext cx="7908000" cy="996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latin typeface="Times New Roman"/>
                <a:ea typeface="Times New Roman"/>
                <a:cs typeface="Times New Roman"/>
                <a:sym typeface="Times New Roman"/>
              </a:rPr>
              <a:t> Scalability — Configuration </a:t>
            </a:r>
            <a:endParaRPr>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02"/>
          <p:cNvSpPr txBox="1"/>
          <p:nvPr>
            <p:ph type="title"/>
          </p:nvPr>
        </p:nvSpPr>
        <p:spPr>
          <a:xfrm>
            <a:off x="457201" y="2545492"/>
            <a:ext cx="6456300" cy="2446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Times New Roman"/>
              <a:buNone/>
            </a:pPr>
            <a:r>
              <a:rPr lang="en-US">
                <a:latin typeface="Times New Roman"/>
                <a:ea typeface="Times New Roman"/>
                <a:cs typeface="Times New Roman"/>
                <a:sym typeface="Times New Roman"/>
              </a:rPr>
              <a:t>Scalability</a:t>
            </a:r>
            <a:endParaRPr>
              <a:latin typeface="Times New Roman"/>
              <a:ea typeface="Times New Roman"/>
              <a:cs typeface="Times New Roman"/>
              <a:sym typeface="Times New Roman"/>
            </a:endParaRPr>
          </a:p>
        </p:txBody>
      </p:sp>
      <p:sp>
        <p:nvSpPr>
          <p:cNvPr id="768" name="Google Shape;768;p102"/>
          <p:cNvSpPr txBox="1"/>
          <p:nvPr>
            <p:ph idx="1" type="body"/>
          </p:nvPr>
        </p:nvSpPr>
        <p:spPr>
          <a:xfrm>
            <a:off x="457201" y="5040377"/>
            <a:ext cx="6456300" cy="996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latin typeface="Times New Roman"/>
                <a:ea typeface="Times New Roman"/>
                <a:cs typeface="Times New Roman"/>
                <a:sym typeface="Times New Roman"/>
              </a:rPr>
              <a:t>Key Features - </a:t>
            </a:r>
            <a:r>
              <a:rPr lang="en-US">
                <a:latin typeface="Times New Roman"/>
                <a:ea typeface="Times New Roman"/>
                <a:cs typeface="Times New Roman"/>
                <a:sym typeface="Times New Roman"/>
              </a:rPr>
              <a:t>Auto Scaling Group </a:t>
            </a:r>
            <a:endParaRPr>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103"/>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774" name="Google Shape;774;p103"/>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Scalability</a:t>
            </a:r>
            <a:endParaRPr/>
          </a:p>
        </p:txBody>
      </p:sp>
      <p:pic>
        <p:nvPicPr>
          <p:cNvPr id="775" name="Google Shape;775;p103"/>
          <p:cNvPicPr preferRelativeResize="0"/>
          <p:nvPr/>
        </p:nvPicPr>
        <p:blipFill>
          <a:blip r:embed="rId3">
            <a:alphaModFix/>
          </a:blip>
          <a:stretch>
            <a:fillRect/>
          </a:stretch>
        </p:blipFill>
        <p:spPr>
          <a:xfrm>
            <a:off x="0" y="1602145"/>
            <a:ext cx="11887199" cy="3653696"/>
          </a:xfrm>
          <a:prstGeom prst="rect">
            <a:avLst/>
          </a:prstGeom>
          <a:noFill/>
          <a:ln>
            <a:noFill/>
          </a:ln>
        </p:spPr>
      </p:pic>
      <p:sp>
        <p:nvSpPr>
          <p:cNvPr id="776" name="Google Shape;776;p103"/>
          <p:cNvSpPr/>
          <p:nvPr/>
        </p:nvSpPr>
        <p:spPr>
          <a:xfrm>
            <a:off x="221825" y="3121200"/>
            <a:ext cx="6987000" cy="7122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7" name="Google Shape;777;p103"/>
          <p:cNvSpPr/>
          <p:nvPr/>
        </p:nvSpPr>
        <p:spPr>
          <a:xfrm>
            <a:off x="7861325" y="2012175"/>
            <a:ext cx="4132200" cy="35757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04"/>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783" name="Google Shape;783;p104"/>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Scalability</a:t>
            </a:r>
            <a:endParaRPr/>
          </a:p>
        </p:txBody>
      </p:sp>
      <p:pic>
        <p:nvPicPr>
          <p:cNvPr id="784" name="Google Shape;784;p104"/>
          <p:cNvPicPr preferRelativeResize="0"/>
          <p:nvPr/>
        </p:nvPicPr>
        <p:blipFill>
          <a:blip r:embed="rId3">
            <a:alphaModFix/>
          </a:blip>
          <a:stretch>
            <a:fillRect/>
          </a:stretch>
        </p:blipFill>
        <p:spPr>
          <a:xfrm>
            <a:off x="152400" y="741870"/>
            <a:ext cx="11720038" cy="4326730"/>
          </a:xfrm>
          <a:prstGeom prst="rect">
            <a:avLst/>
          </a:prstGeom>
          <a:noFill/>
          <a:ln>
            <a:noFill/>
          </a:ln>
        </p:spPr>
      </p:pic>
      <p:pic>
        <p:nvPicPr>
          <p:cNvPr id="785" name="Google Shape;785;p104"/>
          <p:cNvPicPr preferRelativeResize="0"/>
          <p:nvPr/>
        </p:nvPicPr>
        <p:blipFill>
          <a:blip r:embed="rId4">
            <a:alphaModFix/>
          </a:blip>
          <a:stretch>
            <a:fillRect/>
          </a:stretch>
        </p:blipFill>
        <p:spPr>
          <a:xfrm>
            <a:off x="5378500" y="3819275"/>
            <a:ext cx="4628674" cy="2855349"/>
          </a:xfrm>
          <a:prstGeom prst="rect">
            <a:avLst/>
          </a:prstGeom>
          <a:noFill/>
          <a:ln>
            <a:noFill/>
          </a:ln>
        </p:spPr>
      </p:pic>
      <p:sp>
        <p:nvSpPr>
          <p:cNvPr id="786" name="Google Shape;786;p104"/>
          <p:cNvSpPr/>
          <p:nvPr/>
        </p:nvSpPr>
        <p:spPr>
          <a:xfrm>
            <a:off x="265325" y="2381775"/>
            <a:ext cx="9205500" cy="40647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105"/>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792" name="Google Shape;792;p105"/>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Scalability</a:t>
            </a:r>
            <a:endParaRPr/>
          </a:p>
        </p:txBody>
      </p:sp>
      <p:pic>
        <p:nvPicPr>
          <p:cNvPr id="793" name="Google Shape;793;p105"/>
          <p:cNvPicPr preferRelativeResize="0"/>
          <p:nvPr/>
        </p:nvPicPr>
        <p:blipFill>
          <a:blip r:embed="rId3">
            <a:alphaModFix/>
          </a:blip>
          <a:stretch>
            <a:fillRect/>
          </a:stretch>
        </p:blipFill>
        <p:spPr>
          <a:xfrm>
            <a:off x="457238" y="811920"/>
            <a:ext cx="11283581" cy="5552352"/>
          </a:xfrm>
          <a:prstGeom prst="rect">
            <a:avLst/>
          </a:prstGeom>
          <a:noFill/>
          <a:ln>
            <a:noFill/>
          </a:ln>
        </p:spPr>
      </p:pic>
      <p:sp>
        <p:nvSpPr>
          <p:cNvPr id="794" name="Google Shape;794;p105"/>
          <p:cNvSpPr/>
          <p:nvPr/>
        </p:nvSpPr>
        <p:spPr>
          <a:xfrm>
            <a:off x="685800" y="5221000"/>
            <a:ext cx="2455200" cy="6156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106"/>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800" name="Google Shape;800;p106"/>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Scalability</a:t>
            </a:r>
            <a:endParaRPr/>
          </a:p>
        </p:txBody>
      </p:sp>
      <p:pic>
        <p:nvPicPr>
          <p:cNvPr id="801" name="Google Shape;801;p106"/>
          <p:cNvPicPr preferRelativeResize="0"/>
          <p:nvPr/>
        </p:nvPicPr>
        <p:blipFill>
          <a:blip r:embed="rId3">
            <a:alphaModFix/>
          </a:blip>
          <a:stretch>
            <a:fillRect/>
          </a:stretch>
        </p:blipFill>
        <p:spPr>
          <a:xfrm>
            <a:off x="931000" y="3972403"/>
            <a:ext cx="10330000" cy="2689800"/>
          </a:xfrm>
          <a:prstGeom prst="rect">
            <a:avLst/>
          </a:prstGeom>
          <a:noFill/>
          <a:ln>
            <a:noFill/>
          </a:ln>
        </p:spPr>
      </p:pic>
      <p:sp>
        <p:nvSpPr>
          <p:cNvPr id="802" name="Google Shape;802;p106"/>
          <p:cNvSpPr/>
          <p:nvPr/>
        </p:nvSpPr>
        <p:spPr>
          <a:xfrm>
            <a:off x="820350" y="4427975"/>
            <a:ext cx="4996500" cy="10344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03" name="Google Shape;803;p106"/>
          <p:cNvPicPr preferRelativeResize="0"/>
          <p:nvPr/>
        </p:nvPicPr>
        <p:blipFill>
          <a:blip r:embed="rId4">
            <a:alphaModFix/>
          </a:blip>
          <a:stretch>
            <a:fillRect/>
          </a:stretch>
        </p:blipFill>
        <p:spPr>
          <a:xfrm>
            <a:off x="-58025" y="704201"/>
            <a:ext cx="12191999" cy="3268197"/>
          </a:xfrm>
          <a:prstGeom prst="rect">
            <a:avLst/>
          </a:prstGeom>
          <a:noFill/>
          <a:ln>
            <a:noFill/>
          </a:ln>
        </p:spPr>
      </p:pic>
      <p:sp>
        <p:nvSpPr>
          <p:cNvPr id="804" name="Google Shape;804;p106"/>
          <p:cNvSpPr/>
          <p:nvPr/>
        </p:nvSpPr>
        <p:spPr>
          <a:xfrm>
            <a:off x="600525" y="2441700"/>
            <a:ext cx="4641300" cy="7104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107"/>
          <p:cNvSpPr txBox="1"/>
          <p:nvPr>
            <p:ph idx="12" type="sldNum"/>
          </p:nvPr>
        </p:nvSpPr>
        <p:spPr>
          <a:xfrm>
            <a:off x="11347836" y="6446622"/>
            <a:ext cx="484707" cy="228091"/>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810" name="Google Shape;810;p107"/>
          <p:cNvSpPr txBox="1"/>
          <p:nvPr>
            <p:ph type="title"/>
          </p:nvPr>
        </p:nvSpPr>
        <p:spPr>
          <a:xfrm>
            <a:off x="365727" y="299370"/>
            <a:ext cx="11466657" cy="29020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Scalability</a:t>
            </a:r>
            <a:endParaRPr/>
          </a:p>
        </p:txBody>
      </p:sp>
      <p:pic>
        <p:nvPicPr>
          <p:cNvPr id="811" name="Google Shape;811;p107"/>
          <p:cNvPicPr preferRelativeResize="0"/>
          <p:nvPr/>
        </p:nvPicPr>
        <p:blipFill>
          <a:blip r:embed="rId3">
            <a:alphaModFix/>
          </a:blip>
          <a:stretch>
            <a:fillRect/>
          </a:stretch>
        </p:blipFill>
        <p:spPr>
          <a:xfrm>
            <a:off x="2803425" y="826025"/>
            <a:ext cx="6585143" cy="5963624"/>
          </a:xfrm>
          <a:prstGeom prst="rect">
            <a:avLst/>
          </a:prstGeom>
          <a:noFill/>
          <a:ln>
            <a:noFill/>
          </a:ln>
        </p:spPr>
      </p:pic>
      <p:sp>
        <p:nvSpPr>
          <p:cNvPr id="812" name="Google Shape;812;p107"/>
          <p:cNvSpPr/>
          <p:nvPr/>
        </p:nvSpPr>
        <p:spPr>
          <a:xfrm>
            <a:off x="3229400" y="3586600"/>
            <a:ext cx="3277800" cy="31587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08"/>
          <p:cNvSpPr txBox="1"/>
          <p:nvPr>
            <p:ph type="title"/>
          </p:nvPr>
        </p:nvSpPr>
        <p:spPr>
          <a:xfrm>
            <a:off x="457201" y="2545492"/>
            <a:ext cx="6456300" cy="2446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Times New Roman"/>
              <a:buNone/>
            </a:pPr>
            <a:r>
              <a:rPr lang="en-US">
                <a:latin typeface="Times New Roman"/>
                <a:ea typeface="Times New Roman"/>
                <a:cs typeface="Times New Roman"/>
                <a:sym typeface="Times New Roman"/>
              </a:rPr>
              <a:t>Scalability</a:t>
            </a:r>
            <a:endParaRPr>
              <a:latin typeface="Times New Roman"/>
              <a:ea typeface="Times New Roman"/>
              <a:cs typeface="Times New Roman"/>
              <a:sym typeface="Times New Roman"/>
            </a:endParaRPr>
          </a:p>
        </p:txBody>
      </p:sp>
      <p:sp>
        <p:nvSpPr>
          <p:cNvPr id="818" name="Google Shape;818;p108"/>
          <p:cNvSpPr txBox="1"/>
          <p:nvPr>
            <p:ph idx="1" type="body"/>
          </p:nvPr>
        </p:nvSpPr>
        <p:spPr>
          <a:xfrm>
            <a:off x="457200" y="5040375"/>
            <a:ext cx="7908000" cy="996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latin typeface="Times New Roman"/>
                <a:ea typeface="Times New Roman"/>
                <a:cs typeface="Times New Roman"/>
                <a:sym typeface="Times New Roman"/>
              </a:rPr>
              <a:t> Scalability </a:t>
            </a:r>
            <a:r>
              <a:rPr lang="en-US">
                <a:latin typeface="Times New Roman"/>
                <a:ea typeface="Times New Roman"/>
                <a:cs typeface="Times New Roman"/>
                <a:sym typeface="Times New Roman"/>
              </a:rPr>
              <a:t>— Scale-Out</a:t>
            </a:r>
            <a:r>
              <a:rPr lang="en-US">
                <a:latin typeface="Times New Roman"/>
                <a:ea typeface="Times New Roman"/>
                <a:cs typeface="Times New Roman"/>
                <a:sym typeface="Times New Roman"/>
              </a:rPr>
              <a:t> &amp; </a:t>
            </a:r>
            <a:r>
              <a:rPr lang="en-US">
                <a:latin typeface="Times New Roman"/>
                <a:ea typeface="Times New Roman"/>
                <a:cs typeface="Times New Roman"/>
                <a:sym typeface="Times New Roman"/>
              </a:rPr>
              <a:t>Scale-In in Action </a:t>
            </a:r>
            <a:endParaRPr>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109"/>
          <p:cNvSpPr txBox="1"/>
          <p:nvPr>
            <p:ph type="title"/>
          </p:nvPr>
        </p:nvSpPr>
        <p:spPr>
          <a:xfrm>
            <a:off x="457201" y="2545492"/>
            <a:ext cx="6456300" cy="2446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Times New Roman"/>
              <a:buNone/>
            </a:pPr>
            <a:r>
              <a:rPr lang="en-US">
                <a:latin typeface="Times New Roman"/>
                <a:ea typeface="Times New Roman"/>
                <a:cs typeface="Times New Roman"/>
                <a:sym typeface="Times New Roman"/>
              </a:rPr>
              <a:t>Scalability</a:t>
            </a:r>
            <a:endParaRPr>
              <a:latin typeface="Times New Roman"/>
              <a:ea typeface="Times New Roman"/>
              <a:cs typeface="Times New Roman"/>
              <a:sym typeface="Times New Roman"/>
            </a:endParaRPr>
          </a:p>
        </p:txBody>
      </p:sp>
      <p:sp>
        <p:nvSpPr>
          <p:cNvPr id="824" name="Google Shape;824;p109"/>
          <p:cNvSpPr txBox="1"/>
          <p:nvPr>
            <p:ph idx="1" type="body"/>
          </p:nvPr>
        </p:nvSpPr>
        <p:spPr>
          <a:xfrm>
            <a:off x="457200" y="5040375"/>
            <a:ext cx="7908000" cy="996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latin typeface="Times New Roman"/>
                <a:ea typeface="Times New Roman"/>
                <a:cs typeface="Times New Roman"/>
                <a:sym typeface="Times New Roman"/>
              </a:rPr>
              <a:t> Scalability — Scale-</a:t>
            </a:r>
            <a:r>
              <a:rPr lang="en-US">
                <a:latin typeface="Times New Roman"/>
                <a:ea typeface="Times New Roman"/>
                <a:cs typeface="Times New Roman"/>
                <a:sym typeface="Times New Roman"/>
              </a:rPr>
              <a:t>Out</a:t>
            </a:r>
            <a:r>
              <a:rPr lang="en-US">
                <a:latin typeface="Times New Roman"/>
                <a:ea typeface="Times New Roman"/>
                <a:cs typeface="Times New Roman"/>
                <a:sym typeface="Times New Roman"/>
              </a:rPr>
              <a:t> in Action </a:t>
            </a:r>
            <a:endParaRPr>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110"/>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830" name="Google Shape;830;p110"/>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Scalability</a:t>
            </a:r>
            <a:endParaRPr/>
          </a:p>
        </p:txBody>
      </p:sp>
      <p:pic>
        <p:nvPicPr>
          <p:cNvPr id="831" name="Google Shape;831;p110"/>
          <p:cNvPicPr preferRelativeResize="0"/>
          <p:nvPr/>
        </p:nvPicPr>
        <p:blipFill>
          <a:blip r:embed="rId3">
            <a:alphaModFix/>
          </a:blip>
          <a:stretch>
            <a:fillRect/>
          </a:stretch>
        </p:blipFill>
        <p:spPr>
          <a:xfrm>
            <a:off x="5215850" y="589470"/>
            <a:ext cx="4714875" cy="3762375"/>
          </a:xfrm>
          <a:prstGeom prst="rect">
            <a:avLst/>
          </a:prstGeom>
          <a:noFill/>
          <a:ln>
            <a:noFill/>
          </a:ln>
        </p:spPr>
      </p:pic>
      <p:sp>
        <p:nvSpPr>
          <p:cNvPr id="832" name="Google Shape;832;p110"/>
          <p:cNvSpPr txBox="1"/>
          <p:nvPr/>
        </p:nvSpPr>
        <p:spPr>
          <a:xfrm>
            <a:off x="284175" y="655800"/>
            <a:ext cx="7581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chemeClr val="dk1"/>
                </a:solidFill>
              </a:rPr>
              <a:t>Before stress test</a:t>
            </a:r>
            <a:endParaRPr b="1" sz="2800">
              <a:solidFill>
                <a:schemeClr val="dk1"/>
              </a:solidFill>
            </a:endParaRPr>
          </a:p>
        </p:txBody>
      </p:sp>
      <p:pic>
        <p:nvPicPr>
          <p:cNvPr id="833" name="Google Shape;833;p110"/>
          <p:cNvPicPr preferRelativeResize="0"/>
          <p:nvPr/>
        </p:nvPicPr>
        <p:blipFill>
          <a:blip r:embed="rId4">
            <a:alphaModFix/>
          </a:blip>
          <a:stretch>
            <a:fillRect/>
          </a:stretch>
        </p:blipFill>
        <p:spPr>
          <a:xfrm>
            <a:off x="72550" y="4320316"/>
            <a:ext cx="12192001" cy="2354317"/>
          </a:xfrm>
          <a:prstGeom prst="rect">
            <a:avLst/>
          </a:prstGeom>
          <a:noFill/>
          <a:ln>
            <a:noFill/>
          </a:ln>
        </p:spPr>
      </p:pic>
      <p:sp>
        <p:nvSpPr>
          <p:cNvPr id="834" name="Google Shape;834;p110"/>
          <p:cNvSpPr/>
          <p:nvPr/>
        </p:nvSpPr>
        <p:spPr>
          <a:xfrm>
            <a:off x="155450" y="4876800"/>
            <a:ext cx="11937000" cy="14919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111"/>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840" name="Google Shape;840;p111"/>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Scalability</a:t>
            </a:r>
            <a:endParaRPr/>
          </a:p>
        </p:txBody>
      </p:sp>
      <p:pic>
        <p:nvPicPr>
          <p:cNvPr id="841" name="Google Shape;841;p111"/>
          <p:cNvPicPr preferRelativeResize="0"/>
          <p:nvPr/>
        </p:nvPicPr>
        <p:blipFill>
          <a:blip r:embed="rId3">
            <a:alphaModFix/>
          </a:blip>
          <a:stretch>
            <a:fillRect/>
          </a:stretch>
        </p:blipFill>
        <p:spPr>
          <a:xfrm>
            <a:off x="152400" y="741870"/>
            <a:ext cx="11887199" cy="376707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112"/>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847" name="Google Shape;847;p112"/>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Scalability</a:t>
            </a:r>
            <a:endParaRPr/>
          </a:p>
        </p:txBody>
      </p:sp>
      <p:pic>
        <p:nvPicPr>
          <p:cNvPr id="848" name="Google Shape;848;p112"/>
          <p:cNvPicPr preferRelativeResize="0"/>
          <p:nvPr/>
        </p:nvPicPr>
        <p:blipFill>
          <a:blip r:embed="rId3">
            <a:alphaModFix/>
          </a:blip>
          <a:stretch>
            <a:fillRect/>
          </a:stretch>
        </p:blipFill>
        <p:spPr>
          <a:xfrm>
            <a:off x="365725" y="779483"/>
            <a:ext cx="11887197" cy="5477139"/>
          </a:xfrm>
          <a:prstGeom prst="rect">
            <a:avLst/>
          </a:prstGeom>
          <a:noFill/>
          <a:ln>
            <a:noFill/>
          </a:ln>
        </p:spPr>
      </p:pic>
      <p:sp>
        <p:nvSpPr>
          <p:cNvPr id="849" name="Google Shape;849;p112"/>
          <p:cNvSpPr/>
          <p:nvPr/>
        </p:nvSpPr>
        <p:spPr>
          <a:xfrm>
            <a:off x="881500" y="3784475"/>
            <a:ext cx="11243400" cy="23571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113"/>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855" name="Google Shape;855;p113"/>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Scalability</a:t>
            </a:r>
            <a:endParaRPr/>
          </a:p>
        </p:txBody>
      </p:sp>
      <p:sp>
        <p:nvSpPr>
          <p:cNvPr id="856" name="Google Shape;856;p113"/>
          <p:cNvSpPr txBox="1"/>
          <p:nvPr/>
        </p:nvSpPr>
        <p:spPr>
          <a:xfrm>
            <a:off x="365725" y="65670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chemeClr val="dk1"/>
                </a:solidFill>
              </a:rPr>
              <a:t>After </a:t>
            </a:r>
            <a:r>
              <a:rPr b="1" lang="en-US" sz="2800">
                <a:solidFill>
                  <a:schemeClr val="dk1"/>
                </a:solidFill>
              </a:rPr>
              <a:t>stress test</a:t>
            </a:r>
            <a:endParaRPr b="1" sz="2800">
              <a:solidFill>
                <a:schemeClr val="dk1"/>
              </a:solidFill>
            </a:endParaRPr>
          </a:p>
        </p:txBody>
      </p:sp>
      <p:pic>
        <p:nvPicPr>
          <p:cNvPr id="857" name="Google Shape;857;p113"/>
          <p:cNvPicPr preferRelativeResize="0"/>
          <p:nvPr/>
        </p:nvPicPr>
        <p:blipFill>
          <a:blip r:embed="rId3">
            <a:alphaModFix/>
          </a:blip>
          <a:stretch>
            <a:fillRect/>
          </a:stretch>
        </p:blipFill>
        <p:spPr>
          <a:xfrm>
            <a:off x="152400" y="1339520"/>
            <a:ext cx="11887202" cy="5438638"/>
          </a:xfrm>
          <a:prstGeom prst="rect">
            <a:avLst/>
          </a:prstGeom>
          <a:noFill/>
          <a:ln>
            <a:noFill/>
          </a:ln>
        </p:spPr>
      </p:pic>
      <p:sp>
        <p:nvSpPr>
          <p:cNvPr id="858" name="Google Shape;858;p113"/>
          <p:cNvSpPr/>
          <p:nvPr/>
        </p:nvSpPr>
        <p:spPr>
          <a:xfrm>
            <a:off x="9377425" y="3210250"/>
            <a:ext cx="2455200" cy="33534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114"/>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864" name="Google Shape;864;p114"/>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Scalability</a:t>
            </a:r>
            <a:endParaRPr/>
          </a:p>
        </p:txBody>
      </p:sp>
      <p:pic>
        <p:nvPicPr>
          <p:cNvPr id="865" name="Google Shape;865;p114"/>
          <p:cNvPicPr preferRelativeResize="0"/>
          <p:nvPr/>
        </p:nvPicPr>
        <p:blipFill>
          <a:blip r:embed="rId3">
            <a:alphaModFix/>
          </a:blip>
          <a:stretch>
            <a:fillRect/>
          </a:stretch>
        </p:blipFill>
        <p:spPr>
          <a:xfrm>
            <a:off x="155425" y="1447220"/>
            <a:ext cx="11887200" cy="3599159"/>
          </a:xfrm>
          <a:prstGeom prst="rect">
            <a:avLst/>
          </a:prstGeom>
          <a:noFill/>
          <a:ln>
            <a:noFill/>
          </a:ln>
        </p:spPr>
      </p:pic>
      <p:sp>
        <p:nvSpPr>
          <p:cNvPr id="866" name="Google Shape;866;p114"/>
          <p:cNvSpPr/>
          <p:nvPr/>
        </p:nvSpPr>
        <p:spPr>
          <a:xfrm>
            <a:off x="365725" y="2776975"/>
            <a:ext cx="11553600" cy="11109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115"/>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872" name="Google Shape;872;p115"/>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Scalability</a:t>
            </a:r>
            <a:endParaRPr/>
          </a:p>
        </p:txBody>
      </p:sp>
      <p:sp>
        <p:nvSpPr>
          <p:cNvPr id="873" name="Google Shape;873;p115"/>
          <p:cNvSpPr txBox="1"/>
          <p:nvPr/>
        </p:nvSpPr>
        <p:spPr>
          <a:xfrm>
            <a:off x="4118150" y="81245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rPr>
              <a:t>After stress test</a:t>
            </a:r>
            <a:endParaRPr sz="2800">
              <a:solidFill>
                <a:schemeClr val="dk1"/>
              </a:solidFill>
            </a:endParaRPr>
          </a:p>
        </p:txBody>
      </p:sp>
      <p:pic>
        <p:nvPicPr>
          <p:cNvPr id="874" name="Google Shape;874;p115"/>
          <p:cNvPicPr preferRelativeResize="0"/>
          <p:nvPr/>
        </p:nvPicPr>
        <p:blipFill>
          <a:blip r:embed="rId3">
            <a:alphaModFix/>
          </a:blip>
          <a:stretch>
            <a:fillRect/>
          </a:stretch>
        </p:blipFill>
        <p:spPr>
          <a:xfrm>
            <a:off x="155425" y="3992875"/>
            <a:ext cx="11887202" cy="2453745"/>
          </a:xfrm>
          <a:prstGeom prst="rect">
            <a:avLst/>
          </a:prstGeom>
          <a:noFill/>
          <a:ln>
            <a:noFill/>
          </a:ln>
        </p:spPr>
      </p:pic>
      <p:pic>
        <p:nvPicPr>
          <p:cNvPr id="875" name="Google Shape;875;p115"/>
          <p:cNvPicPr preferRelativeResize="0"/>
          <p:nvPr/>
        </p:nvPicPr>
        <p:blipFill>
          <a:blip r:embed="rId4">
            <a:alphaModFix/>
          </a:blip>
          <a:stretch>
            <a:fillRect/>
          </a:stretch>
        </p:blipFill>
        <p:spPr>
          <a:xfrm>
            <a:off x="155425" y="590590"/>
            <a:ext cx="11887200" cy="3206815"/>
          </a:xfrm>
          <a:prstGeom prst="rect">
            <a:avLst/>
          </a:prstGeom>
          <a:noFill/>
          <a:ln>
            <a:noFill/>
          </a:ln>
        </p:spPr>
      </p:pic>
      <p:sp>
        <p:nvSpPr>
          <p:cNvPr id="876" name="Google Shape;876;p115"/>
          <p:cNvSpPr/>
          <p:nvPr/>
        </p:nvSpPr>
        <p:spPr>
          <a:xfrm>
            <a:off x="2015400" y="4896700"/>
            <a:ext cx="8496600" cy="13422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7" name="Google Shape;877;p115"/>
          <p:cNvSpPr/>
          <p:nvPr/>
        </p:nvSpPr>
        <p:spPr>
          <a:xfrm>
            <a:off x="706575" y="2342275"/>
            <a:ext cx="10758000" cy="12447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8" name="Google Shape;878;p115"/>
          <p:cNvSpPr/>
          <p:nvPr/>
        </p:nvSpPr>
        <p:spPr>
          <a:xfrm>
            <a:off x="4268500" y="882800"/>
            <a:ext cx="2455200" cy="6156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116"/>
          <p:cNvSpPr txBox="1"/>
          <p:nvPr>
            <p:ph type="title"/>
          </p:nvPr>
        </p:nvSpPr>
        <p:spPr>
          <a:xfrm>
            <a:off x="457201" y="2545492"/>
            <a:ext cx="6456300" cy="2446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Times New Roman"/>
              <a:buNone/>
            </a:pPr>
            <a:r>
              <a:rPr lang="en-US">
                <a:latin typeface="Times New Roman"/>
                <a:ea typeface="Times New Roman"/>
                <a:cs typeface="Times New Roman"/>
                <a:sym typeface="Times New Roman"/>
              </a:rPr>
              <a:t>Scalability</a:t>
            </a:r>
            <a:endParaRPr>
              <a:latin typeface="Times New Roman"/>
              <a:ea typeface="Times New Roman"/>
              <a:cs typeface="Times New Roman"/>
              <a:sym typeface="Times New Roman"/>
            </a:endParaRPr>
          </a:p>
        </p:txBody>
      </p:sp>
      <p:sp>
        <p:nvSpPr>
          <p:cNvPr id="884" name="Google Shape;884;p116"/>
          <p:cNvSpPr txBox="1"/>
          <p:nvPr>
            <p:ph idx="1" type="body"/>
          </p:nvPr>
        </p:nvSpPr>
        <p:spPr>
          <a:xfrm>
            <a:off x="457200" y="5040375"/>
            <a:ext cx="7908000" cy="996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latin typeface="Times New Roman"/>
                <a:ea typeface="Times New Roman"/>
                <a:cs typeface="Times New Roman"/>
                <a:sym typeface="Times New Roman"/>
              </a:rPr>
              <a:t> Scalability — Scale-In in Action </a:t>
            </a:r>
            <a:endParaRPr>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117"/>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890" name="Google Shape;890;p117"/>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Scalability</a:t>
            </a:r>
            <a:endParaRPr/>
          </a:p>
        </p:txBody>
      </p:sp>
      <p:sp>
        <p:nvSpPr>
          <p:cNvPr id="891" name="Google Shape;891;p117"/>
          <p:cNvSpPr txBox="1"/>
          <p:nvPr/>
        </p:nvSpPr>
        <p:spPr>
          <a:xfrm>
            <a:off x="563275" y="74750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chemeClr val="dk1"/>
                </a:solidFill>
              </a:rPr>
              <a:t>Scale-In</a:t>
            </a:r>
            <a:endParaRPr b="1" sz="2800">
              <a:solidFill>
                <a:schemeClr val="dk1"/>
              </a:solidFill>
            </a:endParaRPr>
          </a:p>
        </p:txBody>
      </p:sp>
      <p:pic>
        <p:nvPicPr>
          <p:cNvPr id="892" name="Google Shape;892;p117"/>
          <p:cNvPicPr preferRelativeResize="0"/>
          <p:nvPr/>
        </p:nvPicPr>
        <p:blipFill>
          <a:blip r:embed="rId3">
            <a:alphaModFix/>
          </a:blip>
          <a:stretch>
            <a:fillRect/>
          </a:stretch>
        </p:blipFill>
        <p:spPr>
          <a:xfrm>
            <a:off x="563275" y="1428050"/>
            <a:ext cx="10598098" cy="5125148"/>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18"/>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898" name="Google Shape;898;p118"/>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Scalability</a:t>
            </a:r>
            <a:endParaRPr/>
          </a:p>
        </p:txBody>
      </p:sp>
      <p:pic>
        <p:nvPicPr>
          <p:cNvPr id="899" name="Google Shape;899;p118"/>
          <p:cNvPicPr preferRelativeResize="0"/>
          <p:nvPr/>
        </p:nvPicPr>
        <p:blipFill>
          <a:blip r:embed="rId3">
            <a:alphaModFix/>
          </a:blip>
          <a:stretch>
            <a:fillRect/>
          </a:stretch>
        </p:blipFill>
        <p:spPr>
          <a:xfrm>
            <a:off x="155425" y="4066185"/>
            <a:ext cx="11887202" cy="2380444"/>
          </a:xfrm>
          <a:prstGeom prst="rect">
            <a:avLst/>
          </a:prstGeom>
          <a:noFill/>
          <a:ln>
            <a:noFill/>
          </a:ln>
        </p:spPr>
      </p:pic>
      <p:pic>
        <p:nvPicPr>
          <p:cNvPr id="900" name="Google Shape;900;p118"/>
          <p:cNvPicPr preferRelativeResize="0"/>
          <p:nvPr/>
        </p:nvPicPr>
        <p:blipFill>
          <a:blip r:embed="rId4">
            <a:alphaModFix/>
          </a:blip>
          <a:stretch>
            <a:fillRect/>
          </a:stretch>
        </p:blipFill>
        <p:spPr>
          <a:xfrm>
            <a:off x="152400" y="827345"/>
            <a:ext cx="11887200" cy="2791984"/>
          </a:xfrm>
          <a:prstGeom prst="rect">
            <a:avLst/>
          </a:prstGeom>
          <a:noFill/>
          <a:ln>
            <a:noFill/>
          </a:ln>
        </p:spPr>
      </p:pic>
      <p:sp>
        <p:nvSpPr>
          <p:cNvPr id="901" name="Google Shape;901;p118"/>
          <p:cNvSpPr/>
          <p:nvPr/>
        </p:nvSpPr>
        <p:spPr>
          <a:xfrm>
            <a:off x="3142450" y="3061350"/>
            <a:ext cx="1254300" cy="4152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2" name="Google Shape;902;p118"/>
          <p:cNvSpPr/>
          <p:nvPr/>
        </p:nvSpPr>
        <p:spPr>
          <a:xfrm>
            <a:off x="3955100" y="5792375"/>
            <a:ext cx="1091100" cy="4539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19"/>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908" name="Google Shape;908;p119"/>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a:t>
            </a:r>
            <a:r>
              <a:rPr lang="en-US">
                <a:latin typeface="Times New Roman"/>
                <a:ea typeface="Times New Roman"/>
                <a:cs typeface="Times New Roman"/>
                <a:sym typeface="Times New Roman"/>
              </a:rPr>
              <a:t>Scalability</a:t>
            </a:r>
            <a:endParaRPr/>
          </a:p>
        </p:txBody>
      </p:sp>
      <p:pic>
        <p:nvPicPr>
          <p:cNvPr id="909" name="Google Shape;909;p119"/>
          <p:cNvPicPr preferRelativeResize="0"/>
          <p:nvPr/>
        </p:nvPicPr>
        <p:blipFill>
          <a:blip r:embed="rId3">
            <a:alphaModFix/>
          </a:blip>
          <a:stretch>
            <a:fillRect/>
          </a:stretch>
        </p:blipFill>
        <p:spPr>
          <a:xfrm>
            <a:off x="2692400" y="741870"/>
            <a:ext cx="5884152" cy="2760376"/>
          </a:xfrm>
          <a:prstGeom prst="rect">
            <a:avLst/>
          </a:prstGeom>
          <a:noFill/>
          <a:ln>
            <a:noFill/>
          </a:ln>
        </p:spPr>
      </p:pic>
      <p:pic>
        <p:nvPicPr>
          <p:cNvPr id="910" name="Google Shape;910;p119"/>
          <p:cNvPicPr preferRelativeResize="0"/>
          <p:nvPr/>
        </p:nvPicPr>
        <p:blipFill>
          <a:blip r:embed="rId4">
            <a:alphaModFix/>
          </a:blip>
          <a:stretch>
            <a:fillRect/>
          </a:stretch>
        </p:blipFill>
        <p:spPr>
          <a:xfrm>
            <a:off x="152400" y="3922695"/>
            <a:ext cx="11887200" cy="2434265"/>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120"/>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916" name="Google Shape;916;p120"/>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Scalability</a:t>
            </a:r>
            <a:endParaRPr/>
          </a:p>
        </p:txBody>
      </p:sp>
      <p:sp>
        <p:nvSpPr>
          <p:cNvPr id="917" name="Google Shape;917;p120"/>
          <p:cNvSpPr txBox="1"/>
          <p:nvPr/>
        </p:nvSpPr>
        <p:spPr>
          <a:xfrm>
            <a:off x="1201525" y="1828200"/>
            <a:ext cx="10016400" cy="3201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2800"/>
              <a:t>We use a Target Tracking scaling policy, with the overall average CPU utilization of ASG as the metric, and a threshold set at 70%. When the average load exceeds this threshold, AWS will automatically calculate how many instances need to be added to bring the CPU back to near the target value, without requiring us to manually intervene to determine how many to add.</a:t>
            </a:r>
            <a:endParaRPr sz="2800"/>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21"/>
          <p:cNvSpPr txBox="1"/>
          <p:nvPr>
            <p:ph type="title"/>
          </p:nvPr>
        </p:nvSpPr>
        <p:spPr>
          <a:xfrm>
            <a:off x="457201" y="2545492"/>
            <a:ext cx="6456405" cy="244687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Times New Roman"/>
              <a:buNone/>
            </a:pPr>
            <a:r>
              <a:rPr lang="en-US">
                <a:latin typeface="Times New Roman"/>
                <a:ea typeface="Times New Roman"/>
                <a:cs typeface="Times New Roman"/>
                <a:sym typeface="Times New Roman"/>
              </a:rPr>
              <a:t>Load Balanced</a:t>
            </a:r>
            <a:endParaRPr>
              <a:latin typeface="Times New Roman"/>
              <a:ea typeface="Times New Roman"/>
              <a:cs typeface="Times New Roman"/>
              <a:sym typeface="Times New Roman"/>
            </a:endParaRPr>
          </a:p>
        </p:txBody>
      </p:sp>
      <p:sp>
        <p:nvSpPr>
          <p:cNvPr id="923" name="Google Shape;923;p121"/>
          <p:cNvSpPr txBox="1"/>
          <p:nvPr>
            <p:ph idx="1" type="body"/>
          </p:nvPr>
        </p:nvSpPr>
        <p:spPr>
          <a:xfrm>
            <a:off x="457201" y="5040377"/>
            <a:ext cx="6456405" cy="99589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latin typeface="Times New Roman"/>
                <a:ea typeface="Times New Roman"/>
                <a:cs typeface="Times New Roman"/>
                <a:sym typeface="Times New Roman"/>
              </a:rPr>
              <a:t>Key Features</a:t>
            </a:r>
            <a:endParaRPr>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122"/>
          <p:cNvSpPr txBox="1"/>
          <p:nvPr>
            <p:ph type="title"/>
          </p:nvPr>
        </p:nvSpPr>
        <p:spPr>
          <a:xfrm>
            <a:off x="457201" y="2545492"/>
            <a:ext cx="6456300" cy="2446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Times New Roman"/>
              <a:buNone/>
            </a:pPr>
            <a:r>
              <a:rPr lang="en-US">
                <a:latin typeface="Times New Roman"/>
                <a:ea typeface="Times New Roman"/>
                <a:cs typeface="Times New Roman"/>
                <a:sym typeface="Times New Roman"/>
              </a:rPr>
              <a:t>Load Balanced</a:t>
            </a:r>
            <a:endParaRPr>
              <a:latin typeface="Times New Roman"/>
              <a:ea typeface="Times New Roman"/>
              <a:cs typeface="Times New Roman"/>
              <a:sym typeface="Times New Roman"/>
            </a:endParaRPr>
          </a:p>
        </p:txBody>
      </p:sp>
      <p:sp>
        <p:nvSpPr>
          <p:cNvPr id="929" name="Google Shape;929;p122"/>
          <p:cNvSpPr txBox="1"/>
          <p:nvPr>
            <p:ph idx="1" type="body"/>
          </p:nvPr>
        </p:nvSpPr>
        <p:spPr>
          <a:xfrm>
            <a:off x="457201" y="5040377"/>
            <a:ext cx="6456300" cy="996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latin typeface="Times New Roman"/>
                <a:ea typeface="Times New Roman"/>
                <a:cs typeface="Times New Roman"/>
                <a:sym typeface="Times New Roman"/>
              </a:rPr>
              <a:t>Load Balanced — Configuration </a:t>
            </a:r>
            <a:endParaRPr>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123"/>
          <p:cNvSpPr txBox="1"/>
          <p:nvPr>
            <p:ph type="title"/>
          </p:nvPr>
        </p:nvSpPr>
        <p:spPr>
          <a:xfrm>
            <a:off x="457201" y="2545492"/>
            <a:ext cx="6456300" cy="2446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Times New Roman"/>
              <a:buNone/>
            </a:pPr>
            <a:r>
              <a:rPr lang="en-US">
                <a:latin typeface="Times New Roman"/>
                <a:ea typeface="Times New Roman"/>
                <a:cs typeface="Times New Roman"/>
                <a:sym typeface="Times New Roman"/>
              </a:rPr>
              <a:t>Load Balanced</a:t>
            </a:r>
            <a:endParaRPr>
              <a:latin typeface="Times New Roman"/>
              <a:ea typeface="Times New Roman"/>
              <a:cs typeface="Times New Roman"/>
              <a:sym typeface="Times New Roman"/>
            </a:endParaRPr>
          </a:p>
        </p:txBody>
      </p:sp>
      <p:sp>
        <p:nvSpPr>
          <p:cNvPr id="935" name="Google Shape;935;p123"/>
          <p:cNvSpPr txBox="1"/>
          <p:nvPr>
            <p:ph idx="1" type="body"/>
          </p:nvPr>
        </p:nvSpPr>
        <p:spPr>
          <a:xfrm>
            <a:off x="457200" y="5040375"/>
            <a:ext cx="8062200" cy="996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latin typeface="Times New Roman"/>
                <a:ea typeface="Times New Roman"/>
                <a:cs typeface="Times New Roman"/>
                <a:sym typeface="Times New Roman"/>
              </a:rPr>
              <a:t>Key Features - </a:t>
            </a:r>
            <a:r>
              <a:rPr lang="en-US">
                <a:latin typeface="Times New Roman"/>
                <a:ea typeface="Times New Roman"/>
                <a:cs typeface="Times New Roman"/>
                <a:sym typeface="Times New Roman"/>
              </a:rPr>
              <a:t>Application Load Balanced</a:t>
            </a:r>
            <a:endParaRPr>
              <a:latin typeface="Times New Roman"/>
              <a:ea typeface="Times New Roman"/>
              <a:cs typeface="Times New Roman"/>
              <a:sym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124"/>
          <p:cNvSpPr txBox="1"/>
          <p:nvPr>
            <p:ph idx="12" type="sldNum"/>
          </p:nvPr>
        </p:nvSpPr>
        <p:spPr>
          <a:xfrm>
            <a:off x="11347836" y="6446622"/>
            <a:ext cx="484707" cy="228091"/>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941" name="Google Shape;941;p124"/>
          <p:cNvSpPr txBox="1"/>
          <p:nvPr>
            <p:ph type="title"/>
          </p:nvPr>
        </p:nvSpPr>
        <p:spPr>
          <a:xfrm>
            <a:off x="365727" y="299370"/>
            <a:ext cx="11466657" cy="29020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sp>
        <p:nvSpPr>
          <p:cNvPr id="942" name="Google Shape;942;p124"/>
          <p:cNvSpPr/>
          <p:nvPr/>
        </p:nvSpPr>
        <p:spPr>
          <a:xfrm>
            <a:off x="6139300" y="2547925"/>
            <a:ext cx="2662800" cy="18618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43" name="Google Shape;943;p124"/>
          <p:cNvPicPr preferRelativeResize="0"/>
          <p:nvPr/>
        </p:nvPicPr>
        <p:blipFill>
          <a:blip r:embed="rId3">
            <a:alphaModFix/>
          </a:blip>
          <a:stretch>
            <a:fillRect/>
          </a:stretch>
        </p:blipFill>
        <p:spPr>
          <a:xfrm>
            <a:off x="155450" y="1185725"/>
            <a:ext cx="11887200" cy="4850034"/>
          </a:xfrm>
          <a:prstGeom prst="rect">
            <a:avLst/>
          </a:prstGeom>
          <a:noFill/>
          <a:ln>
            <a:noFill/>
          </a:ln>
        </p:spPr>
      </p:pic>
      <p:sp>
        <p:nvSpPr>
          <p:cNvPr id="944" name="Google Shape;944;p124"/>
          <p:cNvSpPr txBox="1"/>
          <p:nvPr/>
        </p:nvSpPr>
        <p:spPr>
          <a:xfrm>
            <a:off x="365725" y="686225"/>
            <a:ext cx="6234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rPr>
              <a:t>VPC</a:t>
            </a:r>
            <a:endParaRPr sz="2800">
              <a:solidFill>
                <a:schemeClr val="dk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125"/>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950" name="Google Shape;950;p125"/>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pic>
        <p:nvPicPr>
          <p:cNvPr id="951" name="Google Shape;951;p125"/>
          <p:cNvPicPr preferRelativeResize="0"/>
          <p:nvPr/>
        </p:nvPicPr>
        <p:blipFill>
          <a:blip r:embed="rId3">
            <a:alphaModFix/>
          </a:blip>
          <a:stretch>
            <a:fillRect/>
          </a:stretch>
        </p:blipFill>
        <p:spPr>
          <a:xfrm>
            <a:off x="155425" y="1383970"/>
            <a:ext cx="11887198" cy="5062653"/>
          </a:xfrm>
          <a:prstGeom prst="rect">
            <a:avLst/>
          </a:prstGeom>
          <a:noFill/>
          <a:ln>
            <a:noFill/>
          </a:ln>
        </p:spPr>
      </p:pic>
      <p:sp>
        <p:nvSpPr>
          <p:cNvPr id="952" name="Google Shape;952;p125"/>
          <p:cNvSpPr txBox="1"/>
          <p:nvPr/>
        </p:nvSpPr>
        <p:spPr>
          <a:xfrm>
            <a:off x="365725" y="709675"/>
            <a:ext cx="4886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2 AZ - </a:t>
            </a:r>
            <a:r>
              <a:rPr lang="en-US" sz="2400">
                <a:solidFill>
                  <a:schemeClr val="dk1"/>
                </a:solidFill>
              </a:rPr>
              <a:t>2 Public &amp; 2 Private Subnet</a:t>
            </a:r>
            <a:endParaRPr sz="2400">
              <a:solidFill>
                <a:schemeClr val="dk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26"/>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958" name="Google Shape;958;p126"/>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pic>
        <p:nvPicPr>
          <p:cNvPr id="959" name="Google Shape;959;p126"/>
          <p:cNvPicPr preferRelativeResize="0"/>
          <p:nvPr/>
        </p:nvPicPr>
        <p:blipFill>
          <a:blip r:embed="rId3">
            <a:alphaModFix/>
          </a:blip>
          <a:stretch>
            <a:fillRect/>
          </a:stretch>
        </p:blipFill>
        <p:spPr>
          <a:xfrm>
            <a:off x="152400" y="1207400"/>
            <a:ext cx="11887201" cy="4230789"/>
          </a:xfrm>
          <a:prstGeom prst="rect">
            <a:avLst/>
          </a:prstGeom>
          <a:noFill/>
          <a:ln>
            <a:noFill/>
          </a:ln>
        </p:spPr>
      </p:pic>
      <p:sp>
        <p:nvSpPr>
          <p:cNvPr id="960" name="Google Shape;960;p126"/>
          <p:cNvSpPr/>
          <p:nvPr/>
        </p:nvSpPr>
        <p:spPr>
          <a:xfrm>
            <a:off x="6139300" y="2547925"/>
            <a:ext cx="2662800" cy="18618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127"/>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966" name="Google Shape;966;p127"/>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pic>
        <p:nvPicPr>
          <p:cNvPr id="967" name="Google Shape;967;p127"/>
          <p:cNvPicPr preferRelativeResize="0"/>
          <p:nvPr/>
        </p:nvPicPr>
        <p:blipFill>
          <a:blip r:embed="rId3">
            <a:alphaModFix/>
          </a:blip>
          <a:stretch>
            <a:fillRect/>
          </a:stretch>
        </p:blipFill>
        <p:spPr>
          <a:xfrm>
            <a:off x="152400" y="926070"/>
            <a:ext cx="11887201" cy="5183949"/>
          </a:xfrm>
          <a:prstGeom prst="rect">
            <a:avLst/>
          </a:prstGeom>
          <a:noFill/>
          <a:ln>
            <a:noFill/>
          </a:ln>
        </p:spPr>
      </p:pic>
      <p:sp>
        <p:nvSpPr>
          <p:cNvPr id="968" name="Google Shape;968;p127"/>
          <p:cNvSpPr/>
          <p:nvPr/>
        </p:nvSpPr>
        <p:spPr>
          <a:xfrm>
            <a:off x="5489875" y="5080725"/>
            <a:ext cx="3106500" cy="8916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128"/>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974" name="Google Shape;974;p128"/>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sp>
        <p:nvSpPr>
          <p:cNvPr id="975" name="Google Shape;975;p128"/>
          <p:cNvSpPr txBox="1"/>
          <p:nvPr/>
        </p:nvSpPr>
        <p:spPr>
          <a:xfrm>
            <a:off x="1311175" y="1937750"/>
            <a:ext cx="9575700" cy="2493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2500">
                <a:solidFill>
                  <a:schemeClr val="dk1"/>
                </a:solidFill>
              </a:rPr>
              <a:t>Our ALB spans two Availability Zones, and instances under the Target Group are also distributed across these two Availability Zones. This design aims to ensure that even if one Availability Zone experiences a problem, instances in the other Availability Zone can continue to provide service, preventing a single point of failure.</a:t>
            </a:r>
            <a:endParaRPr sz="2500">
              <a:solidFill>
                <a:schemeClr val="dk1"/>
              </a:solidFill>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129"/>
          <p:cNvSpPr txBox="1"/>
          <p:nvPr>
            <p:ph type="title"/>
          </p:nvPr>
        </p:nvSpPr>
        <p:spPr>
          <a:xfrm>
            <a:off x="457201" y="2545492"/>
            <a:ext cx="6456300" cy="2446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Times New Roman"/>
              <a:buNone/>
            </a:pPr>
            <a:r>
              <a:rPr lang="en-US">
                <a:latin typeface="Times New Roman"/>
                <a:ea typeface="Times New Roman"/>
                <a:cs typeface="Times New Roman"/>
                <a:sym typeface="Times New Roman"/>
              </a:rPr>
              <a:t>Load Balanced</a:t>
            </a:r>
            <a:endParaRPr>
              <a:latin typeface="Times New Roman"/>
              <a:ea typeface="Times New Roman"/>
              <a:cs typeface="Times New Roman"/>
              <a:sym typeface="Times New Roman"/>
            </a:endParaRPr>
          </a:p>
        </p:txBody>
      </p:sp>
      <p:sp>
        <p:nvSpPr>
          <p:cNvPr id="981" name="Google Shape;981;p129"/>
          <p:cNvSpPr txBox="1"/>
          <p:nvPr>
            <p:ph idx="1" type="body"/>
          </p:nvPr>
        </p:nvSpPr>
        <p:spPr>
          <a:xfrm>
            <a:off x="457200" y="5040375"/>
            <a:ext cx="8062200" cy="996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latin typeface="Times New Roman"/>
                <a:ea typeface="Times New Roman"/>
                <a:cs typeface="Times New Roman"/>
                <a:sym typeface="Times New Roman"/>
              </a:rPr>
              <a:t>Load Balanced — Even Traffic Distribution </a:t>
            </a:r>
            <a:endParaRPr>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130"/>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987" name="Google Shape;987;p130"/>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pic>
        <p:nvPicPr>
          <p:cNvPr id="988" name="Google Shape;988;p130"/>
          <p:cNvPicPr preferRelativeResize="0"/>
          <p:nvPr/>
        </p:nvPicPr>
        <p:blipFill>
          <a:blip r:embed="rId3">
            <a:alphaModFix/>
          </a:blip>
          <a:stretch>
            <a:fillRect/>
          </a:stretch>
        </p:blipFill>
        <p:spPr>
          <a:xfrm>
            <a:off x="2114175" y="2431752"/>
            <a:ext cx="6826874" cy="1095500"/>
          </a:xfrm>
          <a:prstGeom prst="rect">
            <a:avLst/>
          </a:prstGeom>
          <a:noFill/>
          <a:ln>
            <a:noFill/>
          </a:ln>
        </p:spPr>
      </p:pic>
      <p:pic>
        <p:nvPicPr>
          <p:cNvPr id="989" name="Google Shape;989;p130"/>
          <p:cNvPicPr preferRelativeResize="0"/>
          <p:nvPr/>
        </p:nvPicPr>
        <p:blipFill>
          <a:blip r:embed="rId4">
            <a:alphaModFix/>
          </a:blip>
          <a:stretch>
            <a:fillRect/>
          </a:stretch>
        </p:blipFill>
        <p:spPr>
          <a:xfrm>
            <a:off x="2114175" y="4028575"/>
            <a:ext cx="6826875" cy="1181075"/>
          </a:xfrm>
          <a:prstGeom prst="rect">
            <a:avLst/>
          </a:prstGeom>
          <a:noFill/>
          <a:ln>
            <a:noFill/>
          </a:ln>
        </p:spPr>
      </p:pic>
      <p:sp>
        <p:nvSpPr>
          <p:cNvPr id="990" name="Google Shape;990;p130"/>
          <p:cNvSpPr txBox="1"/>
          <p:nvPr/>
        </p:nvSpPr>
        <p:spPr>
          <a:xfrm>
            <a:off x="1143000" y="1314825"/>
            <a:ext cx="7581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endParaRPr>
          </a:p>
        </p:txBody>
      </p:sp>
      <p:sp>
        <p:nvSpPr>
          <p:cNvPr id="991" name="Google Shape;991;p130"/>
          <p:cNvSpPr txBox="1"/>
          <p:nvPr/>
        </p:nvSpPr>
        <p:spPr>
          <a:xfrm>
            <a:off x="1745550" y="883725"/>
            <a:ext cx="8700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rPr>
              <a:t>Using : sudo</a:t>
            </a:r>
            <a:r>
              <a:rPr lang="en-US" sz="2800"/>
              <a:t> wc -l /var/log/httpd/access_log </a:t>
            </a:r>
            <a:br>
              <a:rPr lang="en-US" sz="2800">
                <a:solidFill>
                  <a:schemeClr val="dk1"/>
                </a:solidFill>
              </a:rPr>
            </a:br>
            <a:r>
              <a:rPr lang="en-US" sz="2800">
                <a:solidFill>
                  <a:schemeClr val="dk1"/>
                </a:solidFill>
              </a:rPr>
              <a:t>Before sending request</a:t>
            </a:r>
            <a:endParaRPr sz="2800">
              <a:solidFill>
                <a:schemeClr val="dk1"/>
              </a:solidFill>
            </a:endParaRPr>
          </a:p>
        </p:txBody>
      </p:sp>
      <p:sp>
        <p:nvSpPr>
          <p:cNvPr id="992" name="Google Shape;992;p130"/>
          <p:cNvSpPr/>
          <p:nvPr/>
        </p:nvSpPr>
        <p:spPr>
          <a:xfrm>
            <a:off x="2114175" y="2752150"/>
            <a:ext cx="821400" cy="4539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3" name="Google Shape;993;p130"/>
          <p:cNvSpPr/>
          <p:nvPr/>
        </p:nvSpPr>
        <p:spPr>
          <a:xfrm>
            <a:off x="1985150" y="4333300"/>
            <a:ext cx="821400" cy="4539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131"/>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999" name="Google Shape;999;p131"/>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pic>
        <p:nvPicPr>
          <p:cNvPr id="1000" name="Google Shape;1000;p131"/>
          <p:cNvPicPr preferRelativeResize="0"/>
          <p:nvPr/>
        </p:nvPicPr>
        <p:blipFill>
          <a:blip r:embed="rId3">
            <a:alphaModFix/>
          </a:blip>
          <a:stretch>
            <a:fillRect/>
          </a:stretch>
        </p:blipFill>
        <p:spPr>
          <a:xfrm>
            <a:off x="1236545" y="4209511"/>
            <a:ext cx="5511580" cy="1417588"/>
          </a:xfrm>
          <a:prstGeom prst="rect">
            <a:avLst/>
          </a:prstGeom>
          <a:noFill/>
          <a:ln>
            <a:noFill/>
          </a:ln>
        </p:spPr>
      </p:pic>
      <p:pic>
        <p:nvPicPr>
          <p:cNvPr id="1001" name="Google Shape;1001;p131"/>
          <p:cNvPicPr preferRelativeResize="0"/>
          <p:nvPr/>
        </p:nvPicPr>
        <p:blipFill>
          <a:blip r:embed="rId4">
            <a:alphaModFix/>
          </a:blip>
          <a:stretch>
            <a:fillRect/>
          </a:stretch>
        </p:blipFill>
        <p:spPr>
          <a:xfrm>
            <a:off x="1236553" y="2546964"/>
            <a:ext cx="5511575" cy="1421224"/>
          </a:xfrm>
          <a:prstGeom prst="rect">
            <a:avLst/>
          </a:prstGeom>
          <a:noFill/>
          <a:ln>
            <a:noFill/>
          </a:ln>
        </p:spPr>
      </p:pic>
      <p:sp>
        <p:nvSpPr>
          <p:cNvPr id="1002" name="Google Shape;1002;p131"/>
          <p:cNvSpPr txBox="1"/>
          <p:nvPr/>
        </p:nvSpPr>
        <p:spPr>
          <a:xfrm>
            <a:off x="490050" y="752075"/>
            <a:ext cx="116049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rPr>
              <a:t>After sending request using : </a:t>
            </a:r>
            <a:endParaRPr sz="2800">
              <a:solidFill>
                <a:schemeClr val="dk1"/>
              </a:solidFill>
            </a:endParaRPr>
          </a:p>
          <a:p>
            <a:pPr indent="0" lvl="0" marL="0" rtl="0" algn="l">
              <a:spcBef>
                <a:spcPts val="0"/>
              </a:spcBef>
              <a:spcAft>
                <a:spcPts val="0"/>
              </a:spcAft>
              <a:buNone/>
            </a:pPr>
            <a:r>
              <a:rPr lang="en-US" sz="2800">
                <a:solidFill>
                  <a:schemeClr val="dk1"/>
                </a:solidFill>
              </a:rPr>
              <a:t>ab -n 5000 -c 200 http://splashpoint-alb-1364108331.us-east-1.elb.amazonaws.com/index.php</a:t>
            </a:r>
            <a:endParaRPr sz="2800">
              <a:solidFill>
                <a:schemeClr val="dk1"/>
              </a:solidFill>
            </a:endParaRPr>
          </a:p>
        </p:txBody>
      </p:sp>
      <p:sp>
        <p:nvSpPr>
          <p:cNvPr id="1003" name="Google Shape;1003;p131"/>
          <p:cNvSpPr txBox="1"/>
          <p:nvPr/>
        </p:nvSpPr>
        <p:spPr>
          <a:xfrm>
            <a:off x="7355700" y="4552488"/>
            <a:ext cx="3881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rPr>
              <a:t>3866 - 1438 = 2428</a:t>
            </a:r>
            <a:endParaRPr sz="2800">
              <a:solidFill>
                <a:schemeClr val="dk1"/>
              </a:solidFill>
            </a:endParaRPr>
          </a:p>
        </p:txBody>
      </p:sp>
      <p:sp>
        <p:nvSpPr>
          <p:cNvPr id="1004" name="Google Shape;1004;p131"/>
          <p:cNvSpPr txBox="1"/>
          <p:nvPr/>
        </p:nvSpPr>
        <p:spPr>
          <a:xfrm>
            <a:off x="7186550" y="2934838"/>
            <a:ext cx="3768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rPr>
              <a:t>55903 - 53395 = 2508</a:t>
            </a:r>
            <a:endParaRPr sz="2800">
              <a:solidFill>
                <a:schemeClr val="dk1"/>
              </a:solidFill>
            </a:endParaRPr>
          </a:p>
        </p:txBody>
      </p:sp>
      <p:sp>
        <p:nvSpPr>
          <p:cNvPr id="1005" name="Google Shape;1005;p131"/>
          <p:cNvSpPr/>
          <p:nvPr/>
        </p:nvSpPr>
        <p:spPr>
          <a:xfrm>
            <a:off x="1236550" y="4296838"/>
            <a:ext cx="637200" cy="12429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6" name="Google Shape;1006;p131"/>
          <p:cNvSpPr/>
          <p:nvPr/>
        </p:nvSpPr>
        <p:spPr>
          <a:xfrm>
            <a:off x="1236550" y="2823263"/>
            <a:ext cx="637200" cy="12429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7" name="Google Shape;1007;p131"/>
          <p:cNvSpPr txBox="1"/>
          <p:nvPr/>
        </p:nvSpPr>
        <p:spPr>
          <a:xfrm>
            <a:off x="1623575" y="6023650"/>
            <a:ext cx="7308300" cy="5694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2500">
                <a:solidFill>
                  <a:schemeClr val="dk1"/>
                </a:solidFill>
              </a:rPr>
              <a:t>two instances differed by at </a:t>
            </a:r>
            <a:r>
              <a:rPr lang="en-US" sz="2500">
                <a:solidFill>
                  <a:schemeClr val="dk1"/>
                </a:solidFill>
              </a:rPr>
              <a:t>least</a:t>
            </a:r>
            <a:r>
              <a:rPr lang="en-US" sz="2500">
                <a:solidFill>
                  <a:schemeClr val="dk1"/>
                </a:solidFill>
              </a:rPr>
              <a:t> less than [5%]</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132"/>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013" name="Google Shape;1013;p132"/>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sp>
        <p:nvSpPr>
          <p:cNvPr id="1014" name="Google Shape;1014;p132"/>
          <p:cNvSpPr txBox="1"/>
          <p:nvPr/>
        </p:nvSpPr>
        <p:spPr>
          <a:xfrm>
            <a:off x="1115300" y="2182200"/>
            <a:ext cx="10284300" cy="2493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2500"/>
              <a:t>By comparing the number of access log requests for each instance, we verified that the ALB traffic distribution was indeed even – the number of requests handled by the two instances differed by less than [5%], proving that no single instance was overloaded with requests and that the load was indeed evenly distributed, rather than being carried by a single instance.</a:t>
            </a:r>
            <a:endParaRPr sz="2500"/>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133"/>
          <p:cNvSpPr txBox="1"/>
          <p:nvPr>
            <p:ph idx="12" type="sldNum"/>
          </p:nvPr>
        </p:nvSpPr>
        <p:spPr>
          <a:xfrm>
            <a:off x="11347836" y="6446622"/>
            <a:ext cx="484707" cy="228091"/>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020" name="Google Shape;1020;p133"/>
          <p:cNvSpPr txBox="1"/>
          <p:nvPr>
            <p:ph type="title"/>
          </p:nvPr>
        </p:nvSpPr>
        <p:spPr>
          <a:xfrm>
            <a:off x="365726" y="1709664"/>
            <a:ext cx="11471749" cy="360974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Times New Roman"/>
              <a:buNone/>
            </a:pPr>
            <a:r>
              <a:rPr lang="en-US">
                <a:latin typeface="Times New Roman"/>
                <a:ea typeface="Times New Roman"/>
                <a:cs typeface="Times New Roman"/>
                <a:sym typeface="Times New Roman"/>
              </a:rPr>
              <a:t>Additional Services </a:t>
            </a:r>
            <a:endParaRPr>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134"/>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026" name="Google Shape;1026;p134"/>
          <p:cNvSpPr txBox="1"/>
          <p:nvPr>
            <p:ph type="title"/>
          </p:nvPr>
        </p:nvSpPr>
        <p:spPr>
          <a:xfrm>
            <a:off x="365726" y="1709664"/>
            <a:ext cx="11471700" cy="3609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Times New Roman"/>
              <a:buNone/>
            </a:pPr>
            <a:r>
              <a:rPr lang="en-US">
                <a:latin typeface="Times New Roman"/>
                <a:ea typeface="Times New Roman"/>
                <a:cs typeface="Times New Roman"/>
                <a:sym typeface="Times New Roman"/>
              </a:rPr>
              <a:t>Additional Services - Lambda + SNS </a:t>
            </a:r>
            <a:endParaRPr>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135"/>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032" name="Google Shape;1032;p135"/>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pic>
        <p:nvPicPr>
          <p:cNvPr id="1033" name="Google Shape;1033;p135"/>
          <p:cNvPicPr preferRelativeResize="0"/>
          <p:nvPr/>
        </p:nvPicPr>
        <p:blipFill>
          <a:blip r:embed="rId3">
            <a:alphaModFix/>
          </a:blip>
          <a:stretch>
            <a:fillRect/>
          </a:stretch>
        </p:blipFill>
        <p:spPr>
          <a:xfrm>
            <a:off x="155425" y="1698820"/>
            <a:ext cx="11887199" cy="4310742"/>
          </a:xfrm>
          <a:prstGeom prst="rect">
            <a:avLst/>
          </a:prstGeom>
          <a:noFill/>
          <a:ln>
            <a:noFill/>
          </a:ln>
        </p:spPr>
      </p:pic>
      <p:sp>
        <p:nvSpPr>
          <p:cNvPr id="1034" name="Google Shape;1034;p135"/>
          <p:cNvSpPr txBox="1"/>
          <p:nvPr/>
        </p:nvSpPr>
        <p:spPr>
          <a:xfrm>
            <a:off x="365725" y="933725"/>
            <a:ext cx="8351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rPr>
              <a:t>SNS Topic</a:t>
            </a:r>
            <a:endParaRPr sz="2800">
              <a:solidFill>
                <a:schemeClr val="dk1"/>
              </a:solidFill>
            </a:endParaRPr>
          </a:p>
        </p:txBody>
      </p:sp>
      <p:sp>
        <p:nvSpPr>
          <p:cNvPr id="1035" name="Google Shape;1035;p135"/>
          <p:cNvSpPr/>
          <p:nvPr/>
        </p:nvSpPr>
        <p:spPr>
          <a:xfrm>
            <a:off x="1962250" y="1698825"/>
            <a:ext cx="10016700" cy="22218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6" name="Google Shape;1036;p135"/>
          <p:cNvSpPr/>
          <p:nvPr/>
        </p:nvSpPr>
        <p:spPr>
          <a:xfrm>
            <a:off x="1962250" y="4214925"/>
            <a:ext cx="10080300" cy="17946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136"/>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042" name="Google Shape;1042;p136"/>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pic>
        <p:nvPicPr>
          <p:cNvPr id="1043" name="Google Shape;1043;p136"/>
          <p:cNvPicPr preferRelativeResize="0"/>
          <p:nvPr/>
        </p:nvPicPr>
        <p:blipFill>
          <a:blip r:embed="rId3">
            <a:alphaModFix/>
          </a:blip>
          <a:stretch>
            <a:fillRect/>
          </a:stretch>
        </p:blipFill>
        <p:spPr>
          <a:xfrm>
            <a:off x="0" y="1580820"/>
            <a:ext cx="11887199" cy="4865810"/>
          </a:xfrm>
          <a:prstGeom prst="rect">
            <a:avLst/>
          </a:prstGeom>
          <a:noFill/>
          <a:ln>
            <a:noFill/>
          </a:ln>
        </p:spPr>
      </p:pic>
      <p:pic>
        <p:nvPicPr>
          <p:cNvPr id="1044" name="Google Shape;1044;p136"/>
          <p:cNvPicPr preferRelativeResize="0"/>
          <p:nvPr/>
        </p:nvPicPr>
        <p:blipFill>
          <a:blip r:embed="rId4">
            <a:alphaModFix/>
          </a:blip>
          <a:stretch>
            <a:fillRect/>
          </a:stretch>
        </p:blipFill>
        <p:spPr>
          <a:xfrm>
            <a:off x="6319370" y="3139000"/>
            <a:ext cx="5720225" cy="3622626"/>
          </a:xfrm>
          <a:prstGeom prst="rect">
            <a:avLst/>
          </a:prstGeom>
          <a:noFill/>
          <a:ln>
            <a:noFill/>
          </a:ln>
        </p:spPr>
      </p:pic>
      <p:sp>
        <p:nvSpPr>
          <p:cNvPr id="1045" name="Google Shape;1045;p136"/>
          <p:cNvSpPr txBox="1"/>
          <p:nvPr/>
        </p:nvSpPr>
        <p:spPr>
          <a:xfrm>
            <a:off x="365725" y="865725"/>
            <a:ext cx="8351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rPr>
              <a:t>Create lambda &amp; it </a:t>
            </a:r>
            <a:r>
              <a:rPr lang="en-US" sz="2800">
                <a:solidFill>
                  <a:schemeClr val="dk1"/>
                </a:solidFill>
              </a:rPr>
              <a:t>function</a:t>
            </a:r>
            <a:endParaRPr sz="2800">
              <a:solidFill>
                <a:schemeClr val="dk1"/>
              </a:solidFill>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137"/>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051" name="Google Shape;1051;p137"/>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pic>
        <p:nvPicPr>
          <p:cNvPr id="1052" name="Google Shape;1052;p137"/>
          <p:cNvPicPr preferRelativeResize="0"/>
          <p:nvPr/>
        </p:nvPicPr>
        <p:blipFill>
          <a:blip r:embed="rId3">
            <a:alphaModFix/>
          </a:blip>
          <a:stretch>
            <a:fillRect/>
          </a:stretch>
        </p:blipFill>
        <p:spPr>
          <a:xfrm>
            <a:off x="152400" y="1481320"/>
            <a:ext cx="11887200" cy="4598447"/>
          </a:xfrm>
          <a:prstGeom prst="rect">
            <a:avLst/>
          </a:prstGeom>
          <a:noFill/>
          <a:ln>
            <a:noFill/>
          </a:ln>
        </p:spPr>
      </p:pic>
      <p:sp>
        <p:nvSpPr>
          <p:cNvPr id="1053" name="Google Shape;1053;p137"/>
          <p:cNvSpPr txBox="1"/>
          <p:nvPr/>
        </p:nvSpPr>
        <p:spPr>
          <a:xfrm>
            <a:off x="365725" y="865725"/>
            <a:ext cx="8351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rPr>
              <a:t>Create Subscriptions</a:t>
            </a:r>
            <a:endParaRPr sz="2800">
              <a:solidFill>
                <a:schemeClr val="dk1"/>
              </a:solidFill>
            </a:endParaRPr>
          </a:p>
        </p:txBody>
      </p:sp>
      <p:sp>
        <p:nvSpPr>
          <p:cNvPr id="1054" name="Google Shape;1054;p137"/>
          <p:cNvSpPr/>
          <p:nvPr/>
        </p:nvSpPr>
        <p:spPr>
          <a:xfrm>
            <a:off x="152400" y="1394350"/>
            <a:ext cx="10971300" cy="44544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138"/>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060" name="Google Shape;1060;p138"/>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pic>
        <p:nvPicPr>
          <p:cNvPr id="1061" name="Google Shape;1061;p138"/>
          <p:cNvPicPr preferRelativeResize="0"/>
          <p:nvPr/>
        </p:nvPicPr>
        <p:blipFill>
          <a:blip r:embed="rId3">
            <a:alphaModFix/>
          </a:blip>
          <a:stretch>
            <a:fillRect/>
          </a:stretch>
        </p:blipFill>
        <p:spPr>
          <a:xfrm>
            <a:off x="155425" y="1568320"/>
            <a:ext cx="11887198" cy="4776275"/>
          </a:xfrm>
          <a:prstGeom prst="rect">
            <a:avLst/>
          </a:prstGeom>
          <a:noFill/>
          <a:ln>
            <a:noFill/>
          </a:ln>
        </p:spPr>
      </p:pic>
      <p:sp>
        <p:nvSpPr>
          <p:cNvPr id="1062" name="Google Shape;1062;p138"/>
          <p:cNvSpPr txBox="1"/>
          <p:nvPr/>
        </p:nvSpPr>
        <p:spPr>
          <a:xfrm>
            <a:off x="365725" y="875725"/>
            <a:ext cx="8351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rPr>
              <a:t>Add SNS trigger</a:t>
            </a:r>
            <a:endParaRPr sz="2800">
              <a:solidFill>
                <a:schemeClr val="dk1"/>
              </a:solidFill>
            </a:endParaRPr>
          </a:p>
        </p:txBody>
      </p:sp>
      <p:sp>
        <p:nvSpPr>
          <p:cNvPr id="1063" name="Google Shape;1063;p138"/>
          <p:cNvSpPr/>
          <p:nvPr/>
        </p:nvSpPr>
        <p:spPr>
          <a:xfrm>
            <a:off x="365725" y="1568325"/>
            <a:ext cx="7539000" cy="24537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4" name="Google Shape;1064;p138"/>
          <p:cNvSpPr/>
          <p:nvPr/>
        </p:nvSpPr>
        <p:spPr>
          <a:xfrm>
            <a:off x="2181925" y="4099025"/>
            <a:ext cx="4719000" cy="21486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139"/>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070" name="Google Shape;1070;p139"/>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pic>
        <p:nvPicPr>
          <p:cNvPr id="1071" name="Google Shape;1071;p139"/>
          <p:cNvPicPr preferRelativeResize="0"/>
          <p:nvPr/>
        </p:nvPicPr>
        <p:blipFill>
          <a:blip r:embed="rId3">
            <a:alphaModFix/>
          </a:blip>
          <a:stretch>
            <a:fillRect/>
          </a:stretch>
        </p:blipFill>
        <p:spPr>
          <a:xfrm>
            <a:off x="155425" y="1988770"/>
            <a:ext cx="11887199" cy="4299330"/>
          </a:xfrm>
          <a:prstGeom prst="rect">
            <a:avLst/>
          </a:prstGeom>
          <a:noFill/>
          <a:ln>
            <a:noFill/>
          </a:ln>
        </p:spPr>
      </p:pic>
      <p:sp>
        <p:nvSpPr>
          <p:cNvPr id="1072" name="Google Shape;1072;p139"/>
          <p:cNvSpPr txBox="1"/>
          <p:nvPr/>
        </p:nvSpPr>
        <p:spPr>
          <a:xfrm>
            <a:off x="365725" y="933725"/>
            <a:ext cx="9192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rPr>
              <a:t>Inside the code use back the SNS arn link to connect</a:t>
            </a:r>
            <a:endParaRPr sz="2800">
              <a:solidFill>
                <a:schemeClr val="dk1"/>
              </a:solidFill>
            </a:endParaRPr>
          </a:p>
        </p:txBody>
      </p:sp>
      <p:sp>
        <p:nvSpPr>
          <p:cNvPr id="1073" name="Google Shape;1073;p139"/>
          <p:cNvSpPr/>
          <p:nvPr/>
        </p:nvSpPr>
        <p:spPr>
          <a:xfrm>
            <a:off x="3860850" y="4123500"/>
            <a:ext cx="8118300" cy="7974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p140"/>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079" name="Google Shape;1079;p140"/>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pic>
        <p:nvPicPr>
          <p:cNvPr id="1080" name="Google Shape;1080;p140"/>
          <p:cNvPicPr preferRelativeResize="0"/>
          <p:nvPr/>
        </p:nvPicPr>
        <p:blipFill>
          <a:blip r:embed="rId3">
            <a:alphaModFix/>
          </a:blip>
          <a:stretch>
            <a:fillRect/>
          </a:stretch>
        </p:blipFill>
        <p:spPr>
          <a:xfrm>
            <a:off x="365725" y="1017325"/>
            <a:ext cx="5654226" cy="5078024"/>
          </a:xfrm>
          <a:prstGeom prst="rect">
            <a:avLst/>
          </a:prstGeom>
          <a:noFill/>
          <a:ln>
            <a:noFill/>
          </a:ln>
        </p:spPr>
      </p:pic>
      <p:pic>
        <p:nvPicPr>
          <p:cNvPr id="1081" name="Google Shape;1081;p140"/>
          <p:cNvPicPr preferRelativeResize="0"/>
          <p:nvPr/>
        </p:nvPicPr>
        <p:blipFill>
          <a:blip r:embed="rId4">
            <a:alphaModFix/>
          </a:blip>
          <a:stretch>
            <a:fillRect/>
          </a:stretch>
        </p:blipFill>
        <p:spPr>
          <a:xfrm>
            <a:off x="6172351" y="741870"/>
            <a:ext cx="5092901" cy="5552352"/>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141"/>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087" name="Google Shape;1087;p141"/>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pic>
        <p:nvPicPr>
          <p:cNvPr id="1088" name="Google Shape;1088;p141"/>
          <p:cNvPicPr preferRelativeResize="0"/>
          <p:nvPr/>
        </p:nvPicPr>
        <p:blipFill>
          <a:blip r:embed="rId3">
            <a:alphaModFix/>
          </a:blip>
          <a:stretch>
            <a:fillRect/>
          </a:stretch>
        </p:blipFill>
        <p:spPr>
          <a:xfrm>
            <a:off x="152400" y="944845"/>
            <a:ext cx="11887200" cy="5384641"/>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142"/>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094" name="Google Shape;1094;p142"/>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pic>
        <p:nvPicPr>
          <p:cNvPr id="1095" name="Google Shape;1095;p142"/>
          <p:cNvPicPr preferRelativeResize="0"/>
          <p:nvPr/>
        </p:nvPicPr>
        <p:blipFill>
          <a:blip r:embed="rId3">
            <a:alphaModFix/>
          </a:blip>
          <a:stretch>
            <a:fillRect/>
          </a:stretch>
        </p:blipFill>
        <p:spPr>
          <a:xfrm>
            <a:off x="365725" y="2876275"/>
            <a:ext cx="11195427" cy="3798350"/>
          </a:xfrm>
          <a:prstGeom prst="rect">
            <a:avLst/>
          </a:prstGeom>
          <a:noFill/>
          <a:ln>
            <a:noFill/>
          </a:ln>
        </p:spPr>
      </p:pic>
      <p:pic>
        <p:nvPicPr>
          <p:cNvPr id="1096" name="Google Shape;1096;p142"/>
          <p:cNvPicPr preferRelativeResize="0"/>
          <p:nvPr/>
        </p:nvPicPr>
        <p:blipFill>
          <a:blip r:embed="rId4">
            <a:alphaModFix/>
          </a:blip>
          <a:stretch>
            <a:fillRect/>
          </a:stretch>
        </p:blipFill>
        <p:spPr>
          <a:xfrm>
            <a:off x="152400" y="741870"/>
            <a:ext cx="11887200" cy="1816100"/>
          </a:xfrm>
          <a:prstGeom prst="rect">
            <a:avLst/>
          </a:prstGeom>
          <a:noFill/>
          <a:ln>
            <a:noFill/>
          </a:ln>
        </p:spPr>
      </p:pic>
      <p:sp>
        <p:nvSpPr>
          <p:cNvPr id="1097" name="Google Shape;1097;p142"/>
          <p:cNvSpPr/>
          <p:nvPr/>
        </p:nvSpPr>
        <p:spPr>
          <a:xfrm>
            <a:off x="4281325" y="2050150"/>
            <a:ext cx="3333600" cy="5079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8" name="Google Shape;1098;p142"/>
          <p:cNvSpPr/>
          <p:nvPr/>
        </p:nvSpPr>
        <p:spPr>
          <a:xfrm>
            <a:off x="1026475" y="5109425"/>
            <a:ext cx="6791400" cy="3771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p143"/>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104" name="Google Shape;1104;p143"/>
          <p:cNvSpPr txBox="1"/>
          <p:nvPr>
            <p:ph type="title"/>
          </p:nvPr>
        </p:nvSpPr>
        <p:spPr>
          <a:xfrm>
            <a:off x="365726" y="1709664"/>
            <a:ext cx="11471700" cy="3609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Times New Roman"/>
              <a:buNone/>
            </a:pPr>
            <a:r>
              <a:rPr lang="en-US">
                <a:latin typeface="Times New Roman"/>
                <a:ea typeface="Times New Roman"/>
                <a:cs typeface="Times New Roman"/>
                <a:sym typeface="Times New Roman"/>
              </a:rPr>
              <a:t>Additional Services - S3</a:t>
            </a:r>
            <a:endParaRPr>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144"/>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110" name="Google Shape;1110;p144"/>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pic>
        <p:nvPicPr>
          <p:cNvPr id="1111" name="Google Shape;1111;p144"/>
          <p:cNvPicPr preferRelativeResize="0"/>
          <p:nvPr/>
        </p:nvPicPr>
        <p:blipFill>
          <a:blip r:embed="rId3">
            <a:alphaModFix/>
          </a:blip>
          <a:stretch>
            <a:fillRect/>
          </a:stretch>
        </p:blipFill>
        <p:spPr>
          <a:xfrm>
            <a:off x="155425" y="1742295"/>
            <a:ext cx="11887198" cy="4088190"/>
          </a:xfrm>
          <a:prstGeom prst="rect">
            <a:avLst/>
          </a:prstGeom>
          <a:noFill/>
          <a:ln>
            <a:noFill/>
          </a:ln>
        </p:spPr>
      </p:pic>
      <p:sp>
        <p:nvSpPr>
          <p:cNvPr id="1112" name="Google Shape;1112;p144"/>
          <p:cNvSpPr txBox="1"/>
          <p:nvPr/>
        </p:nvSpPr>
        <p:spPr>
          <a:xfrm>
            <a:off x="365725" y="1049725"/>
            <a:ext cx="8351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rPr>
              <a:t>S3 bucket</a:t>
            </a:r>
            <a:endParaRPr sz="2800">
              <a:solidFill>
                <a:schemeClr val="dk1"/>
              </a:solidFill>
            </a:endParaRPr>
          </a:p>
        </p:txBody>
      </p:sp>
      <p:sp>
        <p:nvSpPr>
          <p:cNvPr id="1113" name="Google Shape;1113;p144"/>
          <p:cNvSpPr/>
          <p:nvPr/>
        </p:nvSpPr>
        <p:spPr>
          <a:xfrm>
            <a:off x="235250" y="2046800"/>
            <a:ext cx="2537100" cy="4527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4" name="Google Shape;1114;p144"/>
          <p:cNvSpPr/>
          <p:nvPr/>
        </p:nvSpPr>
        <p:spPr>
          <a:xfrm>
            <a:off x="365725" y="4069550"/>
            <a:ext cx="10598400" cy="15618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sp>
        <p:nvSpPr>
          <p:cNvPr id="1119" name="Google Shape;1119;p145"/>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120" name="Google Shape;1120;p145"/>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pic>
        <p:nvPicPr>
          <p:cNvPr id="1121" name="Google Shape;1121;p145"/>
          <p:cNvPicPr preferRelativeResize="0"/>
          <p:nvPr/>
        </p:nvPicPr>
        <p:blipFill>
          <a:blip r:embed="rId3">
            <a:alphaModFix/>
          </a:blip>
          <a:stretch>
            <a:fillRect/>
          </a:stretch>
        </p:blipFill>
        <p:spPr>
          <a:xfrm>
            <a:off x="0" y="731950"/>
            <a:ext cx="11887200" cy="2519100"/>
          </a:xfrm>
          <a:prstGeom prst="rect">
            <a:avLst/>
          </a:prstGeom>
          <a:noFill/>
          <a:ln>
            <a:noFill/>
          </a:ln>
        </p:spPr>
      </p:pic>
      <p:pic>
        <p:nvPicPr>
          <p:cNvPr id="1122" name="Google Shape;1122;p145"/>
          <p:cNvPicPr preferRelativeResize="0"/>
          <p:nvPr/>
        </p:nvPicPr>
        <p:blipFill>
          <a:blip r:embed="rId4">
            <a:alphaModFix/>
          </a:blip>
          <a:stretch>
            <a:fillRect/>
          </a:stretch>
        </p:blipFill>
        <p:spPr>
          <a:xfrm>
            <a:off x="137900" y="3251050"/>
            <a:ext cx="11382849" cy="3345365"/>
          </a:xfrm>
          <a:prstGeom prst="rect">
            <a:avLst/>
          </a:prstGeom>
          <a:noFill/>
          <a:ln>
            <a:noFill/>
          </a:ln>
        </p:spPr>
      </p:pic>
      <p:sp>
        <p:nvSpPr>
          <p:cNvPr id="1123" name="Google Shape;1123;p145"/>
          <p:cNvSpPr/>
          <p:nvPr/>
        </p:nvSpPr>
        <p:spPr>
          <a:xfrm>
            <a:off x="137900" y="2061300"/>
            <a:ext cx="3910200" cy="11052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4" name="Google Shape;1124;p145"/>
          <p:cNvSpPr/>
          <p:nvPr/>
        </p:nvSpPr>
        <p:spPr>
          <a:xfrm>
            <a:off x="137900" y="3393525"/>
            <a:ext cx="4301700" cy="31368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sp>
        <p:nvSpPr>
          <p:cNvPr id="1129" name="Google Shape;1129;p146"/>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130" name="Google Shape;1130;p146"/>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sp>
        <p:nvSpPr>
          <p:cNvPr id="1131" name="Google Shape;1131;p146"/>
          <p:cNvSpPr txBox="1"/>
          <p:nvPr/>
        </p:nvSpPr>
        <p:spPr>
          <a:xfrm>
            <a:off x="365725" y="1681875"/>
            <a:ext cx="11210700" cy="200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500">
                <a:solidFill>
                  <a:schemeClr val="dk1"/>
                </a:solidFill>
              </a:rPr>
              <a:t>sudo tee /etc/httpd/conf.d/db-env.conf &lt;&lt; EOF</a:t>
            </a:r>
            <a:endParaRPr sz="1500">
              <a:solidFill>
                <a:schemeClr val="dk1"/>
              </a:solidFill>
            </a:endParaRPr>
          </a:p>
          <a:p>
            <a:pPr indent="0" lvl="0" marL="0" rtl="0" algn="l">
              <a:lnSpc>
                <a:spcPct val="115000"/>
              </a:lnSpc>
              <a:spcBef>
                <a:spcPts val="0"/>
              </a:spcBef>
              <a:spcAft>
                <a:spcPts val="0"/>
              </a:spcAft>
              <a:buNone/>
            </a:pPr>
            <a:r>
              <a:rPr lang="en-US" sz="1500">
                <a:solidFill>
                  <a:schemeClr val="dk1"/>
                </a:solidFill>
              </a:rPr>
              <a:t>SetEnv DB_HOST $DB_HOST</a:t>
            </a:r>
            <a:endParaRPr sz="1500">
              <a:solidFill>
                <a:schemeClr val="dk1"/>
              </a:solidFill>
            </a:endParaRPr>
          </a:p>
          <a:p>
            <a:pPr indent="0" lvl="0" marL="0" rtl="0" algn="l">
              <a:lnSpc>
                <a:spcPct val="115000"/>
              </a:lnSpc>
              <a:spcBef>
                <a:spcPts val="0"/>
              </a:spcBef>
              <a:spcAft>
                <a:spcPts val="0"/>
              </a:spcAft>
              <a:buNone/>
            </a:pPr>
            <a:r>
              <a:rPr lang="en-US" sz="1500">
                <a:solidFill>
                  <a:schemeClr val="dk1"/>
                </a:solidFill>
              </a:rPr>
              <a:t>SetEnv DB_USER $DB_USER</a:t>
            </a:r>
            <a:endParaRPr sz="1500">
              <a:solidFill>
                <a:schemeClr val="dk1"/>
              </a:solidFill>
            </a:endParaRPr>
          </a:p>
          <a:p>
            <a:pPr indent="0" lvl="0" marL="0" rtl="0" algn="l">
              <a:lnSpc>
                <a:spcPct val="115000"/>
              </a:lnSpc>
              <a:spcBef>
                <a:spcPts val="0"/>
              </a:spcBef>
              <a:spcAft>
                <a:spcPts val="0"/>
              </a:spcAft>
              <a:buNone/>
            </a:pPr>
            <a:r>
              <a:rPr lang="en-US" sz="1500">
                <a:solidFill>
                  <a:schemeClr val="dk1"/>
                </a:solidFill>
              </a:rPr>
              <a:t>SetEnv DB_PASS $DB_PASS</a:t>
            </a:r>
            <a:endParaRPr sz="1500">
              <a:solidFill>
                <a:schemeClr val="dk1"/>
              </a:solidFill>
            </a:endParaRPr>
          </a:p>
          <a:p>
            <a:pPr indent="0" lvl="0" marL="0" rtl="0" algn="l">
              <a:lnSpc>
                <a:spcPct val="115000"/>
              </a:lnSpc>
              <a:spcBef>
                <a:spcPts val="0"/>
              </a:spcBef>
              <a:spcAft>
                <a:spcPts val="0"/>
              </a:spcAft>
              <a:buNone/>
            </a:pPr>
            <a:r>
              <a:rPr lang="en-US" sz="1500">
                <a:solidFill>
                  <a:schemeClr val="dk1"/>
                </a:solidFill>
              </a:rPr>
              <a:t>SetEnv DB_NAME $DB_NAME</a:t>
            </a:r>
            <a:endParaRPr sz="1500">
              <a:solidFill>
                <a:schemeClr val="dk1"/>
              </a:solidFill>
            </a:endParaRPr>
          </a:p>
          <a:p>
            <a:pPr indent="0" lvl="0" marL="0" rtl="0" algn="l">
              <a:lnSpc>
                <a:spcPct val="115000"/>
              </a:lnSpc>
              <a:spcBef>
                <a:spcPts val="0"/>
              </a:spcBef>
              <a:spcAft>
                <a:spcPts val="0"/>
              </a:spcAft>
              <a:buNone/>
            </a:pPr>
            <a:r>
              <a:rPr lang="en-US" sz="1500">
                <a:solidFill>
                  <a:schemeClr val="dk1"/>
                </a:solidFill>
                <a:highlight>
                  <a:srgbClr val="FFFF00"/>
                </a:highlight>
              </a:rPr>
              <a:t>SetEnv IMAGE_BASE_URL https://jy-pool-booking-bucket.s3.us-east-1.amazonaws.com/</a:t>
            </a:r>
            <a:endParaRPr sz="1500">
              <a:solidFill>
                <a:schemeClr val="dk1"/>
              </a:solidFill>
              <a:highlight>
                <a:srgbClr val="FFFF00"/>
              </a:highlight>
            </a:endParaRPr>
          </a:p>
          <a:p>
            <a:pPr indent="0" lvl="0" marL="0" rtl="0" algn="l">
              <a:lnSpc>
                <a:spcPct val="115000"/>
              </a:lnSpc>
              <a:spcBef>
                <a:spcPts val="0"/>
              </a:spcBef>
              <a:spcAft>
                <a:spcPts val="0"/>
              </a:spcAft>
              <a:buNone/>
            </a:pPr>
            <a:r>
              <a:rPr lang="en-US" sz="1500">
                <a:solidFill>
                  <a:schemeClr val="dk1"/>
                </a:solidFill>
              </a:rPr>
              <a:t>EOF</a:t>
            </a:r>
            <a:endParaRPr sz="1600"/>
          </a:p>
        </p:txBody>
      </p:sp>
      <p:sp>
        <p:nvSpPr>
          <p:cNvPr id="1132" name="Google Shape;1132;p146"/>
          <p:cNvSpPr txBox="1"/>
          <p:nvPr/>
        </p:nvSpPr>
        <p:spPr>
          <a:xfrm>
            <a:off x="365725" y="907625"/>
            <a:ext cx="8351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rPr>
              <a:t>Using SetEnv to connect s3 bucket</a:t>
            </a:r>
            <a:endParaRPr sz="2800">
              <a:solidFill>
                <a:schemeClr val="dk1"/>
              </a:solidFill>
            </a:endParaRPr>
          </a:p>
        </p:txBody>
      </p:sp>
      <p:pic>
        <p:nvPicPr>
          <p:cNvPr id="1133" name="Google Shape;1133;p146"/>
          <p:cNvPicPr preferRelativeResize="0"/>
          <p:nvPr/>
        </p:nvPicPr>
        <p:blipFill>
          <a:blip r:embed="rId3">
            <a:alphaModFix/>
          </a:blip>
          <a:stretch>
            <a:fillRect/>
          </a:stretch>
        </p:blipFill>
        <p:spPr>
          <a:xfrm>
            <a:off x="2312750" y="3524100"/>
            <a:ext cx="9035076" cy="3238600"/>
          </a:xfrm>
          <a:prstGeom prst="rect">
            <a:avLst/>
          </a:prstGeom>
          <a:noFill/>
          <a:ln>
            <a:noFill/>
          </a:ln>
        </p:spPr>
      </p:pic>
      <p:sp>
        <p:nvSpPr>
          <p:cNvPr id="1134" name="Google Shape;1134;p146"/>
          <p:cNvSpPr/>
          <p:nvPr/>
        </p:nvSpPr>
        <p:spPr>
          <a:xfrm>
            <a:off x="5401000" y="5051425"/>
            <a:ext cx="5461500" cy="16233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147"/>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140" name="Google Shape;1140;p147"/>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pic>
        <p:nvPicPr>
          <p:cNvPr id="1141" name="Google Shape;1141;p147"/>
          <p:cNvPicPr preferRelativeResize="0"/>
          <p:nvPr/>
        </p:nvPicPr>
        <p:blipFill>
          <a:blip r:embed="rId3">
            <a:alphaModFix/>
          </a:blip>
          <a:stretch>
            <a:fillRect/>
          </a:stretch>
        </p:blipFill>
        <p:spPr>
          <a:xfrm>
            <a:off x="152400" y="741870"/>
            <a:ext cx="11887200" cy="5102095"/>
          </a:xfrm>
          <a:prstGeom prst="rect">
            <a:avLst/>
          </a:prstGeom>
          <a:noFill/>
          <a:ln>
            <a:noFill/>
          </a:ln>
        </p:spPr>
      </p:pic>
      <p:sp>
        <p:nvSpPr>
          <p:cNvPr id="1142" name="Google Shape;1142;p147"/>
          <p:cNvSpPr/>
          <p:nvPr/>
        </p:nvSpPr>
        <p:spPr>
          <a:xfrm>
            <a:off x="5198025" y="3583675"/>
            <a:ext cx="1807800" cy="2901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148"/>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148" name="Google Shape;1148;p148"/>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pic>
        <p:nvPicPr>
          <p:cNvPr id="1149" name="Google Shape;1149;p148"/>
          <p:cNvPicPr preferRelativeResize="0"/>
          <p:nvPr/>
        </p:nvPicPr>
        <p:blipFill>
          <a:blip r:embed="rId3">
            <a:alphaModFix/>
          </a:blip>
          <a:stretch>
            <a:fillRect/>
          </a:stretch>
        </p:blipFill>
        <p:spPr>
          <a:xfrm>
            <a:off x="574475" y="872345"/>
            <a:ext cx="11043039" cy="5915708"/>
          </a:xfrm>
          <a:prstGeom prst="rect">
            <a:avLst/>
          </a:prstGeom>
          <a:noFill/>
          <a:ln>
            <a:noFill/>
          </a:ln>
        </p:spPr>
      </p:pic>
      <p:sp>
        <p:nvSpPr>
          <p:cNvPr id="1150" name="Google Shape;1150;p148"/>
          <p:cNvSpPr/>
          <p:nvPr/>
        </p:nvSpPr>
        <p:spPr>
          <a:xfrm>
            <a:off x="1457300" y="872350"/>
            <a:ext cx="4925100" cy="6849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149"/>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156" name="Google Shape;1156;p149"/>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pic>
        <p:nvPicPr>
          <p:cNvPr id="1157" name="Google Shape;1157;p149"/>
          <p:cNvPicPr preferRelativeResize="0"/>
          <p:nvPr/>
        </p:nvPicPr>
        <p:blipFill>
          <a:blip r:embed="rId3">
            <a:alphaModFix/>
          </a:blip>
          <a:stretch>
            <a:fillRect/>
          </a:stretch>
        </p:blipFill>
        <p:spPr>
          <a:xfrm>
            <a:off x="620688" y="973870"/>
            <a:ext cx="10950634" cy="5552354"/>
          </a:xfrm>
          <a:prstGeom prst="rect">
            <a:avLst/>
          </a:prstGeom>
          <a:noFill/>
          <a:ln>
            <a:noFill/>
          </a:ln>
        </p:spPr>
      </p:pic>
      <p:sp>
        <p:nvSpPr>
          <p:cNvPr id="1158" name="Google Shape;1158;p149"/>
          <p:cNvSpPr/>
          <p:nvPr/>
        </p:nvSpPr>
        <p:spPr>
          <a:xfrm>
            <a:off x="7590350" y="2876400"/>
            <a:ext cx="3910200" cy="1696500"/>
          </a:xfrm>
          <a:prstGeom prst="rect">
            <a:avLst/>
          </a:prstGeom>
          <a:solidFill>
            <a:srgbClr val="000000">
              <a:alpha val="0"/>
            </a:srgbClr>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150"/>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164" name="Google Shape;1164;p150"/>
          <p:cNvSpPr txBox="1"/>
          <p:nvPr>
            <p:ph type="title"/>
          </p:nvPr>
        </p:nvSpPr>
        <p:spPr>
          <a:xfrm>
            <a:off x="365726" y="1709664"/>
            <a:ext cx="11471700" cy="3609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Times New Roman"/>
              <a:buNone/>
            </a:pPr>
            <a:r>
              <a:rPr lang="en-US">
                <a:latin typeface="Times New Roman"/>
                <a:ea typeface="Times New Roman"/>
                <a:cs typeface="Times New Roman"/>
                <a:sym typeface="Times New Roman"/>
              </a:rPr>
              <a:t>Additional Services - Cloud Trail</a:t>
            </a:r>
            <a:endParaRPr>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p151"/>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170" name="Google Shape;1170;p151"/>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pic>
        <p:nvPicPr>
          <p:cNvPr id="1171" name="Google Shape;1171;p151"/>
          <p:cNvPicPr preferRelativeResize="0"/>
          <p:nvPr/>
        </p:nvPicPr>
        <p:blipFill>
          <a:blip r:embed="rId3">
            <a:alphaModFix/>
          </a:blip>
          <a:stretch>
            <a:fillRect/>
          </a:stretch>
        </p:blipFill>
        <p:spPr>
          <a:xfrm>
            <a:off x="152400" y="1089849"/>
            <a:ext cx="11887200" cy="3019150"/>
          </a:xfrm>
          <a:prstGeom prst="rect">
            <a:avLst/>
          </a:prstGeom>
          <a:noFill/>
          <a:ln>
            <a:noFill/>
          </a:ln>
        </p:spPr>
      </p:pic>
      <p:pic>
        <p:nvPicPr>
          <p:cNvPr id="1172" name="Google Shape;1172;p151"/>
          <p:cNvPicPr preferRelativeResize="0"/>
          <p:nvPr/>
        </p:nvPicPr>
        <p:blipFill>
          <a:blip r:embed="rId4">
            <a:alphaModFix/>
          </a:blip>
          <a:stretch>
            <a:fillRect/>
          </a:stretch>
        </p:blipFill>
        <p:spPr>
          <a:xfrm>
            <a:off x="152400" y="4217374"/>
            <a:ext cx="11195424" cy="2304254"/>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152"/>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178" name="Google Shape;1178;p152"/>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Key Features - Load Balanced</a:t>
            </a:r>
            <a:endParaRPr/>
          </a:p>
        </p:txBody>
      </p:sp>
      <p:pic>
        <p:nvPicPr>
          <p:cNvPr id="1179" name="Google Shape;1179;p152"/>
          <p:cNvPicPr preferRelativeResize="0"/>
          <p:nvPr/>
        </p:nvPicPr>
        <p:blipFill>
          <a:blip r:embed="rId3">
            <a:alphaModFix/>
          </a:blip>
          <a:stretch>
            <a:fillRect/>
          </a:stretch>
        </p:blipFill>
        <p:spPr>
          <a:xfrm>
            <a:off x="152400" y="997008"/>
            <a:ext cx="11887199" cy="4230186"/>
          </a:xfrm>
          <a:prstGeom prst="rect">
            <a:avLst/>
          </a:prstGeom>
          <a:noFill/>
          <a:ln>
            <a:noFill/>
          </a:ln>
        </p:spPr>
      </p:pic>
      <p:pic>
        <p:nvPicPr>
          <p:cNvPr id="1180" name="Google Shape;1180;p152"/>
          <p:cNvPicPr preferRelativeResize="0"/>
          <p:nvPr/>
        </p:nvPicPr>
        <p:blipFill>
          <a:blip r:embed="rId4">
            <a:alphaModFix/>
          </a:blip>
          <a:stretch>
            <a:fillRect/>
          </a:stretch>
        </p:blipFill>
        <p:spPr>
          <a:xfrm>
            <a:off x="3025" y="5227196"/>
            <a:ext cx="12192002" cy="1422508"/>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sp>
        <p:nvSpPr>
          <p:cNvPr id="1185" name="Google Shape;1185;p153"/>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186" name="Google Shape;1186;p153"/>
          <p:cNvSpPr txBox="1"/>
          <p:nvPr>
            <p:ph type="title"/>
          </p:nvPr>
        </p:nvSpPr>
        <p:spPr>
          <a:xfrm>
            <a:off x="365726" y="1709664"/>
            <a:ext cx="11471700" cy="3609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Times New Roman"/>
              <a:buNone/>
            </a:pPr>
            <a:r>
              <a:rPr lang="en-US">
                <a:latin typeface="Times New Roman"/>
                <a:ea typeface="Times New Roman"/>
                <a:cs typeface="Times New Roman"/>
                <a:sym typeface="Times New Roman"/>
              </a:rPr>
              <a:t>Conclusion</a:t>
            </a:r>
            <a:endParaRPr>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p154"/>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192" name="Google Shape;1192;p154"/>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Conclusion</a:t>
            </a:r>
            <a:endParaRPr/>
          </a:p>
        </p:txBody>
      </p:sp>
      <p:sp>
        <p:nvSpPr>
          <p:cNvPr id="1193" name="Google Shape;1193;p154"/>
          <p:cNvSpPr/>
          <p:nvPr/>
        </p:nvSpPr>
        <p:spPr>
          <a:xfrm>
            <a:off x="365725" y="985175"/>
            <a:ext cx="11829300" cy="5051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2000">
                <a:solidFill>
                  <a:schemeClr val="dk1"/>
                </a:solidFill>
              </a:rPr>
              <a:t>Challenges &amp; solutions</a:t>
            </a:r>
            <a:endParaRPr b="1" sz="2000">
              <a:solidFill>
                <a:schemeClr val="dk1"/>
              </a:solidFill>
            </a:endParaRPr>
          </a:p>
          <a:p>
            <a:pPr indent="-355600" lvl="0" marL="457200" rtl="0" algn="l">
              <a:lnSpc>
                <a:spcPct val="115000"/>
              </a:lnSpc>
              <a:spcBef>
                <a:spcPts val="1200"/>
              </a:spcBef>
              <a:spcAft>
                <a:spcPts val="0"/>
              </a:spcAft>
              <a:buClr>
                <a:schemeClr val="dk1"/>
              </a:buClr>
              <a:buSzPts val="2000"/>
              <a:buChar char="●"/>
            </a:pPr>
            <a:r>
              <a:rPr lang="en-US" sz="2000">
                <a:solidFill>
                  <a:schemeClr val="dk1"/>
                </a:solidFill>
              </a:rPr>
              <a:t>Learner Lab IAM restrictions blocked certain services (CloudFront, SES) — tested cheaply first, pivoted to alternatives (Gmail SMTP)</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PHP sessions broke across multiple EC2 instances behind the ALB — solved with a database-backed session handler</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New ASG instances launched with outdated configuration — solved by moving setup logic into Launch Template User Data</a:t>
            </a:r>
            <a:endParaRPr sz="2000">
              <a:solidFill>
                <a:schemeClr val="dk1"/>
              </a:solidFill>
            </a:endParaRPr>
          </a:p>
          <a:p>
            <a:pPr indent="0" lvl="0" marL="0" rtl="0" algn="l">
              <a:lnSpc>
                <a:spcPct val="115000"/>
              </a:lnSpc>
              <a:spcBef>
                <a:spcPts val="1200"/>
              </a:spcBef>
              <a:spcAft>
                <a:spcPts val="0"/>
              </a:spcAft>
              <a:buNone/>
            </a:pPr>
            <a:r>
              <a:t/>
            </a:r>
            <a:endParaRPr sz="2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2000">
                <a:solidFill>
                  <a:schemeClr val="dk1"/>
                </a:solidFill>
              </a:rPr>
              <a:t>AWS resources used</a:t>
            </a:r>
            <a:endParaRPr b="1" sz="2000">
              <a:solidFill>
                <a:schemeClr val="dk1"/>
              </a:solidFill>
            </a:endParaRPr>
          </a:p>
          <a:p>
            <a:pPr indent="-355600" lvl="0" marL="457200" rtl="0" algn="l">
              <a:lnSpc>
                <a:spcPct val="115000"/>
              </a:lnSpc>
              <a:spcBef>
                <a:spcPts val="1200"/>
              </a:spcBef>
              <a:spcAft>
                <a:spcPts val="0"/>
              </a:spcAft>
              <a:buClr>
                <a:schemeClr val="dk1"/>
              </a:buClr>
              <a:buSzPts val="2000"/>
              <a:buChar char="●"/>
            </a:pPr>
            <a:r>
              <a:rPr lang="en-US" sz="2000">
                <a:solidFill>
                  <a:schemeClr val="dk1"/>
                </a:solidFill>
              </a:rPr>
              <a:t>AWS Systems Manager (Parameter Store) documentation</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AWS WAF Managed Rule Groups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AWS Pricing Calculator</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AWS Academy Learner Lab service-restriction notes</a:t>
            </a:r>
            <a:endParaRPr sz="2000">
              <a:solidFill>
                <a:schemeClr val="dk1"/>
              </a:solidFill>
            </a:endParaRPr>
          </a:p>
          <a:p>
            <a:pPr indent="0" lvl="0" marL="0" rtl="0" algn="l">
              <a:lnSpc>
                <a:spcPct val="115000"/>
              </a:lnSpc>
              <a:spcBef>
                <a:spcPts val="1200"/>
              </a:spcBef>
              <a:spcAft>
                <a:spcPts val="1200"/>
              </a:spcAft>
              <a:buNone/>
            </a:pPr>
            <a:r>
              <a:t/>
            </a:r>
            <a:endParaRPr sz="2000">
              <a:solidFill>
                <a:schemeClr val="dk1"/>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155"/>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199" name="Google Shape;1199;p155"/>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Conclusion</a:t>
            </a:r>
            <a:endParaRPr/>
          </a:p>
        </p:txBody>
      </p:sp>
      <p:sp>
        <p:nvSpPr>
          <p:cNvPr id="1200" name="Google Shape;1200;p155"/>
          <p:cNvSpPr/>
          <p:nvPr/>
        </p:nvSpPr>
        <p:spPr>
          <a:xfrm>
            <a:off x="362702" y="997287"/>
            <a:ext cx="11466600" cy="5330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US" sz="2000">
                <a:solidFill>
                  <a:schemeClr val="dk1"/>
                </a:solidFill>
              </a:rPr>
              <a:t>New skills gained</a:t>
            </a:r>
            <a:endParaRPr b="1" sz="2000">
              <a:solidFill>
                <a:schemeClr val="dk1"/>
              </a:solidFill>
            </a:endParaRPr>
          </a:p>
          <a:p>
            <a:pPr indent="-355600" lvl="0" marL="457200" rtl="0" algn="l">
              <a:lnSpc>
                <a:spcPct val="115000"/>
              </a:lnSpc>
              <a:spcBef>
                <a:spcPts val="1200"/>
              </a:spcBef>
              <a:spcAft>
                <a:spcPts val="0"/>
              </a:spcAft>
              <a:buClr>
                <a:schemeClr val="dk1"/>
              </a:buClr>
              <a:buSzPts val="2000"/>
              <a:buChar char="●"/>
            </a:pPr>
            <a:r>
              <a:rPr lang="en-US" sz="2000">
                <a:solidFill>
                  <a:schemeClr val="dk1"/>
                </a:solidFill>
              </a:rPr>
              <a:t>Auto Scaling Group configuration with Launch Templates &amp; User Data bootstrapping</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IAM least-privilege Security Group design</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Serverless event-driven architecture (SNS + Lambda)</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Load testing methodology (Apache Bench)</a:t>
            </a:r>
            <a:endParaRPr sz="2000">
              <a:solidFill>
                <a:schemeClr val="dk1"/>
              </a:solidFill>
            </a:endParaRPr>
          </a:p>
          <a:p>
            <a:pPr indent="0" lvl="0" marL="0" rtl="0" algn="l">
              <a:lnSpc>
                <a:spcPct val="115000"/>
              </a:lnSpc>
              <a:spcBef>
                <a:spcPts val="1200"/>
              </a:spcBef>
              <a:spcAft>
                <a:spcPts val="0"/>
              </a:spcAft>
              <a:buNone/>
            </a:pPr>
            <a:r>
              <a:t/>
            </a:r>
            <a:endParaRPr sz="2000">
              <a:solidFill>
                <a:schemeClr val="dk1"/>
              </a:solidFill>
            </a:endParaRPr>
          </a:p>
          <a:p>
            <a:pPr indent="0" lvl="0" marL="0" rtl="0" algn="l">
              <a:lnSpc>
                <a:spcPct val="115000"/>
              </a:lnSpc>
              <a:spcBef>
                <a:spcPts val="1200"/>
              </a:spcBef>
              <a:spcAft>
                <a:spcPts val="0"/>
              </a:spcAft>
              <a:buNone/>
            </a:pPr>
            <a:r>
              <a:rPr b="1" lang="en-US" sz="2000">
                <a:solidFill>
                  <a:schemeClr val="dk1"/>
                </a:solidFill>
              </a:rPr>
              <a:t>Future plan</a:t>
            </a:r>
            <a:endParaRPr b="1" sz="2000">
              <a:solidFill>
                <a:schemeClr val="dk1"/>
              </a:solidFill>
            </a:endParaRPr>
          </a:p>
          <a:p>
            <a:pPr indent="-355600" lvl="0" marL="457200" rtl="0" algn="l">
              <a:lnSpc>
                <a:spcPct val="115000"/>
              </a:lnSpc>
              <a:spcBef>
                <a:spcPts val="1200"/>
              </a:spcBef>
              <a:spcAft>
                <a:spcPts val="0"/>
              </a:spcAft>
              <a:buClr>
                <a:schemeClr val="dk1"/>
              </a:buClr>
              <a:buSzPts val="2000"/>
              <a:buChar char="●"/>
            </a:pPr>
            <a:r>
              <a:rPr lang="en-US" sz="2000">
                <a:solidFill>
                  <a:schemeClr val="dk1"/>
                </a:solidFill>
              </a:rPr>
              <a:t>Migrate to HTTPS with a custom domain + ACM certificate</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Automate deployment via S3 + Instance Refresh (CI/CD-style)</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Move email confirmation to Amazon SES once verified for production</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Explore VPC Endpoints to remove NAT Gateway dependency</a:t>
            </a:r>
            <a:endParaRPr sz="2000">
              <a:solidFill>
                <a:schemeClr val="dk1"/>
              </a:solidFill>
            </a:endParaRPr>
          </a:p>
          <a:p>
            <a:pPr indent="0" lvl="0" marL="0" marR="0" rtl="0" algn="l">
              <a:lnSpc>
                <a:spcPct val="90000"/>
              </a:lnSpc>
              <a:spcBef>
                <a:spcPts val="1200"/>
              </a:spcBef>
              <a:spcAft>
                <a:spcPts val="0"/>
              </a:spcAft>
              <a:buNone/>
            </a:pPr>
            <a:r>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156"/>
          <p:cNvSpPr txBox="1"/>
          <p:nvPr>
            <p:ph idx="12" type="sldNum"/>
          </p:nvPr>
        </p:nvSpPr>
        <p:spPr>
          <a:xfrm>
            <a:off x="11347836" y="6446622"/>
            <a:ext cx="484707" cy="228091"/>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206" name="Google Shape;1206;p156"/>
          <p:cNvSpPr txBox="1"/>
          <p:nvPr>
            <p:ph type="title"/>
          </p:nvPr>
        </p:nvSpPr>
        <p:spPr>
          <a:xfrm>
            <a:off x="365726" y="1709664"/>
            <a:ext cx="11471749" cy="360974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Times New Roman"/>
              <a:buNone/>
            </a:pPr>
            <a:r>
              <a:rPr lang="en-US">
                <a:latin typeface="Times New Roman"/>
                <a:ea typeface="Times New Roman"/>
                <a:cs typeface="Times New Roman"/>
                <a:sym typeface="Times New Roman"/>
              </a:rPr>
              <a:t>References</a:t>
            </a:r>
            <a:endParaRPr>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157"/>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212" name="Google Shape;1212;p157"/>
          <p:cNvSpPr txBox="1"/>
          <p:nvPr>
            <p:ph type="title"/>
          </p:nvPr>
        </p:nvSpPr>
        <p:spPr>
          <a:xfrm>
            <a:off x="365726" y="1709664"/>
            <a:ext cx="11471700" cy="3609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Times New Roman"/>
              <a:buNone/>
            </a:pPr>
            <a:r>
              <a:rPr lang="en-US">
                <a:latin typeface="Times New Roman"/>
                <a:ea typeface="Times New Roman"/>
                <a:cs typeface="Times New Roman"/>
                <a:sym typeface="Times New Roman"/>
              </a:rPr>
              <a:t>References - </a:t>
            </a:r>
            <a:r>
              <a:rPr lang="en-US">
                <a:latin typeface="Times New Roman"/>
                <a:ea typeface="Times New Roman"/>
                <a:cs typeface="Times New Roman"/>
                <a:sym typeface="Times New Roman"/>
              </a:rPr>
              <a:t>Official Cloud &amp; Service Documentation</a:t>
            </a:r>
            <a:endParaRPr>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158"/>
          <p:cNvSpPr txBox="1"/>
          <p:nvPr>
            <p:ph idx="12" type="sldNum"/>
          </p:nvPr>
        </p:nvSpPr>
        <p:spPr>
          <a:xfrm>
            <a:off x="11347836" y="6446622"/>
            <a:ext cx="484707" cy="228091"/>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218" name="Google Shape;1218;p158"/>
          <p:cNvSpPr txBox="1"/>
          <p:nvPr>
            <p:ph type="title"/>
          </p:nvPr>
        </p:nvSpPr>
        <p:spPr>
          <a:xfrm>
            <a:off x="365727" y="299370"/>
            <a:ext cx="11466657" cy="29020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References</a:t>
            </a:r>
            <a:endParaRPr/>
          </a:p>
        </p:txBody>
      </p:sp>
      <p:sp>
        <p:nvSpPr>
          <p:cNvPr id="1219" name="Google Shape;1219;p158"/>
          <p:cNvSpPr/>
          <p:nvPr/>
        </p:nvSpPr>
        <p:spPr>
          <a:xfrm>
            <a:off x="235227" y="852800"/>
            <a:ext cx="11466600" cy="5330700"/>
          </a:xfrm>
          <a:prstGeom prst="rect">
            <a:avLst/>
          </a:prstGeom>
          <a:noFill/>
          <a:ln>
            <a:noFill/>
          </a:ln>
        </p:spPr>
        <p:txBody>
          <a:bodyPr anchorCtr="0" anchor="t" bIns="45700" lIns="91425" spcFirstLastPara="1" rIns="91425" wrap="square" tIns="45700">
            <a:noAutofit/>
          </a:bodyPr>
          <a:lstStyle/>
          <a:p>
            <a:pPr indent="-114554" lvl="0" marL="228600" marR="0" rtl="0" algn="l">
              <a:lnSpc>
                <a:spcPct val="90000"/>
              </a:lnSpc>
              <a:spcBef>
                <a:spcPts val="0"/>
              </a:spcBef>
              <a:spcAft>
                <a:spcPts val="0"/>
              </a:spcAft>
              <a:buClr>
                <a:schemeClr val="dk1"/>
              </a:buClr>
              <a:buSzPts val="1796"/>
              <a:buFont typeface="Arial"/>
              <a:buNone/>
            </a:pPr>
            <a:r>
              <a:t/>
            </a:r>
            <a:endParaRPr b="0" i="0" sz="1796" u="none" cap="none" strike="noStrike">
              <a:solidFill>
                <a:schemeClr val="dk1"/>
              </a:solidFill>
              <a:latin typeface="Calibri"/>
              <a:ea typeface="Calibri"/>
              <a:cs typeface="Calibri"/>
              <a:sym typeface="Calibri"/>
            </a:endParaRPr>
          </a:p>
        </p:txBody>
      </p:sp>
      <p:sp>
        <p:nvSpPr>
          <p:cNvPr id="1220" name="Google Shape;1220;p158"/>
          <p:cNvSpPr txBox="1"/>
          <p:nvPr/>
        </p:nvSpPr>
        <p:spPr>
          <a:xfrm>
            <a:off x="365725" y="980000"/>
            <a:ext cx="10019400" cy="507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800">
                <a:solidFill>
                  <a:schemeClr val="dk1"/>
                </a:solidFill>
              </a:rPr>
              <a:t>AWS Official Documentation:</a:t>
            </a:r>
            <a:endParaRPr b="1" sz="1800">
              <a:solidFill>
                <a:schemeClr val="dk1"/>
              </a:solidFill>
            </a:endParaRPr>
          </a:p>
          <a:p>
            <a:pPr indent="-342900" lvl="1" marL="914400" rtl="0" algn="l">
              <a:lnSpc>
                <a:spcPct val="115000"/>
              </a:lnSpc>
              <a:spcBef>
                <a:spcPts val="1200"/>
              </a:spcBef>
              <a:spcAft>
                <a:spcPts val="0"/>
              </a:spcAft>
              <a:buClr>
                <a:schemeClr val="dk1"/>
              </a:buClr>
              <a:buSzPts val="1800"/>
              <a:buChar char="○"/>
            </a:pPr>
            <a:r>
              <a:rPr lang="en-US" sz="1800">
                <a:solidFill>
                  <a:schemeClr val="dk1"/>
                </a:solidFill>
              </a:rPr>
              <a:t>Amazon Web Services. (2024). </a:t>
            </a:r>
            <a:r>
              <a:rPr i="1" lang="en-US" sz="1800">
                <a:solidFill>
                  <a:schemeClr val="dk1"/>
                </a:solidFill>
              </a:rPr>
              <a:t>Amazon Elastic Compute Cloud (EC2) User Guide</a:t>
            </a:r>
            <a:r>
              <a:rPr lang="en-US" sz="1800">
                <a:solidFill>
                  <a:schemeClr val="dk1"/>
                </a:solidFill>
              </a:rPr>
              <a:t>. AWS Documentation.</a:t>
            </a:r>
            <a:r>
              <a:rPr lang="en-US" sz="1800">
                <a:solidFill>
                  <a:schemeClr val="dk1"/>
                </a:solidFill>
                <a:uFill>
                  <a:noFill/>
                </a:uFill>
                <a:hlinkClick r:id="rId3">
                  <a:extLst>
                    <a:ext uri="{A12FA001-AC4F-418D-AE19-62706E023703}">
                      <ahyp:hlinkClr val="tx"/>
                    </a:ext>
                  </a:extLst>
                </a:hlinkClick>
              </a:rPr>
              <a:t> </a:t>
            </a:r>
            <a:r>
              <a:rPr lang="en-US" sz="1800" u="sng">
                <a:solidFill>
                  <a:schemeClr val="hlink"/>
                </a:solidFill>
                <a:hlinkClick r:id="rId4"/>
              </a:rPr>
              <a:t>https://docs.aws.amazon.com/ec2/</a:t>
            </a:r>
            <a:endParaRPr sz="1800" u="sng">
              <a:solidFill>
                <a:schemeClr val="hlink"/>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Amazon Web Services. (2024). </a:t>
            </a:r>
            <a:r>
              <a:rPr i="1" lang="en-US" sz="1800">
                <a:solidFill>
                  <a:schemeClr val="dk1"/>
                </a:solidFill>
              </a:rPr>
              <a:t>Application Load Balancer Documentation</a:t>
            </a:r>
            <a:r>
              <a:rPr lang="en-US" sz="1800">
                <a:solidFill>
                  <a:schemeClr val="dk1"/>
                </a:solidFill>
              </a:rPr>
              <a:t>. AWS Documentation.</a:t>
            </a:r>
            <a:r>
              <a:rPr lang="en-US" sz="1800">
                <a:solidFill>
                  <a:schemeClr val="dk1"/>
                </a:solidFill>
                <a:uFill>
                  <a:noFill/>
                </a:uFill>
                <a:hlinkClick r:id="rId5">
                  <a:extLst>
                    <a:ext uri="{A12FA001-AC4F-418D-AE19-62706E023703}">
                      <ahyp:hlinkClr val="tx"/>
                    </a:ext>
                  </a:extLst>
                </a:hlinkClick>
              </a:rPr>
              <a:t> </a:t>
            </a:r>
            <a:r>
              <a:rPr lang="en-US" sz="1800" u="sng">
                <a:solidFill>
                  <a:schemeClr val="hlink"/>
                </a:solidFill>
                <a:hlinkClick r:id="rId6"/>
              </a:rPr>
              <a:t>https://docs.aws.amazon.com/alb/</a:t>
            </a:r>
            <a:endParaRPr sz="1800" u="sng">
              <a:solidFill>
                <a:schemeClr val="hlink"/>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Amazon Web Services. (2024). </a:t>
            </a:r>
            <a:r>
              <a:rPr i="1" lang="en-US" sz="1800">
                <a:solidFill>
                  <a:schemeClr val="dk1"/>
                </a:solidFill>
              </a:rPr>
              <a:t>Amazon Aurora &amp; RDS User Guide</a:t>
            </a:r>
            <a:r>
              <a:rPr lang="en-US" sz="1800">
                <a:solidFill>
                  <a:schemeClr val="dk1"/>
                </a:solidFill>
              </a:rPr>
              <a:t>. AWS Documentation.</a:t>
            </a:r>
            <a:r>
              <a:rPr lang="en-US" sz="1800">
                <a:solidFill>
                  <a:schemeClr val="dk1"/>
                </a:solidFill>
                <a:uFill>
                  <a:noFill/>
                </a:uFill>
                <a:hlinkClick r:id="rId7">
                  <a:extLst>
                    <a:ext uri="{A12FA001-AC4F-418D-AE19-62706E023703}">
                      <ahyp:hlinkClr val="tx"/>
                    </a:ext>
                  </a:extLst>
                </a:hlinkClick>
              </a:rPr>
              <a:t> </a:t>
            </a:r>
            <a:r>
              <a:rPr lang="en-US" sz="1800" u="sng">
                <a:solidFill>
                  <a:schemeClr val="hlink"/>
                </a:solidFill>
                <a:hlinkClick r:id="rId8"/>
              </a:rPr>
              <a:t>https://docs.aws.amazon.com/rds/</a:t>
            </a:r>
            <a:endParaRPr sz="1800" u="sng">
              <a:solidFill>
                <a:schemeClr val="hlink"/>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Amazon Web Services. (2024). </a:t>
            </a:r>
            <a:r>
              <a:rPr i="1" lang="en-US" sz="1800">
                <a:solidFill>
                  <a:schemeClr val="dk1"/>
                </a:solidFill>
              </a:rPr>
              <a:t>Auto Scaling Groups User Guide</a:t>
            </a:r>
            <a:r>
              <a:rPr lang="en-US" sz="1800">
                <a:solidFill>
                  <a:schemeClr val="dk1"/>
                </a:solidFill>
              </a:rPr>
              <a:t>. AWS Documentation.</a:t>
            </a:r>
            <a:r>
              <a:rPr lang="en-US" sz="1800">
                <a:solidFill>
                  <a:schemeClr val="dk1"/>
                </a:solidFill>
                <a:uFill>
                  <a:noFill/>
                </a:uFill>
                <a:hlinkClick r:id="rId9">
                  <a:extLst>
                    <a:ext uri="{A12FA001-AC4F-418D-AE19-62706E023703}">
                      <ahyp:hlinkClr val="tx"/>
                    </a:ext>
                  </a:extLst>
                </a:hlinkClick>
              </a:rPr>
              <a:t> </a:t>
            </a:r>
            <a:r>
              <a:rPr lang="en-US" sz="1800" u="sng">
                <a:solidFill>
                  <a:schemeClr val="hlink"/>
                </a:solidFill>
                <a:hlinkClick r:id="rId10"/>
              </a:rPr>
              <a:t>https://docs.aws.amazon.com/autoscaling/</a:t>
            </a:r>
            <a:endParaRPr sz="1800" u="sng">
              <a:solidFill>
                <a:schemeClr val="hlink"/>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Amazon Web Services. (2024). </a:t>
            </a:r>
            <a:r>
              <a:rPr i="1" lang="en-US" sz="1800">
                <a:solidFill>
                  <a:schemeClr val="dk1"/>
                </a:solidFill>
              </a:rPr>
              <a:t>AWS Systems Manager Parameter Store User Guide</a:t>
            </a:r>
            <a:r>
              <a:rPr lang="en-US" sz="1800">
                <a:solidFill>
                  <a:schemeClr val="dk1"/>
                </a:solidFill>
              </a:rPr>
              <a:t>. AWS Documentation.</a:t>
            </a:r>
            <a:r>
              <a:rPr lang="en-US" sz="1800">
                <a:solidFill>
                  <a:schemeClr val="dk1"/>
                </a:solidFill>
                <a:uFill>
                  <a:noFill/>
                </a:uFill>
                <a:hlinkClick r:id="rId11">
                  <a:extLst>
                    <a:ext uri="{A12FA001-AC4F-418D-AE19-62706E023703}">
                      <ahyp:hlinkClr val="tx"/>
                    </a:ext>
                  </a:extLst>
                </a:hlinkClick>
              </a:rPr>
              <a:t> </a:t>
            </a:r>
            <a:r>
              <a:rPr lang="en-US" sz="1800" u="sng">
                <a:solidFill>
                  <a:schemeClr val="hlink"/>
                </a:solidFill>
                <a:hlinkClick r:id="rId12"/>
              </a:rPr>
              <a:t>https://docs.aws.amazon.com/systems-manager/latest/userguide/systems-manager-parameter-store.html</a:t>
            </a:r>
            <a:endParaRPr sz="1800" u="sng">
              <a:solidFill>
                <a:schemeClr val="hlink"/>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Amazon Web Services. (2024). </a:t>
            </a:r>
            <a:r>
              <a:rPr i="1" lang="en-US" sz="1800">
                <a:solidFill>
                  <a:schemeClr val="dk1"/>
                </a:solidFill>
              </a:rPr>
              <a:t>AWS WAF, AWS Shield, and AWS Firewall Manager Developer Guide</a:t>
            </a:r>
            <a:r>
              <a:rPr lang="en-US" sz="1800">
                <a:solidFill>
                  <a:schemeClr val="dk1"/>
                </a:solidFill>
              </a:rPr>
              <a:t>. AWS Documentation.</a:t>
            </a:r>
            <a:r>
              <a:rPr lang="en-US" sz="1800">
                <a:solidFill>
                  <a:schemeClr val="dk1"/>
                </a:solidFill>
                <a:uFill>
                  <a:noFill/>
                </a:uFill>
                <a:hlinkClick r:id="rId13">
                  <a:extLst>
                    <a:ext uri="{A12FA001-AC4F-418D-AE19-62706E023703}">
                      <ahyp:hlinkClr val="tx"/>
                    </a:ext>
                  </a:extLst>
                </a:hlinkClick>
              </a:rPr>
              <a:t> </a:t>
            </a:r>
            <a:r>
              <a:rPr lang="en-US" sz="1800" u="sng">
                <a:solidFill>
                  <a:schemeClr val="hlink"/>
                </a:solidFill>
                <a:hlinkClick r:id="rId14"/>
              </a:rPr>
              <a:t>https://docs.aws.amazon.com/waf/</a:t>
            </a:r>
            <a:endParaRPr sz="1800" u="sng">
              <a:solidFill>
                <a:schemeClr val="hlink"/>
              </a:solidFill>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sp>
        <p:nvSpPr>
          <p:cNvPr id="1225" name="Google Shape;1225;p159"/>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226" name="Google Shape;1226;p159"/>
          <p:cNvSpPr txBox="1"/>
          <p:nvPr>
            <p:ph type="title"/>
          </p:nvPr>
        </p:nvSpPr>
        <p:spPr>
          <a:xfrm>
            <a:off x="365726" y="1709664"/>
            <a:ext cx="11471700" cy="3609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Times New Roman"/>
              <a:buNone/>
            </a:pPr>
            <a:r>
              <a:rPr lang="en-US">
                <a:latin typeface="Times New Roman"/>
                <a:ea typeface="Times New Roman"/>
                <a:cs typeface="Times New Roman"/>
                <a:sym typeface="Times New Roman"/>
              </a:rPr>
              <a:t>References - </a:t>
            </a:r>
            <a:r>
              <a:rPr lang="en-US">
                <a:latin typeface="Times New Roman"/>
                <a:ea typeface="Times New Roman"/>
                <a:cs typeface="Times New Roman"/>
                <a:sym typeface="Times New Roman"/>
              </a:rPr>
              <a:t>Tools, Web Technologies &amp; Open Source Libraries</a:t>
            </a:r>
            <a:endParaRPr>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160"/>
          <p:cNvSpPr txBox="1"/>
          <p:nvPr>
            <p:ph idx="12" type="sldNum"/>
          </p:nvPr>
        </p:nvSpPr>
        <p:spPr>
          <a:xfrm>
            <a:off x="11347836" y="6446622"/>
            <a:ext cx="484800" cy="228000"/>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232" name="Google Shape;1232;p160"/>
          <p:cNvSpPr txBox="1"/>
          <p:nvPr>
            <p:ph type="title"/>
          </p:nvPr>
        </p:nvSpPr>
        <p:spPr>
          <a:xfrm>
            <a:off x="365727" y="299370"/>
            <a:ext cx="11466600" cy="29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1600"/>
              <a:buFont typeface="Times New Roman"/>
              <a:buNone/>
            </a:pPr>
            <a:r>
              <a:rPr lang="en-US">
                <a:latin typeface="Times New Roman"/>
                <a:ea typeface="Times New Roman"/>
                <a:cs typeface="Times New Roman"/>
                <a:sym typeface="Times New Roman"/>
              </a:rPr>
              <a:t>References</a:t>
            </a:r>
            <a:endParaRPr/>
          </a:p>
        </p:txBody>
      </p:sp>
      <p:sp>
        <p:nvSpPr>
          <p:cNvPr id="1233" name="Google Shape;1233;p160"/>
          <p:cNvSpPr/>
          <p:nvPr/>
        </p:nvSpPr>
        <p:spPr>
          <a:xfrm>
            <a:off x="654750" y="1283325"/>
            <a:ext cx="10882500" cy="4637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b="1" lang="en-US" sz="1800">
                <a:solidFill>
                  <a:schemeClr val="dk1"/>
                </a:solidFill>
              </a:rPr>
              <a:t>Performance Testing &amp; Benchmarking:</a:t>
            </a:r>
            <a:endParaRPr b="1"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US" sz="1800">
                <a:solidFill>
                  <a:schemeClr val="dk1"/>
                </a:solidFill>
              </a:rPr>
              <a:t>Apache Software Foundation. (2024). </a:t>
            </a:r>
            <a:r>
              <a:rPr i="1" lang="en-US" sz="1800">
                <a:solidFill>
                  <a:schemeClr val="dk1"/>
                </a:solidFill>
              </a:rPr>
              <a:t>ab - Apache HTTP server benchmarking tool</a:t>
            </a:r>
            <a:r>
              <a:rPr lang="en-US" sz="1800">
                <a:solidFill>
                  <a:schemeClr val="dk1"/>
                </a:solidFill>
              </a:rPr>
              <a:t>. Apache HTTP Server Documentation.</a:t>
            </a:r>
            <a:r>
              <a:rPr lang="en-US" sz="1800">
                <a:solidFill>
                  <a:schemeClr val="dk1"/>
                </a:solidFill>
                <a:uFill>
                  <a:noFill/>
                </a:uFill>
                <a:hlinkClick r:id="rId3">
                  <a:extLst>
                    <a:ext uri="{A12FA001-AC4F-418D-AE19-62706E023703}">
                      <ahyp:hlinkClr val="tx"/>
                    </a:ext>
                  </a:extLst>
                </a:hlinkClick>
              </a:rPr>
              <a:t> </a:t>
            </a:r>
            <a:r>
              <a:rPr lang="en-US" sz="1800" u="sng">
                <a:solidFill>
                  <a:schemeClr val="hlink"/>
                </a:solidFill>
                <a:hlinkClick r:id="rId4"/>
              </a:rPr>
              <a:t>https://httpd.apache.org/docs/2.4/programs/ab.html</a:t>
            </a:r>
            <a:endParaRPr sz="1800" u="sng">
              <a:solidFill>
                <a:schemeClr val="hlink"/>
              </a:solidFill>
            </a:endParaRPr>
          </a:p>
          <a:p>
            <a:pPr indent="0" lvl="0" marL="0" rtl="0" algn="l">
              <a:lnSpc>
                <a:spcPct val="115000"/>
              </a:lnSpc>
              <a:spcBef>
                <a:spcPts val="1200"/>
              </a:spcBef>
              <a:spcAft>
                <a:spcPts val="0"/>
              </a:spcAft>
              <a:buClr>
                <a:schemeClr val="dk1"/>
              </a:buClr>
              <a:buSzPts val="1100"/>
              <a:buFont typeface="Arial"/>
              <a:buNone/>
            </a:pPr>
            <a:r>
              <a:rPr b="1" lang="en-US" sz="1800">
                <a:solidFill>
                  <a:schemeClr val="dk1"/>
                </a:solidFill>
              </a:rPr>
              <a:t>Core Application Stack &amp; Languages:</a:t>
            </a:r>
            <a:endParaRPr b="1"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US" sz="1800">
                <a:solidFill>
                  <a:schemeClr val="dk1"/>
                </a:solidFill>
              </a:rPr>
              <a:t>PHP Documentation Group. (2024). </a:t>
            </a:r>
            <a:r>
              <a:rPr i="1" lang="en-US" sz="1800">
                <a:solidFill>
                  <a:schemeClr val="dk1"/>
                </a:solidFill>
              </a:rPr>
              <a:t>PHP: Hypertext Preprocessor Documentation</a:t>
            </a:r>
            <a:r>
              <a:rPr lang="en-US" sz="1800">
                <a:solidFill>
                  <a:schemeClr val="dk1"/>
                </a:solidFill>
              </a:rPr>
              <a:t>. PHP.net.</a:t>
            </a:r>
            <a:r>
              <a:rPr lang="en-US" sz="1800">
                <a:solidFill>
                  <a:schemeClr val="dk1"/>
                </a:solidFill>
                <a:uFill>
                  <a:noFill/>
                </a:uFill>
                <a:hlinkClick r:id="rId5">
                  <a:extLst>
                    <a:ext uri="{A12FA001-AC4F-418D-AE19-62706E023703}">
                      <ahyp:hlinkClr val="tx"/>
                    </a:ext>
                  </a:extLst>
                </a:hlinkClick>
              </a:rPr>
              <a:t> </a:t>
            </a:r>
            <a:r>
              <a:rPr lang="en-US" sz="1800" u="sng">
                <a:solidFill>
                  <a:schemeClr val="hlink"/>
                </a:solidFill>
                <a:hlinkClick r:id="rId6"/>
              </a:rPr>
              <a:t>https://www.php.net/docs.php</a:t>
            </a:r>
            <a:endParaRPr sz="1800" u="sng">
              <a:solidFill>
                <a:schemeClr val="hlink"/>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The MySQL Team. (2024). </a:t>
            </a:r>
            <a:r>
              <a:rPr i="1" lang="en-US" sz="1800">
                <a:solidFill>
                  <a:schemeClr val="dk1"/>
                </a:solidFill>
              </a:rPr>
              <a:t>MySQL 8.0 Reference Manual</a:t>
            </a:r>
            <a:r>
              <a:rPr lang="en-US" sz="1800">
                <a:solidFill>
                  <a:schemeClr val="dk1"/>
                </a:solidFill>
              </a:rPr>
              <a:t>. Oracle Corporation.</a:t>
            </a:r>
            <a:r>
              <a:rPr lang="en-US" sz="1800">
                <a:solidFill>
                  <a:schemeClr val="dk1"/>
                </a:solidFill>
                <a:uFill>
                  <a:noFill/>
                </a:uFill>
                <a:hlinkClick r:id="rId7">
                  <a:extLst>
                    <a:ext uri="{A12FA001-AC4F-418D-AE19-62706E023703}">
                      <ahyp:hlinkClr val="tx"/>
                    </a:ext>
                  </a:extLst>
                </a:hlinkClick>
              </a:rPr>
              <a:t> </a:t>
            </a:r>
            <a:r>
              <a:rPr lang="en-US" sz="1800" u="sng">
                <a:solidFill>
                  <a:schemeClr val="hlink"/>
                </a:solidFill>
                <a:hlinkClick r:id="rId8"/>
              </a:rPr>
              <a:t>https://dev.mysql.com/doc/refman/8.0/en/</a:t>
            </a:r>
            <a:endParaRPr sz="1800" u="sng">
              <a:solidFill>
                <a:schemeClr val="hlink"/>
              </a:solidFill>
            </a:endParaRPr>
          </a:p>
          <a:p>
            <a:pPr indent="0" lvl="0" marL="0" rtl="0" algn="l">
              <a:lnSpc>
                <a:spcPct val="115000"/>
              </a:lnSpc>
              <a:spcBef>
                <a:spcPts val="1200"/>
              </a:spcBef>
              <a:spcAft>
                <a:spcPts val="0"/>
              </a:spcAft>
              <a:buClr>
                <a:schemeClr val="dk1"/>
              </a:buClr>
              <a:buSzPts val="1100"/>
              <a:buFont typeface="Arial"/>
              <a:buNone/>
            </a:pPr>
            <a:r>
              <a:rPr b="1" lang="en-US" sz="1800">
                <a:solidFill>
                  <a:schemeClr val="dk1"/>
                </a:solidFill>
              </a:rPr>
              <a:t>AWS Pricing &amp; Estimation Tools:</a:t>
            </a:r>
            <a:endParaRPr b="1"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US" sz="1800">
                <a:solidFill>
                  <a:schemeClr val="dk1"/>
                </a:solidFill>
              </a:rPr>
              <a:t>Amazon Web Services. (2024). </a:t>
            </a:r>
            <a:r>
              <a:rPr i="1" lang="en-US" sz="1800">
                <a:solidFill>
                  <a:schemeClr val="dk1"/>
                </a:solidFill>
              </a:rPr>
              <a:t>AWS Pricing Calculator</a:t>
            </a:r>
            <a:r>
              <a:rPr lang="en-US" sz="1800">
                <a:solidFill>
                  <a:schemeClr val="dk1"/>
                </a:solidFill>
              </a:rPr>
              <a:t>.</a:t>
            </a:r>
            <a:r>
              <a:rPr lang="en-US" sz="1800">
                <a:solidFill>
                  <a:schemeClr val="dk1"/>
                </a:solidFill>
                <a:uFill>
                  <a:noFill/>
                </a:uFill>
                <a:hlinkClick r:id="rId9">
                  <a:extLst>
                    <a:ext uri="{A12FA001-AC4F-418D-AE19-62706E023703}">
                      <ahyp:hlinkClr val="tx"/>
                    </a:ext>
                  </a:extLst>
                </a:hlinkClick>
              </a:rPr>
              <a:t> </a:t>
            </a:r>
            <a:r>
              <a:rPr lang="en-US" sz="1800" u="sng">
                <a:solidFill>
                  <a:schemeClr val="hlink"/>
                </a:solidFill>
                <a:hlinkClick r:id="rId10"/>
              </a:rPr>
              <a:t>https://calculator.aws/</a:t>
            </a:r>
            <a:endParaRPr sz="1800" u="sng">
              <a:solidFill>
                <a:schemeClr val="hlink"/>
              </a:solidFill>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p161"/>
          <p:cNvSpPr txBox="1"/>
          <p:nvPr>
            <p:ph idx="12" type="sldNum"/>
          </p:nvPr>
        </p:nvSpPr>
        <p:spPr>
          <a:xfrm>
            <a:off x="11347836" y="6446622"/>
            <a:ext cx="484707" cy="228091"/>
          </a:xfrm>
          <a:prstGeom prst="rect">
            <a:avLst/>
          </a:prstGeom>
          <a:noFill/>
          <a:ln>
            <a:noFill/>
          </a:ln>
        </p:spPr>
        <p:txBody>
          <a:bodyPr anchorCtr="0" anchor="t" bIns="29325" lIns="58650" spcFirstLastPara="1" rIns="58650" wrap="square" tIns="29325">
            <a:noAutofit/>
          </a:bodyPr>
          <a:lstStyle/>
          <a:p>
            <a:pPr indent="0" lvl="0" marL="0" rtl="0" algn="r">
              <a:spcBef>
                <a:spcPts val="0"/>
              </a:spcBef>
              <a:spcAft>
                <a:spcPts val="0"/>
              </a:spcAft>
              <a:buNone/>
            </a:pPr>
            <a:fld id="{00000000-1234-1234-1234-123412341234}" type="slidenum">
              <a:rPr b="0" i="0" lang="en-US" sz="1200" u="none" cap="none" strike="noStrike">
                <a:solidFill>
                  <a:srgbClr val="232F3E"/>
                </a:solidFill>
                <a:latin typeface="Calibri"/>
                <a:ea typeface="Calibri"/>
                <a:cs typeface="Calibri"/>
                <a:sym typeface="Calibri"/>
              </a:rPr>
              <a:t>‹#›</a:t>
            </a:fld>
            <a:endParaRPr b="0" i="0" sz="1200" u="none" cap="none" strike="noStrike">
              <a:solidFill>
                <a:srgbClr val="232F3E"/>
              </a:solidFill>
              <a:latin typeface="Calibri"/>
              <a:ea typeface="Calibri"/>
              <a:cs typeface="Calibri"/>
              <a:sym typeface="Calibri"/>
            </a:endParaRPr>
          </a:p>
        </p:txBody>
      </p:sp>
      <p:sp>
        <p:nvSpPr>
          <p:cNvPr id="1239" name="Google Shape;1239;p161"/>
          <p:cNvSpPr txBox="1"/>
          <p:nvPr>
            <p:ph type="title"/>
          </p:nvPr>
        </p:nvSpPr>
        <p:spPr>
          <a:xfrm>
            <a:off x="365726" y="1709664"/>
            <a:ext cx="11471749" cy="360974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Times New Roman"/>
              <a:buNone/>
            </a:pPr>
            <a:r>
              <a:rPr lang="en-US">
                <a:latin typeface="Times New Roman"/>
                <a:ea typeface="Times New Roman"/>
                <a:cs typeface="Times New Roman"/>
                <a:sym typeface="Times New Roman"/>
              </a:rPr>
              <a:t>Appendix (If any) - </a:t>
            </a:r>
            <a:r>
              <a:rPr lang="en-US">
                <a:latin typeface="Times New Roman"/>
                <a:ea typeface="Times New Roman"/>
                <a:cs typeface="Times New Roman"/>
                <a:sym typeface="Times New Roman"/>
              </a:rPr>
              <a:t>None</a:t>
            </a:r>
            <a:endParaRPr>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p162"/>
          <p:cNvSpPr txBox="1"/>
          <p:nvPr>
            <p:ph type="title"/>
          </p:nvPr>
        </p:nvSpPr>
        <p:spPr>
          <a:xfrm>
            <a:off x="457370" y="1256536"/>
            <a:ext cx="7997436" cy="404963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400"/>
              <a:buFont typeface="Times New Roman"/>
              <a:buNone/>
            </a:pPr>
            <a:r>
              <a:rPr lang="en-US">
                <a:latin typeface="Times New Roman"/>
                <a:ea typeface="Times New Roman"/>
                <a:cs typeface="Times New Roman"/>
                <a:sym typeface="Times New Roman"/>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